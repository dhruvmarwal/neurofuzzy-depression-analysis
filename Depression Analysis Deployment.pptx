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Calibri (MS) Bold" charset="1" panose="020F0702030404030204"/>
      <p:regular r:id="rId35"/>
    </p:embeddedFont>
    <p:embeddedFont>
      <p:font typeface="Calibri (MS) Italics" charset="1" panose="020F05020202040A0204"/>
      <p:regular r:id="rId36"/>
    </p:embeddedFont>
    <p:embeddedFont>
      <p:font typeface="Calibri (MS)" charset="1" panose="020F0502020204030204"/>
      <p:regular r:id="rId37"/>
    </p:embeddedFont>
    <p:embeddedFont>
      <p:font typeface="Consolas" charset="1" panose="020B0609020204030204"/>
      <p:regular r:id="rId38"/>
    </p:embeddedFont>
    <p:embeddedFont>
      <p:font typeface="Consolas Bold" charset="1" panose="020B07090202040302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00697" cy="10493876"/>
            <a:chOff x="0" y="0"/>
            <a:chExt cx="2397895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39450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3945088">
                  <a:moveTo>
                    <a:pt x="0" y="0"/>
                  </a:moveTo>
                  <a:lnTo>
                    <a:pt x="23945088" y="0"/>
                  </a:lnTo>
                  <a:lnTo>
                    <a:pt x="239450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9788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3978870">
                  <a:moveTo>
                    <a:pt x="16891" y="0"/>
                  </a:moveTo>
                  <a:lnTo>
                    <a:pt x="23961979" y="0"/>
                  </a:lnTo>
                  <a:cubicBezTo>
                    <a:pt x="23971377" y="0"/>
                    <a:pt x="23978870" y="7620"/>
                    <a:pt x="23978870" y="16891"/>
                  </a:cubicBezTo>
                  <a:lnTo>
                    <a:pt x="23978870" y="13732890"/>
                  </a:lnTo>
                  <a:cubicBezTo>
                    <a:pt x="23978870" y="13742290"/>
                    <a:pt x="23971250" y="13749782"/>
                    <a:pt x="239619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3961979" y="13716000"/>
                  </a:lnTo>
                  <a:lnTo>
                    <a:pt x="23961979" y="13732890"/>
                  </a:lnTo>
                  <a:lnTo>
                    <a:pt x="23945089" y="13732890"/>
                  </a:lnTo>
                  <a:lnTo>
                    <a:pt x="23945089" y="16891"/>
                  </a:lnTo>
                  <a:lnTo>
                    <a:pt x="23961979" y="16891"/>
                  </a:lnTo>
                  <a:lnTo>
                    <a:pt x="239619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032997" y="0"/>
            <a:ext cx="8255003" cy="10312403"/>
            <a:chOff x="0" y="0"/>
            <a:chExt cx="11006671" cy="13749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9728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65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732890"/>
                  </a:lnTo>
                  <a:cubicBezTo>
                    <a:pt x="11006582" y="13742290"/>
                    <a:pt x="10998962" y="13749782"/>
                    <a:pt x="109896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0989691" y="13716000"/>
                  </a:lnTo>
                  <a:lnTo>
                    <a:pt x="10989691" y="13732890"/>
                  </a:lnTo>
                  <a:lnTo>
                    <a:pt x="10972800" y="13732890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1463040"/>
            <a:ext cx="13716000" cy="1645920"/>
            <a:chOff x="0" y="0"/>
            <a:chExt cx="18288000" cy="2194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828800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Depression Analysis System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3200400"/>
            <a:ext cx="10972800" cy="914400"/>
            <a:chOff x="0" y="0"/>
            <a:chExt cx="146304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46304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2F81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 Presentation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4206240"/>
            <a:ext cx="9144000" cy="640080"/>
            <a:chOff x="0" y="0"/>
            <a:chExt cx="1219200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21920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Agile Production Development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5143505"/>
            <a:ext cx="11864983" cy="720347"/>
            <a:chOff x="0" y="0"/>
            <a:chExt cx="15819977" cy="960463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8005239" y="0"/>
              <a:ext cx="3813391" cy="960463"/>
              <a:chOff x="0" y="0"/>
              <a:chExt cx="3813391" cy="96046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16891" y="16891"/>
                <a:ext cx="377952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3779520">
                    <a:moveTo>
                      <a:pt x="0" y="0"/>
                    </a:moveTo>
                    <a:lnTo>
                      <a:pt x="3779520" y="0"/>
                    </a:lnTo>
                    <a:lnTo>
                      <a:pt x="377952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solidFill>
                <a:srgbClr val="1ABC9C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813302" cy="960376"/>
              </a:xfrm>
              <a:custGeom>
                <a:avLst/>
                <a:gdLst/>
                <a:ahLst/>
                <a:cxnLst/>
                <a:rect r="r" b="b" t="t" l="l"/>
                <a:pathLst>
                  <a:path h="960376" w="3813302">
                    <a:moveTo>
                      <a:pt x="16891" y="0"/>
                    </a:moveTo>
                    <a:lnTo>
                      <a:pt x="3796411" y="0"/>
                    </a:lnTo>
                    <a:cubicBezTo>
                      <a:pt x="3805809" y="0"/>
                      <a:pt x="3813302" y="7620"/>
                      <a:pt x="3813302" y="16891"/>
                    </a:cubicBezTo>
                    <a:lnTo>
                      <a:pt x="3813302" y="943483"/>
                    </a:lnTo>
                    <a:cubicBezTo>
                      <a:pt x="3813302" y="952881"/>
                      <a:pt x="3805682" y="960374"/>
                      <a:pt x="3796411" y="960374"/>
                    </a:cubicBezTo>
                    <a:lnTo>
                      <a:pt x="16891" y="960374"/>
                    </a:lnTo>
                    <a:cubicBezTo>
                      <a:pt x="7620" y="960501"/>
                      <a:pt x="0" y="952881"/>
                      <a:pt x="0" y="94348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943483"/>
                    </a:lnTo>
                    <a:lnTo>
                      <a:pt x="16891" y="943483"/>
                    </a:lnTo>
                    <a:lnTo>
                      <a:pt x="16891" y="926592"/>
                    </a:lnTo>
                    <a:lnTo>
                      <a:pt x="3796411" y="926592"/>
                    </a:lnTo>
                    <a:lnTo>
                      <a:pt x="3796411" y="943483"/>
                    </a:lnTo>
                    <a:lnTo>
                      <a:pt x="3779520" y="943483"/>
                    </a:lnTo>
                    <a:lnTo>
                      <a:pt x="3779520" y="16891"/>
                    </a:lnTo>
                    <a:lnTo>
                      <a:pt x="3796411" y="16891"/>
                    </a:lnTo>
                    <a:lnTo>
                      <a:pt x="379641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ABC9C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8022168" y="16929"/>
              <a:ext cx="3779520" cy="926592"/>
              <a:chOff x="0" y="0"/>
              <a:chExt cx="3779520" cy="92659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77952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3779520">
                    <a:moveTo>
                      <a:pt x="0" y="0"/>
                    </a:moveTo>
                    <a:lnTo>
                      <a:pt x="3779520" y="0"/>
                    </a:lnTo>
                    <a:lnTo>
                      <a:pt x="377952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9478" r="0" b="-29478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3779520" cy="9646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Docker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2006586" y="0"/>
              <a:ext cx="3813391" cy="960463"/>
              <a:chOff x="0" y="0"/>
              <a:chExt cx="3813391" cy="96046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16891" y="16891"/>
                <a:ext cx="377952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3779520">
                    <a:moveTo>
                      <a:pt x="0" y="0"/>
                    </a:moveTo>
                    <a:lnTo>
                      <a:pt x="3779520" y="0"/>
                    </a:lnTo>
                    <a:lnTo>
                      <a:pt x="377952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3813302" cy="960376"/>
              </a:xfrm>
              <a:custGeom>
                <a:avLst/>
                <a:gdLst/>
                <a:ahLst/>
                <a:cxnLst/>
                <a:rect r="r" b="b" t="t" l="l"/>
                <a:pathLst>
                  <a:path h="960376" w="3813302">
                    <a:moveTo>
                      <a:pt x="16891" y="0"/>
                    </a:moveTo>
                    <a:lnTo>
                      <a:pt x="3796411" y="0"/>
                    </a:lnTo>
                    <a:cubicBezTo>
                      <a:pt x="3805809" y="0"/>
                      <a:pt x="3813302" y="7620"/>
                      <a:pt x="3813302" y="16891"/>
                    </a:cubicBezTo>
                    <a:lnTo>
                      <a:pt x="3813302" y="943483"/>
                    </a:lnTo>
                    <a:cubicBezTo>
                      <a:pt x="3813302" y="952881"/>
                      <a:pt x="3805682" y="960374"/>
                      <a:pt x="3796411" y="960374"/>
                    </a:cubicBezTo>
                    <a:lnTo>
                      <a:pt x="16891" y="960374"/>
                    </a:lnTo>
                    <a:cubicBezTo>
                      <a:pt x="7620" y="960501"/>
                      <a:pt x="0" y="952881"/>
                      <a:pt x="0" y="94348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943483"/>
                    </a:lnTo>
                    <a:lnTo>
                      <a:pt x="16891" y="943483"/>
                    </a:lnTo>
                    <a:lnTo>
                      <a:pt x="16891" y="926592"/>
                    </a:lnTo>
                    <a:lnTo>
                      <a:pt x="3796411" y="926592"/>
                    </a:lnTo>
                    <a:lnTo>
                      <a:pt x="3796411" y="943483"/>
                    </a:lnTo>
                    <a:lnTo>
                      <a:pt x="3779520" y="943483"/>
                    </a:lnTo>
                    <a:lnTo>
                      <a:pt x="3779520" y="16891"/>
                    </a:lnTo>
                    <a:lnTo>
                      <a:pt x="3796411" y="16891"/>
                    </a:lnTo>
                    <a:lnTo>
                      <a:pt x="379641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12023515" y="16929"/>
              <a:ext cx="3779520" cy="926592"/>
              <a:chOff x="0" y="0"/>
              <a:chExt cx="3779520" cy="92659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77952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3779520">
                    <a:moveTo>
                      <a:pt x="0" y="0"/>
                    </a:moveTo>
                    <a:lnTo>
                      <a:pt x="3779520" y="0"/>
                    </a:lnTo>
                    <a:lnTo>
                      <a:pt x="377952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9478" r="0" b="-29478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3779520" cy="9646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Azure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4003891" y="0"/>
              <a:ext cx="3813391" cy="960463"/>
              <a:chOff x="0" y="0"/>
              <a:chExt cx="3813391" cy="96046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16891" y="16891"/>
                <a:ext cx="377952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3779520">
                    <a:moveTo>
                      <a:pt x="0" y="0"/>
                    </a:moveTo>
                    <a:lnTo>
                      <a:pt x="3779520" y="0"/>
                    </a:lnTo>
                    <a:lnTo>
                      <a:pt x="377952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solidFill>
                <a:srgbClr val="8957E5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813302" cy="960376"/>
              </a:xfrm>
              <a:custGeom>
                <a:avLst/>
                <a:gdLst/>
                <a:ahLst/>
                <a:cxnLst/>
                <a:rect r="r" b="b" t="t" l="l"/>
                <a:pathLst>
                  <a:path h="960376" w="3813302">
                    <a:moveTo>
                      <a:pt x="16891" y="0"/>
                    </a:moveTo>
                    <a:lnTo>
                      <a:pt x="3796411" y="0"/>
                    </a:lnTo>
                    <a:cubicBezTo>
                      <a:pt x="3805809" y="0"/>
                      <a:pt x="3813302" y="7620"/>
                      <a:pt x="3813302" y="16891"/>
                    </a:cubicBezTo>
                    <a:lnTo>
                      <a:pt x="3813302" y="943483"/>
                    </a:lnTo>
                    <a:cubicBezTo>
                      <a:pt x="3813302" y="952881"/>
                      <a:pt x="3805682" y="960374"/>
                      <a:pt x="3796411" y="960374"/>
                    </a:cubicBezTo>
                    <a:lnTo>
                      <a:pt x="16891" y="960374"/>
                    </a:lnTo>
                    <a:cubicBezTo>
                      <a:pt x="7620" y="960501"/>
                      <a:pt x="0" y="952881"/>
                      <a:pt x="0" y="94348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943483"/>
                    </a:lnTo>
                    <a:lnTo>
                      <a:pt x="16891" y="943483"/>
                    </a:lnTo>
                    <a:lnTo>
                      <a:pt x="16891" y="926592"/>
                    </a:lnTo>
                    <a:lnTo>
                      <a:pt x="3796411" y="926592"/>
                    </a:lnTo>
                    <a:lnTo>
                      <a:pt x="3796411" y="943483"/>
                    </a:lnTo>
                    <a:lnTo>
                      <a:pt x="3779520" y="943483"/>
                    </a:lnTo>
                    <a:lnTo>
                      <a:pt x="3779520" y="16891"/>
                    </a:lnTo>
                    <a:lnTo>
                      <a:pt x="3796411" y="16891"/>
                    </a:lnTo>
                    <a:lnTo>
                      <a:pt x="379641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8957E5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4020820" y="16929"/>
              <a:ext cx="3779520" cy="926592"/>
              <a:chOff x="0" y="0"/>
              <a:chExt cx="3779520" cy="92659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77952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3779520">
                    <a:moveTo>
                      <a:pt x="0" y="0"/>
                    </a:moveTo>
                    <a:lnTo>
                      <a:pt x="3779520" y="0"/>
                    </a:lnTo>
                    <a:lnTo>
                      <a:pt x="377952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9478" r="0" b="-29478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3779520" cy="9646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GitHub CI/CD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0"/>
              <a:ext cx="3813391" cy="960463"/>
              <a:chOff x="0" y="0"/>
              <a:chExt cx="3813391" cy="96046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16891" y="16891"/>
                <a:ext cx="377952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3779520">
                    <a:moveTo>
                      <a:pt x="0" y="0"/>
                    </a:moveTo>
                    <a:lnTo>
                      <a:pt x="3779520" y="0"/>
                    </a:lnTo>
                    <a:lnTo>
                      <a:pt x="377952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solidFill>
                <a:srgbClr val="009688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3813302" cy="960376"/>
              </a:xfrm>
              <a:custGeom>
                <a:avLst/>
                <a:gdLst/>
                <a:ahLst/>
                <a:cxnLst/>
                <a:rect r="r" b="b" t="t" l="l"/>
                <a:pathLst>
                  <a:path h="960376" w="3813302">
                    <a:moveTo>
                      <a:pt x="16891" y="0"/>
                    </a:moveTo>
                    <a:lnTo>
                      <a:pt x="3796411" y="0"/>
                    </a:lnTo>
                    <a:cubicBezTo>
                      <a:pt x="3805809" y="0"/>
                      <a:pt x="3813302" y="7620"/>
                      <a:pt x="3813302" y="16891"/>
                    </a:cubicBezTo>
                    <a:lnTo>
                      <a:pt x="3813302" y="943483"/>
                    </a:lnTo>
                    <a:cubicBezTo>
                      <a:pt x="3813302" y="952881"/>
                      <a:pt x="3805682" y="960374"/>
                      <a:pt x="3796411" y="960374"/>
                    </a:cubicBezTo>
                    <a:lnTo>
                      <a:pt x="16891" y="960374"/>
                    </a:lnTo>
                    <a:cubicBezTo>
                      <a:pt x="7620" y="960501"/>
                      <a:pt x="0" y="952881"/>
                      <a:pt x="0" y="94348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943483"/>
                    </a:lnTo>
                    <a:lnTo>
                      <a:pt x="16891" y="943483"/>
                    </a:lnTo>
                    <a:lnTo>
                      <a:pt x="16891" y="926592"/>
                    </a:lnTo>
                    <a:lnTo>
                      <a:pt x="3796411" y="926592"/>
                    </a:lnTo>
                    <a:lnTo>
                      <a:pt x="3796411" y="943483"/>
                    </a:lnTo>
                    <a:lnTo>
                      <a:pt x="3779520" y="943483"/>
                    </a:lnTo>
                    <a:lnTo>
                      <a:pt x="3779520" y="16891"/>
                    </a:lnTo>
                    <a:lnTo>
                      <a:pt x="3796411" y="16891"/>
                    </a:lnTo>
                    <a:lnTo>
                      <a:pt x="379641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9688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16929" y="16929"/>
              <a:ext cx="3779520" cy="926592"/>
              <a:chOff x="0" y="0"/>
              <a:chExt cx="3779520" cy="926592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377952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3779520">
                    <a:moveTo>
                      <a:pt x="0" y="0"/>
                    </a:moveTo>
                    <a:lnTo>
                      <a:pt x="3779520" y="0"/>
                    </a:lnTo>
                    <a:lnTo>
                      <a:pt x="377952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9478" r="0" b="-29478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3779520" cy="9646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FastAPI</a:t>
                </a: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822960" y="8778032"/>
            <a:ext cx="8321040" cy="480268"/>
            <a:chOff x="0" y="0"/>
            <a:chExt cx="9856960" cy="56891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856960" cy="568917"/>
            </a:xfrm>
            <a:custGeom>
              <a:avLst/>
              <a:gdLst/>
              <a:ahLst/>
              <a:cxnLst/>
              <a:rect r="r" b="b" t="t" l="l"/>
              <a:pathLst>
                <a:path h="568917" w="9856960">
                  <a:moveTo>
                    <a:pt x="0" y="0"/>
                  </a:moveTo>
                  <a:lnTo>
                    <a:pt x="9856960" y="0"/>
                  </a:lnTo>
                  <a:lnTo>
                    <a:pt x="9856960" y="568917"/>
                  </a:lnTo>
                  <a:lnTo>
                    <a:pt x="0" y="5689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1019" r="-73164" b="-53817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9856960" cy="626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Dhruv Marwal(I043)  | Priyanshu Jha (I034) | Shivang Jain (I030)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we built and why we deployed it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1828800"/>
            <a:ext cx="7680960" cy="6455664"/>
            <a:chOff x="0" y="0"/>
            <a:chExt cx="10241280" cy="860755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241280" cy="682752"/>
              <a:chOff x="0" y="0"/>
              <a:chExt cx="10241280" cy="68275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2412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10241280">
                    <a:moveTo>
                      <a:pt x="0" y="0"/>
                    </a:moveTo>
                    <a:lnTo>
                      <a:pt x="10241280" y="0"/>
                    </a:lnTo>
                    <a:lnTo>
                      <a:pt x="102412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42275" r="0" b="-242275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10241280" cy="7399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2F81F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The Project</a:t>
                </a: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757047"/>
              <a:ext cx="10241280" cy="3949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web application for automated depression screening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 answer PHQ-9 questionnaire + chat interface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Backend: FastAPI (Python) with ML models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Frontend: HTML + JavaScript UI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Goal: Deploy as scalable, public-facing cloud application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0" y="4876800"/>
              <a:ext cx="10241280" cy="682752"/>
              <a:chOff x="0" y="0"/>
              <a:chExt cx="10241280" cy="68275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24128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10241280">
                    <a:moveTo>
                      <a:pt x="0" y="0"/>
                    </a:moveTo>
                    <a:lnTo>
                      <a:pt x="10241280" y="0"/>
                    </a:lnTo>
                    <a:lnTo>
                      <a:pt x="102412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42275" r="0" b="-242275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10241280" cy="7399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BC9C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Deployment Goals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5633847"/>
              <a:ext cx="10241280" cy="2973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Make the app accessible from anywhere via public URL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Containerize for environment consistency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 future deployments with CI/CD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412480" y="1828800"/>
            <a:ext cx="8255003" cy="7247268"/>
            <a:chOff x="0" y="0"/>
            <a:chExt cx="11006671" cy="966302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1006671" cy="9663024"/>
              <a:chOff x="0" y="0"/>
              <a:chExt cx="11006671" cy="966302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16891" y="15517"/>
                <a:ext cx="10972800" cy="9631909"/>
              </a:xfrm>
              <a:custGeom>
                <a:avLst/>
                <a:gdLst/>
                <a:ahLst/>
                <a:cxnLst/>
                <a:rect r="r" b="b" t="t" l="l"/>
                <a:pathLst>
                  <a:path h="9631909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9631909"/>
                    </a:lnTo>
                    <a:lnTo>
                      <a:pt x="0" y="9631909"/>
                    </a:lnTo>
                    <a:close/>
                  </a:path>
                </a:pathLst>
              </a:custGeom>
              <a:solidFill>
                <a:srgbClr val="161B22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1006582" cy="9662942"/>
              </a:xfrm>
              <a:custGeom>
                <a:avLst/>
                <a:gdLst/>
                <a:ahLst/>
                <a:cxnLst/>
                <a:rect r="r" b="b" t="t" l="l"/>
                <a:pathLst>
                  <a:path h="9662942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000"/>
                      <a:pt x="11006582" y="15517"/>
                    </a:cubicBezTo>
                    <a:lnTo>
                      <a:pt x="11006582" y="9647426"/>
                    </a:lnTo>
                    <a:cubicBezTo>
                      <a:pt x="11006582" y="9656059"/>
                      <a:pt x="10998962" y="9662942"/>
                      <a:pt x="10989691" y="9662942"/>
                    </a:cubicBezTo>
                    <a:lnTo>
                      <a:pt x="16891" y="9662942"/>
                    </a:lnTo>
                    <a:cubicBezTo>
                      <a:pt x="7493" y="9662942"/>
                      <a:pt x="0" y="9655942"/>
                      <a:pt x="0" y="9647426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647426"/>
                    </a:lnTo>
                    <a:lnTo>
                      <a:pt x="16891" y="9647426"/>
                    </a:lnTo>
                    <a:lnTo>
                      <a:pt x="16891" y="9631909"/>
                    </a:lnTo>
                    <a:lnTo>
                      <a:pt x="10989691" y="9631909"/>
                    </a:lnTo>
                    <a:lnTo>
                      <a:pt x="10989691" y="9647426"/>
                    </a:lnTo>
                    <a:lnTo>
                      <a:pt x="10972800" y="9647426"/>
                    </a:lnTo>
                    <a:lnTo>
                      <a:pt x="10972800" y="15517"/>
                    </a:lnTo>
                    <a:lnTo>
                      <a:pt x="10989691" y="15517"/>
                    </a:lnTo>
                    <a:lnTo>
                      <a:pt x="10989691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504609" y="239549"/>
              <a:ext cx="9997440" cy="671994"/>
              <a:chOff x="0" y="0"/>
              <a:chExt cx="9997440" cy="67199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997440" cy="671994"/>
              </a:xfrm>
              <a:custGeom>
                <a:avLst/>
                <a:gdLst/>
                <a:ahLst/>
                <a:cxnLst/>
                <a:rect r="r" b="b" t="t" l="l"/>
                <a:pathLst>
                  <a:path h="671994" w="9997440">
                    <a:moveTo>
                      <a:pt x="0" y="0"/>
                    </a:moveTo>
                    <a:lnTo>
                      <a:pt x="9997440" y="0"/>
                    </a:lnTo>
                    <a:lnTo>
                      <a:pt x="9997440" y="671994"/>
                    </a:lnTo>
                    <a:lnTo>
                      <a:pt x="0" y="67199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35455" r="0" b="-244313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9997440" cy="7100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Tech Stack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43840" y="1164789"/>
              <a:ext cx="10275151" cy="971906"/>
              <a:chOff x="0" y="0"/>
              <a:chExt cx="10275151" cy="97190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16891" y="15517"/>
                <a:ext cx="10241281" cy="940791"/>
              </a:xfrm>
              <a:custGeom>
                <a:avLst/>
                <a:gdLst/>
                <a:ahLst/>
                <a:cxnLst/>
                <a:rect r="r" b="b" t="t" l="l"/>
                <a:pathLst>
                  <a:path h="940791" w="10241281">
                    <a:moveTo>
                      <a:pt x="0" y="0"/>
                    </a:moveTo>
                    <a:lnTo>
                      <a:pt x="10241281" y="0"/>
                    </a:lnTo>
                    <a:lnTo>
                      <a:pt x="10241281" y="940791"/>
                    </a:lnTo>
                    <a:lnTo>
                      <a:pt x="0" y="940791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275062" cy="971826"/>
              </a:xfrm>
              <a:custGeom>
                <a:avLst/>
                <a:gdLst/>
                <a:ahLst/>
                <a:cxnLst/>
                <a:rect r="r" b="b" t="t" l="l"/>
                <a:pathLst>
                  <a:path h="971826" w="10275062">
                    <a:moveTo>
                      <a:pt x="16891" y="0"/>
                    </a:moveTo>
                    <a:lnTo>
                      <a:pt x="10258172" y="0"/>
                    </a:lnTo>
                    <a:cubicBezTo>
                      <a:pt x="10267569" y="0"/>
                      <a:pt x="10275062" y="7000"/>
                      <a:pt x="10275062" y="15517"/>
                    </a:cubicBezTo>
                    <a:lnTo>
                      <a:pt x="10275062" y="956308"/>
                    </a:lnTo>
                    <a:cubicBezTo>
                      <a:pt x="10275062" y="964941"/>
                      <a:pt x="10267442" y="971824"/>
                      <a:pt x="10258172" y="971824"/>
                    </a:cubicBezTo>
                    <a:lnTo>
                      <a:pt x="16891" y="971824"/>
                    </a:lnTo>
                    <a:cubicBezTo>
                      <a:pt x="7620" y="971944"/>
                      <a:pt x="0" y="964941"/>
                      <a:pt x="0" y="956308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56308"/>
                    </a:lnTo>
                    <a:lnTo>
                      <a:pt x="16891" y="956308"/>
                    </a:lnTo>
                    <a:lnTo>
                      <a:pt x="16891" y="940791"/>
                    </a:lnTo>
                    <a:lnTo>
                      <a:pt x="10258172" y="940791"/>
                    </a:lnTo>
                    <a:lnTo>
                      <a:pt x="10258172" y="956308"/>
                    </a:lnTo>
                    <a:lnTo>
                      <a:pt x="10241280" y="956308"/>
                    </a:lnTo>
                    <a:lnTo>
                      <a:pt x="10241280" y="15517"/>
                    </a:lnTo>
                    <a:lnTo>
                      <a:pt x="10258172" y="15517"/>
                    </a:lnTo>
                    <a:lnTo>
                      <a:pt x="10258172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F0883E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243840" y="1164789"/>
              <a:ext cx="180175" cy="971906"/>
              <a:chOff x="0" y="0"/>
              <a:chExt cx="180175" cy="97190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16891" y="15517"/>
                <a:ext cx="146304" cy="940791"/>
              </a:xfrm>
              <a:custGeom>
                <a:avLst/>
                <a:gdLst/>
                <a:ahLst/>
                <a:cxnLst/>
                <a:rect r="r" b="b" t="t" l="l"/>
                <a:pathLst>
                  <a:path h="940791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940791"/>
                    </a:lnTo>
                    <a:lnTo>
                      <a:pt x="0" y="940791"/>
                    </a:lnTo>
                    <a:close/>
                  </a:path>
                </a:pathLst>
              </a:custGeom>
              <a:solidFill>
                <a:srgbClr val="F0883E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80086" cy="971826"/>
              </a:xfrm>
              <a:custGeom>
                <a:avLst/>
                <a:gdLst/>
                <a:ahLst/>
                <a:cxnLst/>
                <a:rect r="r" b="b" t="t" l="l"/>
                <a:pathLst>
                  <a:path h="971826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000"/>
                      <a:pt x="180086" y="15517"/>
                    </a:cubicBezTo>
                    <a:lnTo>
                      <a:pt x="180086" y="956308"/>
                    </a:lnTo>
                    <a:cubicBezTo>
                      <a:pt x="180086" y="964941"/>
                      <a:pt x="172466" y="971824"/>
                      <a:pt x="163195" y="971824"/>
                    </a:cubicBezTo>
                    <a:lnTo>
                      <a:pt x="16891" y="971824"/>
                    </a:lnTo>
                    <a:cubicBezTo>
                      <a:pt x="7620" y="971944"/>
                      <a:pt x="0" y="964941"/>
                      <a:pt x="0" y="956308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56308"/>
                    </a:lnTo>
                    <a:lnTo>
                      <a:pt x="16891" y="956308"/>
                    </a:lnTo>
                    <a:lnTo>
                      <a:pt x="16891" y="940791"/>
                    </a:lnTo>
                    <a:lnTo>
                      <a:pt x="163195" y="940791"/>
                    </a:lnTo>
                    <a:lnTo>
                      <a:pt x="163195" y="956308"/>
                    </a:lnTo>
                    <a:lnTo>
                      <a:pt x="146304" y="956308"/>
                    </a:lnTo>
                    <a:lnTo>
                      <a:pt x="146304" y="15517"/>
                    </a:lnTo>
                    <a:lnTo>
                      <a:pt x="163195" y="15517"/>
                    </a:lnTo>
                    <a:lnTo>
                      <a:pt x="163195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F0883E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602145" y="1154418"/>
              <a:ext cx="3657600" cy="473918"/>
              <a:chOff x="0" y="0"/>
              <a:chExt cx="3657600" cy="47391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3657600" cy="473918"/>
              </a:xfrm>
              <a:custGeom>
                <a:avLst/>
                <a:gdLst/>
                <a:ahLst/>
                <a:cxnLst/>
                <a:rect r="r" b="b" t="t" l="l"/>
                <a:pathLst>
                  <a:path h="473918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473918"/>
                    </a:lnTo>
                    <a:lnTo>
                      <a:pt x="0" y="4739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04074" r="0" b="-96688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3657600" cy="5120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0883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Frontend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02145" y="1557614"/>
              <a:ext cx="9753600" cy="473918"/>
              <a:chOff x="0" y="0"/>
              <a:chExt cx="9753600" cy="473918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753600" cy="473918"/>
              </a:xfrm>
              <a:custGeom>
                <a:avLst/>
                <a:gdLst/>
                <a:ahLst/>
                <a:cxnLst/>
                <a:rect r="r" b="b" t="t" l="l"/>
                <a:pathLst>
                  <a:path h="473918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473918"/>
                    </a:lnTo>
                    <a:lnTo>
                      <a:pt x="0" y="4739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59855" r="0" b="-342178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9753600" cy="5120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C9D1D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HTML / JavaScript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243840" y="2284779"/>
              <a:ext cx="10275151" cy="971906"/>
              <a:chOff x="0" y="0"/>
              <a:chExt cx="10275151" cy="97190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16891" y="15517"/>
                <a:ext cx="10241281" cy="940791"/>
              </a:xfrm>
              <a:custGeom>
                <a:avLst/>
                <a:gdLst/>
                <a:ahLst/>
                <a:cxnLst/>
                <a:rect r="r" b="b" t="t" l="l"/>
                <a:pathLst>
                  <a:path h="940791" w="10241281">
                    <a:moveTo>
                      <a:pt x="0" y="0"/>
                    </a:moveTo>
                    <a:lnTo>
                      <a:pt x="10241281" y="0"/>
                    </a:lnTo>
                    <a:lnTo>
                      <a:pt x="10241281" y="940791"/>
                    </a:lnTo>
                    <a:lnTo>
                      <a:pt x="0" y="940791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275062" cy="971826"/>
              </a:xfrm>
              <a:custGeom>
                <a:avLst/>
                <a:gdLst/>
                <a:ahLst/>
                <a:cxnLst/>
                <a:rect r="r" b="b" t="t" l="l"/>
                <a:pathLst>
                  <a:path h="971826" w="10275062">
                    <a:moveTo>
                      <a:pt x="16891" y="0"/>
                    </a:moveTo>
                    <a:lnTo>
                      <a:pt x="10258172" y="0"/>
                    </a:lnTo>
                    <a:cubicBezTo>
                      <a:pt x="10267569" y="0"/>
                      <a:pt x="10275062" y="7000"/>
                      <a:pt x="10275062" y="15517"/>
                    </a:cubicBezTo>
                    <a:lnTo>
                      <a:pt x="10275062" y="956308"/>
                    </a:lnTo>
                    <a:cubicBezTo>
                      <a:pt x="10275062" y="964941"/>
                      <a:pt x="10267442" y="971824"/>
                      <a:pt x="10258172" y="971824"/>
                    </a:cubicBezTo>
                    <a:lnTo>
                      <a:pt x="16891" y="971824"/>
                    </a:lnTo>
                    <a:cubicBezTo>
                      <a:pt x="7620" y="971944"/>
                      <a:pt x="0" y="964941"/>
                      <a:pt x="0" y="956308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56308"/>
                    </a:lnTo>
                    <a:lnTo>
                      <a:pt x="16891" y="956308"/>
                    </a:lnTo>
                    <a:lnTo>
                      <a:pt x="16891" y="940791"/>
                    </a:lnTo>
                    <a:lnTo>
                      <a:pt x="10258172" y="940791"/>
                    </a:lnTo>
                    <a:lnTo>
                      <a:pt x="10258172" y="956308"/>
                    </a:lnTo>
                    <a:lnTo>
                      <a:pt x="10241280" y="956308"/>
                    </a:lnTo>
                    <a:lnTo>
                      <a:pt x="10241280" y="15517"/>
                    </a:lnTo>
                    <a:lnTo>
                      <a:pt x="10258172" y="15517"/>
                    </a:lnTo>
                    <a:lnTo>
                      <a:pt x="10258172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2F81F7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243840" y="2284779"/>
              <a:ext cx="180175" cy="971906"/>
              <a:chOff x="0" y="0"/>
              <a:chExt cx="180175" cy="97190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16891" y="15517"/>
                <a:ext cx="146304" cy="940791"/>
              </a:xfrm>
              <a:custGeom>
                <a:avLst/>
                <a:gdLst/>
                <a:ahLst/>
                <a:cxnLst/>
                <a:rect r="r" b="b" t="t" l="l"/>
                <a:pathLst>
                  <a:path h="940791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940791"/>
                    </a:lnTo>
                    <a:lnTo>
                      <a:pt x="0" y="940791"/>
                    </a:lnTo>
                    <a:close/>
                  </a:path>
                </a:pathLst>
              </a:custGeom>
              <a:solidFill>
                <a:srgbClr val="2F81F7"/>
              </a:solidFill>
            </p:spPr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80086" cy="971826"/>
              </a:xfrm>
              <a:custGeom>
                <a:avLst/>
                <a:gdLst/>
                <a:ahLst/>
                <a:cxnLst/>
                <a:rect r="r" b="b" t="t" l="l"/>
                <a:pathLst>
                  <a:path h="971826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000"/>
                      <a:pt x="180086" y="15517"/>
                    </a:cubicBezTo>
                    <a:lnTo>
                      <a:pt x="180086" y="956308"/>
                    </a:lnTo>
                    <a:cubicBezTo>
                      <a:pt x="180086" y="964941"/>
                      <a:pt x="172466" y="971824"/>
                      <a:pt x="163195" y="971824"/>
                    </a:cubicBezTo>
                    <a:lnTo>
                      <a:pt x="16891" y="971824"/>
                    </a:lnTo>
                    <a:cubicBezTo>
                      <a:pt x="7620" y="971944"/>
                      <a:pt x="0" y="964941"/>
                      <a:pt x="0" y="956308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56308"/>
                    </a:lnTo>
                    <a:lnTo>
                      <a:pt x="16891" y="956308"/>
                    </a:lnTo>
                    <a:lnTo>
                      <a:pt x="16891" y="940791"/>
                    </a:lnTo>
                    <a:lnTo>
                      <a:pt x="163195" y="940791"/>
                    </a:lnTo>
                    <a:lnTo>
                      <a:pt x="163195" y="956308"/>
                    </a:lnTo>
                    <a:lnTo>
                      <a:pt x="146304" y="956308"/>
                    </a:lnTo>
                    <a:lnTo>
                      <a:pt x="146304" y="15517"/>
                    </a:lnTo>
                    <a:lnTo>
                      <a:pt x="163195" y="15517"/>
                    </a:lnTo>
                    <a:lnTo>
                      <a:pt x="163195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2F81F7"/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602145" y="2274407"/>
              <a:ext cx="3657600" cy="473918"/>
              <a:chOff x="0" y="0"/>
              <a:chExt cx="3657600" cy="473918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3657600" cy="473918"/>
              </a:xfrm>
              <a:custGeom>
                <a:avLst/>
                <a:gdLst/>
                <a:ahLst/>
                <a:cxnLst/>
                <a:rect r="r" b="b" t="t" l="l"/>
                <a:pathLst>
                  <a:path h="473918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473918"/>
                    </a:lnTo>
                    <a:lnTo>
                      <a:pt x="0" y="4739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04074" r="0" b="-96688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3657600" cy="5120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2F81F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API Layer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602145" y="2677604"/>
              <a:ext cx="9753600" cy="473918"/>
              <a:chOff x="0" y="0"/>
              <a:chExt cx="9753600" cy="473918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9753600" cy="473918"/>
              </a:xfrm>
              <a:custGeom>
                <a:avLst/>
                <a:gdLst/>
                <a:ahLst/>
                <a:cxnLst/>
                <a:rect r="r" b="b" t="t" l="l"/>
                <a:pathLst>
                  <a:path h="473918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473918"/>
                    </a:lnTo>
                    <a:lnTo>
                      <a:pt x="0" y="4739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59855" r="0" b="-342178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9753600" cy="5120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C9D1D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FastAPI (Python)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243840" y="3404768"/>
              <a:ext cx="10275151" cy="971906"/>
              <a:chOff x="0" y="0"/>
              <a:chExt cx="10275151" cy="971906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16891" y="15517"/>
                <a:ext cx="10241281" cy="940791"/>
              </a:xfrm>
              <a:custGeom>
                <a:avLst/>
                <a:gdLst/>
                <a:ahLst/>
                <a:cxnLst/>
                <a:rect r="r" b="b" t="t" l="l"/>
                <a:pathLst>
                  <a:path h="940791" w="10241281">
                    <a:moveTo>
                      <a:pt x="0" y="0"/>
                    </a:moveTo>
                    <a:lnTo>
                      <a:pt x="10241281" y="0"/>
                    </a:lnTo>
                    <a:lnTo>
                      <a:pt x="10241281" y="940791"/>
                    </a:lnTo>
                    <a:lnTo>
                      <a:pt x="0" y="940791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0275062" cy="971826"/>
              </a:xfrm>
              <a:custGeom>
                <a:avLst/>
                <a:gdLst/>
                <a:ahLst/>
                <a:cxnLst/>
                <a:rect r="r" b="b" t="t" l="l"/>
                <a:pathLst>
                  <a:path h="971826" w="10275062">
                    <a:moveTo>
                      <a:pt x="16891" y="0"/>
                    </a:moveTo>
                    <a:lnTo>
                      <a:pt x="10258172" y="0"/>
                    </a:lnTo>
                    <a:cubicBezTo>
                      <a:pt x="10267569" y="0"/>
                      <a:pt x="10275062" y="7000"/>
                      <a:pt x="10275062" y="15517"/>
                    </a:cubicBezTo>
                    <a:lnTo>
                      <a:pt x="10275062" y="956308"/>
                    </a:lnTo>
                    <a:cubicBezTo>
                      <a:pt x="10275062" y="964941"/>
                      <a:pt x="10267442" y="971824"/>
                      <a:pt x="10258172" y="971824"/>
                    </a:cubicBezTo>
                    <a:lnTo>
                      <a:pt x="16891" y="971824"/>
                    </a:lnTo>
                    <a:cubicBezTo>
                      <a:pt x="7620" y="971944"/>
                      <a:pt x="0" y="964941"/>
                      <a:pt x="0" y="956308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56308"/>
                    </a:lnTo>
                    <a:lnTo>
                      <a:pt x="16891" y="956308"/>
                    </a:lnTo>
                    <a:lnTo>
                      <a:pt x="16891" y="940791"/>
                    </a:lnTo>
                    <a:lnTo>
                      <a:pt x="10258172" y="940791"/>
                    </a:lnTo>
                    <a:lnTo>
                      <a:pt x="10258172" y="956308"/>
                    </a:lnTo>
                    <a:lnTo>
                      <a:pt x="10241280" y="956308"/>
                    </a:lnTo>
                    <a:lnTo>
                      <a:pt x="10241280" y="15517"/>
                    </a:lnTo>
                    <a:lnTo>
                      <a:pt x="10258172" y="15517"/>
                    </a:lnTo>
                    <a:lnTo>
                      <a:pt x="10258172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8957E5"/>
              </a:solidFill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243840" y="3404768"/>
              <a:ext cx="180175" cy="971906"/>
              <a:chOff x="0" y="0"/>
              <a:chExt cx="180175" cy="971906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16891" y="15517"/>
                <a:ext cx="146304" cy="940791"/>
              </a:xfrm>
              <a:custGeom>
                <a:avLst/>
                <a:gdLst/>
                <a:ahLst/>
                <a:cxnLst/>
                <a:rect r="r" b="b" t="t" l="l"/>
                <a:pathLst>
                  <a:path h="940791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940791"/>
                    </a:lnTo>
                    <a:lnTo>
                      <a:pt x="0" y="940791"/>
                    </a:lnTo>
                    <a:close/>
                  </a:path>
                </a:pathLst>
              </a:custGeom>
              <a:solidFill>
                <a:srgbClr val="8957E5"/>
              </a:solidFill>
            </p:spPr>
          </p:sp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80086" cy="971826"/>
              </a:xfrm>
              <a:custGeom>
                <a:avLst/>
                <a:gdLst/>
                <a:ahLst/>
                <a:cxnLst/>
                <a:rect r="r" b="b" t="t" l="l"/>
                <a:pathLst>
                  <a:path h="971826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000"/>
                      <a:pt x="180086" y="15517"/>
                    </a:cubicBezTo>
                    <a:lnTo>
                      <a:pt x="180086" y="956308"/>
                    </a:lnTo>
                    <a:cubicBezTo>
                      <a:pt x="180086" y="964941"/>
                      <a:pt x="172466" y="971824"/>
                      <a:pt x="163195" y="971824"/>
                    </a:cubicBezTo>
                    <a:lnTo>
                      <a:pt x="16891" y="971824"/>
                    </a:lnTo>
                    <a:cubicBezTo>
                      <a:pt x="7620" y="971944"/>
                      <a:pt x="0" y="964941"/>
                      <a:pt x="0" y="956308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56308"/>
                    </a:lnTo>
                    <a:lnTo>
                      <a:pt x="16891" y="956308"/>
                    </a:lnTo>
                    <a:lnTo>
                      <a:pt x="16891" y="940791"/>
                    </a:lnTo>
                    <a:lnTo>
                      <a:pt x="163195" y="940791"/>
                    </a:lnTo>
                    <a:lnTo>
                      <a:pt x="163195" y="956308"/>
                    </a:lnTo>
                    <a:lnTo>
                      <a:pt x="146304" y="956308"/>
                    </a:lnTo>
                    <a:lnTo>
                      <a:pt x="146304" y="15517"/>
                    </a:lnTo>
                    <a:lnTo>
                      <a:pt x="163195" y="15517"/>
                    </a:lnTo>
                    <a:lnTo>
                      <a:pt x="163195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8957E5"/>
              </a:solidFill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602145" y="3394397"/>
              <a:ext cx="3657600" cy="473918"/>
              <a:chOff x="0" y="0"/>
              <a:chExt cx="3657600" cy="473918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3657600" cy="473918"/>
              </a:xfrm>
              <a:custGeom>
                <a:avLst/>
                <a:gdLst/>
                <a:ahLst/>
                <a:cxnLst/>
                <a:rect r="r" b="b" t="t" l="l"/>
                <a:pathLst>
                  <a:path h="473918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473918"/>
                    </a:lnTo>
                    <a:lnTo>
                      <a:pt x="0" y="4739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04074" r="0" b="-96688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3657600" cy="5120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8957E5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ML Models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602145" y="3797593"/>
              <a:ext cx="9753600" cy="473918"/>
              <a:chOff x="0" y="0"/>
              <a:chExt cx="9753600" cy="473918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753600" cy="473918"/>
              </a:xfrm>
              <a:custGeom>
                <a:avLst/>
                <a:gdLst/>
                <a:ahLst/>
                <a:cxnLst/>
                <a:rect r="r" b="b" t="t" l="l"/>
                <a:pathLst>
                  <a:path h="473918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473918"/>
                    </a:lnTo>
                    <a:lnTo>
                      <a:pt x="0" y="4739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59855" r="0" b="-342178"/>
                </a:stretch>
              </a:blip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38100"/>
                <a:ext cx="9753600" cy="5120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C9D1D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PyTorch · Transformers · DEAP</a:t>
                </a: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243840" y="4524757"/>
              <a:ext cx="10275151" cy="971906"/>
              <a:chOff x="0" y="0"/>
              <a:chExt cx="10275151" cy="971906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16891" y="15517"/>
                <a:ext cx="10241281" cy="940791"/>
              </a:xfrm>
              <a:custGeom>
                <a:avLst/>
                <a:gdLst/>
                <a:ahLst/>
                <a:cxnLst/>
                <a:rect r="r" b="b" t="t" l="l"/>
                <a:pathLst>
                  <a:path h="940791" w="10241281">
                    <a:moveTo>
                      <a:pt x="0" y="0"/>
                    </a:moveTo>
                    <a:lnTo>
                      <a:pt x="10241281" y="0"/>
                    </a:lnTo>
                    <a:lnTo>
                      <a:pt x="10241281" y="940791"/>
                    </a:lnTo>
                    <a:lnTo>
                      <a:pt x="0" y="940791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10275062" cy="971826"/>
              </a:xfrm>
              <a:custGeom>
                <a:avLst/>
                <a:gdLst/>
                <a:ahLst/>
                <a:cxnLst/>
                <a:rect r="r" b="b" t="t" l="l"/>
                <a:pathLst>
                  <a:path h="971826" w="10275062">
                    <a:moveTo>
                      <a:pt x="16891" y="0"/>
                    </a:moveTo>
                    <a:lnTo>
                      <a:pt x="10258172" y="0"/>
                    </a:lnTo>
                    <a:cubicBezTo>
                      <a:pt x="10267569" y="0"/>
                      <a:pt x="10275062" y="7000"/>
                      <a:pt x="10275062" y="15517"/>
                    </a:cubicBezTo>
                    <a:lnTo>
                      <a:pt x="10275062" y="956308"/>
                    </a:lnTo>
                    <a:cubicBezTo>
                      <a:pt x="10275062" y="964941"/>
                      <a:pt x="10267442" y="971824"/>
                      <a:pt x="10258172" y="971824"/>
                    </a:cubicBezTo>
                    <a:lnTo>
                      <a:pt x="16891" y="971824"/>
                    </a:lnTo>
                    <a:cubicBezTo>
                      <a:pt x="7620" y="971944"/>
                      <a:pt x="0" y="964941"/>
                      <a:pt x="0" y="956308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56308"/>
                    </a:lnTo>
                    <a:lnTo>
                      <a:pt x="16891" y="956308"/>
                    </a:lnTo>
                    <a:lnTo>
                      <a:pt x="16891" y="940791"/>
                    </a:lnTo>
                    <a:lnTo>
                      <a:pt x="10258172" y="940791"/>
                    </a:lnTo>
                    <a:lnTo>
                      <a:pt x="10258172" y="956308"/>
                    </a:lnTo>
                    <a:lnTo>
                      <a:pt x="10241280" y="956308"/>
                    </a:lnTo>
                    <a:lnTo>
                      <a:pt x="10241280" y="15517"/>
                    </a:lnTo>
                    <a:lnTo>
                      <a:pt x="10258172" y="15517"/>
                    </a:lnTo>
                    <a:lnTo>
                      <a:pt x="10258172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1ABC9C"/>
              </a:solidFill>
            </p:spPr>
          </p:sp>
        </p:grpSp>
        <p:grpSp>
          <p:nvGrpSpPr>
            <p:cNvPr name="Group 66" id="66"/>
            <p:cNvGrpSpPr/>
            <p:nvPr/>
          </p:nvGrpSpPr>
          <p:grpSpPr>
            <a:xfrm rot="0">
              <a:off x="243840" y="4524757"/>
              <a:ext cx="180175" cy="971906"/>
              <a:chOff x="0" y="0"/>
              <a:chExt cx="180175" cy="971906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16891" y="15517"/>
                <a:ext cx="146304" cy="940791"/>
              </a:xfrm>
              <a:custGeom>
                <a:avLst/>
                <a:gdLst/>
                <a:ahLst/>
                <a:cxnLst/>
                <a:rect r="r" b="b" t="t" l="l"/>
                <a:pathLst>
                  <a:path h="940791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940791"/>
                    </a:lnTo>
                    <a:lnTo>
                      <a:pt x="0" y="940791"/>
                    </a:lnTo>
                    <a:close/>
                  </a:path>
                </a:pathLst>
              </a:custGeom>
              <a:solidFill>
                <a:srgbClr val="1ABC9C"/>
              </a:solidFill>
            </p:spPr>
          </p:sp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180086" cy="971826"/>
              </a:xfrm>
              <a:custGeom>
                <a:avLst/>
                <a:gdLst/>
                <a:ahLst/>
                <a:cxnLst/>
                <a:rect r="r" b="b" t="t" l="l"/>
                <a:pathLst>
                  <a:path h="971826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000"/>
                      <a:pt x="180086" y="15517"/>
                    </a:cubicBezTo>
                    <a:lnTo>
                      <a:pt x="180086" y="956308"/>
                    </a:lnTo>
                    <a:cubicBezTo>
                      <a:pt x="180086" y="964941"/>
                      <a:pt x="172466" y="971824"/>
                      <a:pt x="163195" y="971824"/>
                    </a:cubicBezTo>
                    <a:lnTo>
                      <a:pt x="16891" y="971824"/>
                    </a:lnTo>
                    <a:cubicBezTo>
                      <a:pt x="7620" y="971944"/>
                      <a:pt x="0" y="964941"/>
                      <a:pt x="0" y="956308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56308"/>
                    </a:lnTo>
                    <a:lnTo>
                      <a:pt x="16891" y="956308"/>
                    </a:lnTo>
                    <a:lnTo>
                      <a:pt x="16891" y="940791"/>
                    </a:lnTo>
                    <a:lnTo>
                      <a:pt x="163195" y="940791"/>
                    </a:lnTo>
                    <a:lnTo>
                      <a:pt x="163195" y="956308"/>
                    </a:lnTo>
                    <a:lnTo>
                      <a:pt x="146304" y="956308"/>
                    </a:lnTo>
                    <a:lnTo>
                      <a:pt x="146304" y="15517"/>
                    </a:lnTo>
                    <a:lnTo>
                      <a:pt x="163195" y="15517"/>
                    </a:lnTo>
                    <a:lnTo>
                      <a:pt x="163195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1ABC9C"/>
              </a:solidFill>
            </p:spPr>
          </p:sp>
        </p:grpSp>
        <p:grpSp>
          <p:nvGrpSpPr>
            <p:cNvPr name="Group 69" id="69"/>
            <p:cNvGrpSpPr/>
            <p:nvPr/>
          </p:nvGrpSpPr>
          <p:grpSpPr>
            <a:xfrm rot="0">
              <a:off x="602145" y="4514386"/>
              <a:ext cx="3657600" cy="473918"/>
              <a:chOff x="0" y="0"/>
              <a:chExt cx="3657600" cy="473918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3657600" cy="473918"/>
              </a:xfrm>
              <a:custGeom>
                <a:avLst/>
                <a:gdLst/>
                <a:ahLst/>
                <a:cxnLst/>
                <a:rect r="r" b="b" t="t" l="l"/>
                <a:pathLst>
                  <a:path h="473918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473918"/>
                    </a:lnTo>
                    <a:lnTo>
                      <a:pt x="0" y="4739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04074" r="0" b="-96688"/>
                </a:stretch>
              </a:blip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38100"/>
                <a:ext cx="3657600" cy="5120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1ABC9C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Container</a:t>
                </a: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602145" y="4917583"/>
              <a:ext cx="9753600" cy="473918"/>
              <a:chOff x="0" y="0"/>
              <a:chExt cx="9753600" cy="473918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9753600" cy="473918"/>
              </a:xfrm>
              <a:custGeom>
                <a:avLst/>
                <a:gdLst/>
                <a:ahLst/>
                <a:cxnLst/>
                <a:rect r="r" b="b" t="t" l="l"/>
                <a:pathLst>
                  <a:path h="473918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473918"/>
                    </a:lnTo>
                    <a:lnTo>
                      <a:pt x="0" y="4739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59855" r="0" b="-342178"/>
                </a:stretch>
              </a:blip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38100"/>
                <a:ext cx="9753600" cy="5120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C9D1D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Docker</a:t>
                </a: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243840" y="5644747"/>
              <a:ext cx="10275151" cy="971906"/>
              <a:chOff x="0" y="0"/>
              <a:chExt cx="10275151" cy="971906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16891" y="15517"/>
                <a:ext cx="10241281" cy="940791"/>
              </a:xfrm>
              <a:custGeom>
                <a:avLst/>
                <a:gdLst/>
                <a:ahLst/>
                <a:cxnLst/>
                <a:rect r="r" b="b" t="t" l="l"/>
                <a:pathLst>
                  <a:path h="940791" w="10241281">
                    <a:moveTo>
                      <a:pt x="0" y="0"/>
                    </a:moveTo>
                    <a:lnTo>
                      <a:pt x="10241281" y="0"/>
                    </a:lnTo>
                    <a:lnTo>
                      <a:pt x="10241281" y="940791"/>
                    </a:lnTo>
                    <a:lnTo>
                      <a:pt x="0" y="940791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10275062" cy="971826"/>
              </a:xfrm>
              <a:custGeom>
                <a:avLst/>
                <a:gdLst/>
                <a:ahLst/>
                <a:cxnLst/>
                <a:rect r="r" b="b" t="t" l="l"/>
                <a:pathLst>
                  <a:path h="971826" w="10275062">
                    <a:moveTo>
                      <a:pt x="16891" y="0"/>
                    </a:moveTo>
                    <a:lnTo>
                      <a:pt x="10258172" y="0"/>
                    </a:lnTo>
                    <a:cubicBezTo>
                      <a:pt x="10267569" y="0"/>
                      <a:pt x="10275062" y="7000"/>
                      <a:pt x="10275062" y="15517"/>
                    </a:cubicBezTo>
                    <a:lnTo>
                      <a:pt x="10275062" y="956308"/>
                    </a:lnTo>
                    <a:cubicBezTo>
                      <a:pt x="10275062" y="964941"/>
                      <a:pt x="10267442" y="971824"/>
                      <a:pt x="10258172" y="971824"/>
                    </a:cubicBezTo>
                    <a:lnTo>
                      <a:pt x="16891" y="971824"/>
                    </a:lnTo>
                    <a:cubicBezTo>
                      <a:pt x="7620" y="971944"/>
                      <a:pt x="0" y="964941"/>
                      <a:pt x="0" y="956308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56308"/>
                    </a:lnTo>
                    <a:lnTo>
                      <a:pt x="16891" y="956308"/>
                    </a:lnTo>
                    <a:lnTo>
                      <a:pt x="16891" y="940791"/>
                    </a:lnTo>
                    <a:lnTo>
                      <a:pt x="10258172" y="940791"/>
                    </a:lnTo>
                    <a:lnTo>
                      <a:pt x="10258172" y="956308"/>
                    </a:lnTo>
                    <a:lnTo>
                      <a:pt x="10241280" y="956308"/>
                    </a:lnTo>
                    <a:lnTo>
                      <a:pt x="10241280" y="15517"/>
                    </a:lnTo>
                    <a:lnTo>
                      <a:pt x="10258172" y="15517"/>
                    </a:lnTo>
                    <a:lnTo>
                      <a:pt x="10258172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243840" y="5644747"/>
              <a:ext cx="180175" cy="971906"/>
              <a:chOff x="0" y="0"/>
              <a:chExt cx="180175" cy="971906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16891" y="15517"/>
                <a:ext cx="146304" cy="940791"/>
              </a:xfrm>
              <a:custGeom>
                <a:avLst/>
                <a:gdLst/>
                <a:ahLst/>
                <a:cxnLst/>
                <a:rect r="r" b="b" t="t" l="l"/>
                <a:pathLst>
                  <a:path h="940791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940791"/>
                    </a:lnTo>
                    <a:lnTo>
                      <a:pt x="0" y="940791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</p:sp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80086" cy="971826"/>
              </a:xfrm>
              <a:custGeom>
                <a:avLst/>
                <a:gdLst/>
                <a:ahLst/>
                <a:cxnLst/>
                <a:rect r="r" b="b" t="t" l="l"/>
                <a:pathLst>
                  <a:path h="971826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000"/>
                      <a:pt x="180086" y="15517"/>
                    </a:cubicBezTo>
                    <a:lnTo>
                      <a:pt x="180086" y="956308"/>
                    </a:lnTo>
                    <a:cubicBezTo>
                      <a:pt x="180086" y="964941"/>
                      <a:pt x="172466" y="971824"/>
                      <a:pt x="163195" y="971824"/>
                    </a:cubicBezTo>
                    <a:lnTo>
                      <a:pt x="16891" y="971824"/>
                    </a:lnTo>
                    <a:cubicBezTo>
                      <a:pt x="7620" y="971944"/>
                      <a:pt x="0" y="964941"/>
                      <a:pt x="0" y="956308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56308"/>
                    </a:lnTo>
                    <a:lnTo>
                      <a:pt x="16891" y="956308"/>
                    </a:lnTo>
                    <a:lnTo>
                      <a:pt x="16891" y="940791"/>
                    </a:lnTo>
                    <a:lnTo>
                      <a:pt x="163195" y="940791"/>
                    </a:lnTo>
                    <a:lnTo>
                      <a:pt x="163195" y="956308"/>
                    </a:lnTo>
                    <a:lnTo>
                      <a:pt x="146304" y="956308"/>
                    </a:lnTo>
                    <a:lnTo>
                      <a:pt x="146304" y="15517"/>
                    </a:lnTo>
                    <a:lnTo>
                      <a:pt x="163195" y="15517"/>
                    </a:lnTo>
                    <a:lnTo>
                      <a:pt x="163195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</p:sp>
        </p:grpSp>
        <p:grpSp>
          <p:nvGrpSpPr>
            <p:cNvPr name="Group 81" id="81"/>
            <p:cNvGrpSpPr/>
            <p:nvPr/>
          </p:nvGrpSpPr>
          <p:grpSpPr>
            <a:xfrm rot="0">
              <a:off x="602145" y="5634376"/>
              <a:ext cx="3657600" cy="473918"/>
              <a:chOff x="0" y="0"/>
              <a:chExt cx="3657600" cy="473918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3657600" cy="473918"/>
              </a:xfrm>
              <a:custGeom>
                <a:avLst/>
                <a:gdLst/>
                <a:ahLst/>
                <a:cxnLst/>
                <a:rect r="r" b="b" t="t" l="l"/>
                <a:pathLst>
                  <a:path h="473918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473918"/>
                    </a:lnTo>
                    <a:lnTo>
                      <a:pt x="0" y="4739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04074" r="0" b="-96688"/>
                </a:stretch>
              </a:blip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38100"/>
                <a:ext cx="3657600" cy="5120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0078D4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Registry</a:t>
                </a: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602145" y="6037572"/>
              <a:ext cx="9753600" cy="473918"/>
              <a:chOff x="0" y="0"/>
              <a:chExt cx="9753600" cy="473918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9753600" cy="473918"/>
              </a:xfrm>
              <a:custGeom>
                <a:avLst/>
                <a:gdLst/>
                <a:ahLst/>
                <a:cxnLst/>
                <a:rect r="r" b="b" t="t" l="l"/>
                <a:pathLst>
                  <a:path h="473918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473918"/>
                    </a:lnTo>
                    <a:lnTo>
                      <a:pt x="0" y="4739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59855" r="0" b="-342178"/>
                </a:stretch>
              </a:blipFill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38100"/>
                <a:ext cx="9753600" cy="5120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C9D1D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Azure Container Registry (ACR)</a:t>
                </a:r>
              </a:p>
            </p:txBody>
          </p:sp>
        </p:grpSp>
        <p:grpSp>
          <p:nvGrpSpPr>
            <p:cNvPr name="Group 87" id="87"/>
            <p:cNvGrpSpPr/>
            <p:nvPr/>
          </p:nvGrpSpPr>
          <p:grpSpPr>
            <a:xfrm rot="0">
              <a:off x="243840" y="6764736"/>
              <a:ext cx="10275151" cy="971906"/>
              <a:chOff x="0" y="0"/>
              <a:chExt cx="10275151" cy="971906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16891" y="15517"/>
                <a:ext cx="10241281" cy="940791"/>
              </a:xfrm>
              <a:custGeom>
                <a:avLst/>
                <a:gdLst/>
                <a:ahLst/>
                <a:cxnLst/>
                <a:rect r="r" b="b" t="t" l="l"/>
                <a:pathLst>
                  <a:path h="940791" w="10241281">
                    <a:moveTo>
                      <a:pt x="0" y="0"/>
                    </a:moveTo>
                    <a:lnTo>
                      <a:pt x="10241281" y="0"/>
                    </a:lnTo>
                    <a:lnTo>
                      <a:pt x="10241281" y="940791"/>
                    </a:lnTo>
                    <a:lnTo>
                      <a:pt x="0" y="940791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10275062" cy="971826"/>
              </a:xfrm>
              <a:custGeom>
                <a:avLst/>
                <a:gdLst/>
                <a:ahLst/>
                <a:cxnLst/>
                <a:rect r="r" b="b" t="t" l="l"/>
                <a:pathLst>
                  <a:path h="971826" w="10275062">
                    <a:moveTo>
                      <a:pt x="16891" y="0"/>
                    </a:moveTo>
                    <a:lnTo>
                      <a:pt x="10258172" y="0"/>
                    </a:lnTo>
                    <a:cubicBezTo>
                      <a:pt x="10267569" y="0"/>
                      <a:pt x="10275062" y="7000"/>
                      <a:pt x="10275062" y="15517"/>
                    </a:cubicBezTo>
                    <a:lnTo>
                      <a:pt x="10275062" y="956308"/>
                    </a:lnTo>
                    <a:cubicBezTo>
                      <a:pt x="10275062" y="964941"/>
                      <a:pt x="10267442" y="971824"/>
                      <a:pt x="10258172" y="971824"/>
                    </a:cubicBezTo>
                    <a:lnTo>
                      <a:pt x="16891" y="971824"/>
                    </a:lnTo>
                    <a:cubicBezTo>
                      <a:pt x="7620" y="971944"/>
                      <a:pt x="0" y="964941"/>
                      <a:pt x="0" y="956308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56308"/>
                    </a:lnTo>
                    <a:lnTo>
                      <a:pt x="16891" y="956308"/>
                    </a:lnTo>
                    <a:lnTo>
                      <a:pt x="16891" y="940791"/>
                    </a:lnTo>
                    <a:lnTo>
                      <a:pt x="10258172" y="940791"/>
                    </a:lnTo>
                    <a:lnTo>
                      <a:pt x="10258172" y="956308"/>
                    </a:lnTo>
                    <a:lnTo>
                      <a:pt x="10241280" y="956308"/>
                    </a:lnTo>
                    <a:lnTo>
                      <a:pt x="10241280" y="15517"/>
                    </a:lnTo>
                    <a:lnTo>
                      <a:pt x="10258172" y="15517"/>
                    </a:lnTo>
                    <a:lnTo>
                      <a:pt x="10258172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</p:sp>
        </p:grpSp>
        <p:grpSp>
          <p:nvGrpSpPr>
            <p:cNvPr name="Group 90" id="90"/>
            <p:cNvGrpSpPr/>
            <p:nvPr/>
          </p:nvGrpSpPr>
          <p:grpSpPr>
            <a:xfrm rot="0">
              <a:off x="243840" y="6764736"/>
              <a:ext cx="180175" cy="971906"/>
              <a:chOff x="0" y="0"/>
              <a:chExt cx="180175" cy="971906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16891" y="15517"/>
                <a:ext cx="146304" cy="940791"/>
              </a:xfrm>
              <a:custGeom>
                <a:avLst/>
                <a:gdLst/>
                <a:ahLst/>
                <a:cxnLst/>
                <a:rect r="r" b="b" t="t" l="l"/>
                <a:pathLst>
                  <a:path h="940791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940791"/>
                    </a:lnTo>
                    <a:lnTo>
                      <a:pt x="0" y="940791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</p:sp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180086" cy="971826"/>
              </a:xfrm>
              <a:custGeom>
                <a:avLst/>
                <a:gdLst/>
                <a:ahLst/>
                <a:cxnLst/>
                <a:rect r="r" b="b" t="t" l="l"/>
                <a:pathLst>
                  <a:path h="971826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000"/>
                      <a:pt x="180086" y="15517"/>
                    </a:cubicBezTo>
                    <a:lnTo>
                      <a:pt x="180086" y="956308"/>
                    </a:lnTo>
                    <a:cubicBezTo>
                      <a:pt x="180086" y="964941"/>
                      <a:pt x="172466" y="971824"/>
                      <a:pt x="163195" y="971824"/>
                    </a:cubicBezTo>
                    <a:lnTo>
                      <a:pt x="16891" y="971824"/>
                    </a:lnTo>
                    <a:cubicBezTo>
                      <a:pt x="7620" y="971944"/>
                      <a:pt x="0" y="964941"/>
                      <a:pt x="0" y="956308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56308"/>
                    </a:lnTo>
                    <a:lnTo>
                      <a:pt x="16891" y="956308"/>
                    </a:lnTo>
                    <a:lnTo>
                      <a:pt x="16891" y="940791"/>
                    </a:lnTo>
                    <a:lnTo>
                      <a:pt x="163195" y="940791"/>
                    </a:lnTo>
                    <a:lnTo>
                      <a:pt x="163195" y="956308"/>
                    </a:lnTo>
                    <a:lnTo>
                      <a:pt x="146304" y="956308"/>
                    </a:lnTo>
                    <a:lnTo>
                      <a:pt x="146304" y="15517"/>
                    </a:lnTo>
                    <a:lnTo>
                      <a:pt x="163195" y="15517"/>
                    </a:lnTo>
                    <a:lnTo>
                      <a:pt x="163195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</p:sp>
        </p:grpSp>
        <p:grpSp>
          <p:nvGrpSpPr>
            <p:cNvPr name="Group 93" id="93"/>
            <p:cNvGrpSpPr/>
            <p:nvPr/>
          </p:nvGrpSpPr>
          <p:grpSpPr>
            <a:xfrm rot="0">
              <a:off x="602145" y="6754365"/>
              <a:ext cx="3657600" cy="473918"/>
              <a:chOff x="0" y="0"/>
              <a:chExt cx="3657600" cy="473918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3657600" cy="473918"/>
              </a:xfrm>
              <a:custGeom>
                <a:avLst/>
                <a:gdLst/>
                <a:ahLst/>
                <a:cxnLst/>
                <a:rect r="r" b="b" t="t" l="l"/>
                <a:pathLst>
                  <a:path h="473918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473918"/>
                    </a:lnTo>
                    <a:lnTo>
                      <a:pt x="0" y="4739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04074" r="0" b="-96688"/>
                </a:stretch>
              </a:blipFill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0" y="-38100"/>
                <a:ext cx="3657600" cy="5120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0078D4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Cloud Hosting</a:t>
                </a:r>
              </a:p>
            </p:txBody>
          </p:sp>
        </p:grpSp>
        <p:grpSp>
          <p:nvGrpSpPr>
            <p:cNvPr name="Group 96" id="96"/>
            <p:cNvGrpSpPr/>
            <p:nvPr/>
          </p:nvGrpSpPr>
          <p:grpSpPr>
            <a:xfrm rot="0">
              <a:off x="602145" y="7157562"/>
              <a:ext cx="9753600" cy="473918"/>
              <a:chOff x="0" y="0"/>
              <a:chExt cx="9753600" cy="473918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9753600" cy="473918"/>
              </a:xfrm>
              <a:custGeom>
                <a:avLst/>
                <a:gdLst/>
                <a:ahLst/>
                <a:cxnLst/>
                <a:rect r="r" b="b" t="t" l="l"/>
                <a:pathLst>
                  <a:path h="473918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473918"/>
                    </a:lnTo>
                    <a:lnTo>
                      <a:pt x="0" y="4739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59855" r="0" b="-342178"/>
                </a:stretch>
              </a:blipFill>
            </p:spPr>
          </p:sp>
          <p:sp>
            <p:nvSpPr>
              <p:cNvPr name="TextBox 98" id="98"/>
              <p:cNvSpPr txBox="true"/>
              <p:nvPr/>
            </p:nvSpPr>
            <p:spPr>
              <a:xfrm>
                <a:off x="0" y="-38100"/>
                <a:ext cx="9753600" cy="5120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C9D1D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Azure App Service (B1 Linux)</a:t>
                </a:r>
              </a:p>
            </p:txBody>
          </p:sp>
        </p:grpSp>
        <p:grpSp>
          <p:nvGrpSpPr>
            <p:cNvPr name="Group 99" id="99"/>
            <p:cNvGrpSpPr/>
            <p:nvPr/>
          </p:nvGrpSpPr>
          <p:grpSpPr>
            <a:xfrm rot="0">
              <a:off x="243840" y="7884726"/>
              <a:ext cx="10275151" cy="971906"/>
              <a:chOff x="0" y="0"/>
              <a:chExt cx="10275151" cy="971906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16891" y="15517"/>
                <a:ext cx="10241281" cy="940791"/>
              </a:xfrm>
              <a:custGeom>
                <a:avLst/>
                <a:gdLst/>
                <a:ahLst/>
                <a:cxnLst/>
                <a:rect r="r" b="b" t="t" l="l"/>
                <a:pathLst>
                  <a:path h="940791" w="10241281">
                    <a:moveTo>
                      <a:pt x="0" y="0"/>
                    </a:moveTo>
                    <a:lnTo>
                      <a:pt x="10241281" y="0"/>
                    </a:lnTo>
                    <a:lnTo>
                      <a:pt x="10241281" y="940791"/>
                    </a:lnTo>
                    <a:lnTo>
                      <a:pt x="0" y="940791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0275062" cy="971826"/>
              </a:xfrm>
              <a:custGeom>
                <a:avLst/>
                <a:gdLst/>
                <a:ahLst/>
                <a:cxnLst/>
                <a:rect r="r" b="b" t="t" l="l"/>
                <a:pathLst>
                  <a:path h="971826" w="10275062">
                    <a:moveTo>
                      <a:pt x="16891" y="0"/>
                    </a:moveTo>
                    <a:lnTo>
                      <a:pt x="10258172" y="0"/>
                    </a:lnTo>
                    <a:cubicBezTo>
                      <a:pt x="10267569" y="0"/>
                      <a:pt x="10275062" y="7000"/>
                      <a:pt x="10275062" y="15517"/>
                    </a:cubicBezTo>
                    <a:lnTo>
                      <a:pt x="10275062" y="956308"/>
                    </a:lnTo>
                    <a:cubicBezTo>
                      <a:pt x="10275062" y="964941"/>
                      <a:pt x="10267442" y="971824"/>
                      <a:pt x="10258172" y="971824"/>
                    </a:cubicBezTo>
                    <a:lnTo>
                      <a:pt x="16891" y="971824"/>
                    </a:lnTo>
                    <a:cubicBezTo>
                      <a:pt x="7620" y="971944"/>
                      <a:pt x="0" y="964941"/>
                      <a:pt x="0" y="956308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56308"/>
                    </a:lnTo>
                    <a:lnTo>
                      <a:pt x="16891" y="956308"/>
                    </a:lnTo>
                    <a:lnTo>
                      <a:pt x="16891" y="940791"/>
                    </a:lnTo>
                    <a:lnTo>
                      <a:pt x="10258172" y="940791"/>
                    </a:lnTo>
                    <a:lnTo>
                      <a:pt x="10258172" y="956308"/>
                    </a:lnTo>
                    <a:lnTo>
                      <a:pt x="10241280" y="956308"/>
                    </a:lnTo>
                    <a:lnTo>
                      <a:pt x="10241280" y="15517"/>
                    </a:lnTo>
                    <a:lnTo>
                      <a:pt x="10258172" y="15517"/>
                    </a:lnTo>
                    <a:lnTo>
                      <a:pt x="10258172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8957E5"/>
              </a:solidFill>
            </p:spPr>
          </p:sp>
        </p:grpSp>
        <p:grpSp>
          <p:nvGrpSpPr>
            <p:cNvPr name="Group 102" id="102"/>
            <p:cNvGrpSpPr/>
            <p:nvPr/>
          </p:nvGrpSpPr>
          <p:grpSpPr>
            <a:xfrm rot="0">
              <a:off x="243840" y="7884726"/>
              <a:ext cx="180175" cy="971906"/>
              <a:chOff x="0" y="0"/>
              <a:chExt cx="180175" cy="971906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16891" y="15517"/>
                <a:ext cx="146304" cy="940791"/>
              </a:xfrm>
              <a:custGeom>
                <a:avLst/>
                <a:gdLst/>
                <a:ahLst/>
                <a:cxnLst/>
                <a:rect r="r" b="b" t="t" l="l"/>
                <a:pathLst>
                  <a:path h="940791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940791"/>
                    </a:lnTo>
                    <a:lnTo>
                      <a:pt x="0" y="940791"/>
                    </a:lnTo>
                    <a:close/>
                  </a:path>
                </a:pathLst>
              </a:custGeom>
              <a:solidFill>
                <a:srgbClr val="8957E5"/>
              </a:solidFill>
            </p:spPr>
          </p:sp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180086" cy="971826"/>
              </a:xfrm>
              <a:custGeom>
                <a:avLst/>
                <a:gdLst/>
                <a:ahLst/>
                <a:cxnLst/>
                <a:rect r="r" b="b" t="t" l="l"/>
                <a:pathLst>
                  <a:path h="971826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000"/>
                      <a:pt x="180086" y="15517"/>
                    </a:cubicBezTo>
                    <a:lnTo>
                      <a:pt x="180086" y="956308"/>
                    </a:lnTo>
                    <a:cubicBezTo>
                      <a:pt x="180086" y="964941"/>
                      <a:pt x="172466" y="971824"/>
                      <a:pt x="163195" y="971824"/>
                    </a:cubicBezTo>
                    <a:lnTo>
                      <a:pt x="16891" y="971824"/>
                    </a:lnTo>
                    <a:cubicBezTo>
                      <a:pt x="7620" y="971944"/>
                      <a:pt x="0" y="964941"/>
                      <a:pt x="0" y="956308"/>
                    </a:cubicBezTo>
                    <a:lnTo>
                      <a:pt x="0" y="15517"/>
                    </a:lnTo>
                    <a:cubicBezTo>
                      <a:pt x="0" y="7000"/>
                      <a:pt x="7620" y="0"/>
                      <a:pt x="16891" y="0"/>
                    </a:cubicBezTo>
                    <a:moveTo>
                      <a:pt x="16891" y="31150"/>
                    </a:moveTo>
                    <a:lnTo>
                      <a:pt x="16891" y="15517"/>
                    </a:lnTo>
                    <a:lnTo>
                      <a:pt x="33909" y="15517"/>
                    </a:lnTo>
                    <a:lnTo>
                      <a:pt x="33909" y="956308"/>
                    </a:lnTo>
                    <a:lnTo>
                      <a:pt x="16891" y="956308"/>
                    </a:lnTo>
                    <a:lnTo>
                      <a:pt x="16891" y="940791"/>
                    </a:lnTo>
                    <a:lnTo>
                      <a:pt x="163195" y="940791"/>
                    </a:lnTo>
                    <a:lnTo>
                      <a:pt x="163195" y="956308"/>
                    </a:lnTo>
                    <a:lnTo>
                      <a:pt x="146304" y="956308"/>
                    </a:lnTo>
                    <a:lnTo>
                      <a:pt x="146304" y="15517"/>
                    </a:lnTo>
                    <a:lnTo>
                      <a:pt x="163195" y="15517"/>
                    </a:lnTo>
                    <a:lnTo>
                      <a:pt x="163195" y="31150"/>
                    </a:lnTo>
                    <a:lnTo>
                      <a:pt x="16891" y="31150"/>
                    </a:lnTo>
                    <a:close/>
                  </a:path>
                </a:pathLst>
              </a:custGeom>
              <a:solidFill>
                <a:srgbClr val="8957E5"/>
              </a:solidFill>
            </p:spPr>
          </p:sp>
        </p:grpSp>
        <p:grpSp>
          <p:nvGrpSpPr>
            <p:cNvPr name="Group 105" id="105"/>
            <p:cNvGrpSpPr/>
            <p:nvPr/>
          </p:nvGrpSpPr>
          <p:grpSpPr>
            <a:xfrm rot="0">
              <a:off x="602145" y="7874355"/>
              <a:ext cx="3657600" cy="473918"/>
              <a:chOff x="0" y="0"/>
              <a:chExt cx="3657600" cy="473918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3657600" cy="473918"/>
              </a:xfrm>
              <a:custGeom>
                <a:avLst/>
                <a:gdLst/>
                <a:ahLst/>
                <a:cxnLst/>
                <a:rect r="r" b="b" t="t" l="l"/>
                <a:pathLst>
                  <a:path h="473918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473918"/>
                    </a:lnTo>
                    <a:lnTo>
                      <a:pt x="0" y="4739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04074" r="0" b="-96688"/>
                </a:stretch>
              </a:blipFill>
            </p:spPr>
          </p:sp>
          <p:sp>
            <p:nvSpPr>
              <p:cNvPr name="TextBox 107" id="107"/>
              <p:cNvSpPr txBox="true"/>
              <p:nvPr/>
            </p:nvSpPr>
            <p:spPr>
              <a:xfrm>
                <a:off x="0" y="-38100"/>
                <a:ext cx="3657600" cy="5120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8957E5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CI/CD</a:t>
                </a:r>
              </a:p>
            </p:txBody>
          </p:sp>
        </p:grpSp>
        <p:grpSp>
          <p:nvGrpSpPr>
            <p:cNvPr name="Group 108" id="108"/>
            <p:cNvGrpSpPr/>
            <p:nvPr/>
          </p:nvGrpSpPr>
          <p:grpSpPr>
            <a:xfrm rot="0">
              <a:off x="602145" y="8277551"/>
              <a:ext cx="9753600" cy="473918"/>
              <a:chOff x="0" y="0"/>
              <a:chExt cx="9753600" cy="473918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9753600" cy="473918"/>
              </a:xfrm>
              <a:custGeom>
                <a:avLst/>
                <a:gdLst/>
                <a:ahLst/>
                <a:cxnLst/>
                <a:rect r="r" b="b" t="t" l="l"/>
                <a:pathLst>
                  <a:path h="473918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473918"/>
                    </a:lnTo>
                    <a:lnTo>
                      <a:pt x="0" y="4739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59855" r="0" b="-342178"/>
                </a:stretch>
              </a:blipFill>
            </p:spPr>
          </p:sp>
          <p:sp>
            <p:nvSpPr>
              <p:cNvPr name="TextBox 110" id="110"/>
              <p:cNvSpPr txBox="true"/>
              <p:nvPr/>
            </p:nvSpPr>
            <p:spPr>
              <a:xfrm>
                <a:off x="0" y="-38100"/>
                <a:ext cx="9753600" cy="5120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C9D1D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GitHub Actions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End-to-end architecture of the deployed system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7284" y="2724150"/>
            <a:ext cx="2768915" cy="1989268"/>
            <a:chOff x="0" y="0"/>
            <a:chExt cx="3691887" cy="26523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4482" y="24650"/>
              <a:ext cx="3642923" cy="2603056"/>
            </a:xfrm>
            <a:custGeom>
              <a:avLst/>
              <a:gdLst/>
              <a:ahLst/>
              <a:cxnLst/>
              <a:rect r="r" b="b" t="t" l="l"/>
              <a:pathLst>
                <a:path h="2603056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2603056"/>
                  </a:lnTo>
                  <a:lnTo>
                    <a:pt x="0" y="2603056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91887" cy="2652357"/>
            </a:xfrm>
            <a:custGeom>
              <a:avLst/>
              <a:gdLst/>
              <a:ahLst/>
              <a:cxnLst/>
              <a:rect r="r" b="b" t="t" l="l"/>
              <a:pathLst>
                <a:path h="2652357" w="3691887">
                  <a:moveTo>
                    <a:pt x="24482" y="0"/>
                  </a:moveTo>
                  <a:lnTo>
                    <a:pt x="3667405" y="0"/>
                  </a:lnTo>
                  <a:cubicBezTo>
                    <a:pt x="3680870" y="0"/>
                    <a:pt x="3691887" y="11093"/>
                    <a:pt x="3691887" y="24650"/>
                  </a:cubicBezTo>
                  <a:lnTo>
                    <a:pt x="3691887" y="2627706"/>
                  </a:lnTo>
                  <a:cubicBezTo>
                    <a:pt x="3691887" y="2641264"/>
                    <a:pt x="3680870" y="2652357"/>
                    <a:pt x="3667405" y="2652357"/>
                  </a:cubicBezTo>
                  <a:lnTo>
                    <a:pt x="24482" y="2652357"/>
                  </a:lnTo>
                  <a:cubicBezTo>
                    <a:pt x="11017" y="2652357"/>
                    <a:pt x="0" y="2641264"/>
                    <a:pt x="0" y="2627706"/>
                  </a:cubicBezTo>
                  <a:lnTo>
                    <a:pt x="0" y="24650"/>
                  </a:lnTo>
                  <a:cubicBezTo>
                    <a:pt x="0" y="11093"/>
                    <a:pt x="11017" y="0"/>
                    <a:pt x="24482" y="0"/>
                  </a:cubicBezTo>
                  <a:moveTo>
                    <a:pt x="24482" y="49300"/>
                  </a:moveTo>
                  <a:lnTo>
                    <a:pt x="24482" y="24650"/>
                  </a:lnTo>
                  <a:lnTo>
                    <a:pt x="48964" y="24650"/>
                  </a:lnTo>
                  <a:lnTo>
                    <a:pt x="48964" y="2627706"/>
                  </a:lnTo>
                  <a:lnTo>
                    <a:pt x="24482" y="2627706"/>
                  </a:lnTo>
                  <a:lnTo>
                    <a:pt x="24482" y="2603056"/>
                  </a:lnTo>
                  <a:lnTo>
                    <a:pt x="3667405" y="2603056"/>
                  </a:lnTo>
                  <a:lnTo>
                    <a:pt x="3667405" y="2627706"/>
                  </a:lnTo>
                  <a:lnTo>
                    <a:pt x="3642923" y="2627706"/>
                  </a:lnTo>
                  <a:lnTo>
                    <a:pt x="3642923" y="24650"/>
                  </a:lnTo>
                  <a:lnTo>
                    <a:pt x="3667405" y="24650"/>
                  </a:lnTo>
                  <a:lnTo>
                    <a:pt x="3667405" y="49300"/>
                  </a:lnTo>
                  <a:lnTo>
                    <a:pt x="24482" y="49300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3407" y="2730316"/>
            <a:ext cx="2756677" cy="415112"/>
            <a:chOff x="0" y="0"/>
            <a:chExt cx="3675569" cy="5534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281" y="16392"/>
              <a:ext cx="3642922" cy="520611"/>
            </a:xfrm>
            <a:custGeom>
              <a:avLst/>
              <a:gdLst/>
              <a:ahLst/>
              <a:cxnLst/>
              <a:rect r="r" b="b" t="t" l="l"/>
              <a:pathLst>
                <a:path h="520611" w="3642922">
                  <a:moveTo>
                    <a:pt x="0" y="0"/>
                  </a:moveTo>
                  <a:lnTo>
                    <a:pt x="3642922" y="0"/>
                  </a:lnTo>
                  <a:lnTo>
                    <a:pt x="3642922" y="520612"/>
                  </a:lnTo>
                  <a:lnTo>
                    <a:pt x="0" y="520612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75484" cy="553398"/>
            </a:xfrm>
            <a:custGeom>
              <a:avLst/>
              <a:gdLst/>
              <a:ahLst/>
              <a:cxnLst/>
              <a:rect r="r" b="b" t="t" l="l"/>
              <a:pathLst>
                <a:path h="553398" w="3675484">
                  <a:moveTo>
                    <a:pt x="16281" y="0"/>
                  </a:moveTo>
                  <a:lnTo>
                    <a:pt x="3659203" y="0"/>
                  </a:lnTo>
                  <a:cubicBezTo>
                    <a:pt x="3668262" y="0"/>
                    <a:pt x="3675484" y="7395"/>
                    <a:pt x="3675484" y="16392"/>
                  </a:cubicBezTo>
                  <a:lnTo>
                    <a:pt x="3675484" y="537004"/>
                  </a:lnTo>
                  <a:cubicBezTo>
                    <a:pt x="3675484" y="546124"/>
                    <a:pt x="3668139" y="553396"/>
                    <a:pt x="3659203" y="553396"/>
                  </a:cubicBezTo>
                  <a:lnTo>
                    <a:pt x="16281" y="553396"/>
                  </a:lnTo>
                  <a:cubicBezTo>
                    <a:pt x="7345" y="553520"/>
                    <a:pt x="0" y="546124"/>
                    <a:pt x="0" y="537004"/>
                  </a:cubicBezTo>
                  <a:lnTo>
                    <a:pt x="0" y="16392"/>
                  </a:lnTo>
                  <a:cubicBezTo>
                    <a:pt x="0" y="7395"/>
                    <a:pt x="7345" y="0"/>
                    <a:pt x="16281" y="0"/>
                  </a:cubicBezTo>
                  <a:moveTo>
                    <a:pt x="16281" y="32908"/>
                  </a:moveTo>
                  <a:lnTo>
                    <a:pt x="16281" y="16392"/>
                  </a:lnTo>
                  <a:lnTo>
                    <a:pt x="32683" y="16392"/>
                  </a:lnTo>
                  <a:lnTo>
                    <a:pt x="32683" y="537004"/>
                  </a:lnTo>
                  <a:lnTo>
                    <a:pt x="16281" y="537004"/>
                  </a:lnTo>
                  <a:lnTo>
                    <a:pt x="16281" y="520611"/>
                  </a:lnTo>
                  <a:lnTo>
                    <a:pt x="3659203" y="520611"/>
                  </a:lnTo>
                  <a:lnTo>
                    <a:pt x="3659203" y="537004"/>
                  </a:lnTo>
                  <a:lnTo>
                    <a:pt x="3642923" y="537004"/>
                  </a:lnTo>
                  <a:lnTo>
                    <a:pt x="3642923" y="16392"/>
                  </a:lnTo>
                  <a:lnTo>
                    <a:pt x="3659203" y="16392"/>
                  </a:lnTo>
                  <a:lnTo>
                    <a:pt x="3659203" y="32908"/>
                  </a:lnTo>
                  <a:lnTo>
                    <a:pt x="16281" y="32908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5645" y="3186340"/>
            <a:ext cx="2732192" cy="922902"/>
            <a:chOff x="0" y="0"/>
            <a:chExt cx="3642923" cy="12305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42923" cy="1230536"/>
            </a:xfrm>
            <a:custGeom>
              <a:avLst/>
              <a:gdLst/>
              <a:ahLst/>
              <a:cxnLst/>
              <a:rect r="r" b="b" t="t" l="l"/>
              <a:pathLst>
                <a:path h="1230536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1230536"/>
                  </a:lnTo>
                  <a:lnTo>
                    <a:pt x="0" y="12305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26" r="-3749" b="-113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642923" cy="1278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Browser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5645" y="4162487"/>
            <a:ext cx="2732192" cy="461451"/>
            <a:chOff x="0" y="0"/>
            <a:chExt cx="3642923" cy="6152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42923" cy="615268"/>
            </a:xfrm>
            <a:custGeom>
              <a:avLst/>
              <a:gdLst/>
              <a:ahLst/>
              <a:cxnLst/>
              <a:rect r="r" b="b" t="t" l="l"/>
              <a:pathLst>
                <a:path h="615268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615268"/>
                  </a:lnTo>
                  <a:lnTo>
                    <a:pt x="0" y="6152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73" r="-3749" b="-7121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642923" cy="643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HTML/JS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983352" y="3694131"/>
            <a:ext cx="842178" cy="49297"/>
            <a:chOff x="0" y="0"/>
            <a:chExt cx="1122904" cy="657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2683" y="0"/>
              <a:ext cx="1057623" cy="65693"/>
            </a:xfrm>
            <a:custGeom>
              <a:avLst/>
              <a:gdLst/>
              <a:ahLst/>
              <a:cxnLst/>
              <a:rect r="r" b="b" t="t" l="l"/>
              <a:pathLst>
                <a:path h="65693" w="1057623">
                  <a:moveTo>
                    <a:pt x="0" y="0"/>
                  </a:moveTo>
                  <a:lnTo>
                    <a:pt x="1057623" y="0"/>
                  </a:lnTo>
                  <a:lnTo>
                    <a:pt x="1057623" y="65693"/>
                  </a:lnTo>
                  <a:lnTo>
                    <a:pt x="0" y="65693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483768" y="3451493"/>
            <a:ext cx="440676" cy="480268"/>
            <a:chOff x="0" y="0"/>
            <a:chExt cx="587568" cy="6403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7568" cy="640358"/>
            </a:xfrm>
            <a:custGeom>
              <a:avLst/>
              <a:gdLst/>
              <a:ahLst/>
              <a:cxnLst/>
              <a:rect r="r" b="b" t="t" l="l"/>
              <a:pathLst>
                <a:path h="640358" w="587568">
                  <a:moveTo>
                    <a:pt x="0" y="0"/>
                  </a:moveTo>
                  <a:lnTo>
                    <a:pt x="587568" y="0"/>
                  </a:lnTo>
                  <a:lnTo>
                    <a:pt x="587568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1239" t="0" r="-84989" b="480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87568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088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253882" y="2724150"/>
            <a:ext cx="2768915" cy="1989268"/>
            <a:chOff x="0" y="0"/>
            <a:chExt cx="3691887" cy="26523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4482" y="24650"/>
              <a:ext cx="3642923" cy="2603056"/>
            </a:xfrm>
            <a:custGeom>
              <a:avLst/>
              <a:gdLst/>
              <a:ahLst/>
              <a:cxnLst/>
              <a:rect r="r" b="b" t="t" l="l"/>
              <a:pathLst>
                <a:path h="2603056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2603056"/>
                  </a:lnTo>
                  <a:lnTo>
                    <a:pt x="0" y="2603056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91887" cy="2652357"/>
            </a:xfrm>
            <a:custGeom>
              <a:avLst/>
              <a:gdLst/>
              <a:ahLst/>
              <a:cxnLst/>
              <a:rect r="r" b="b" t="t" l="l"/>
              <a:pathLst>
                <a:path h="2652357" w="3691887">
                  <a:moveTo>
                    <a:pt x="24482" y="0"/>
                  </a:moveTo>
                  <a:lnTo>
                    <a:pt x="3667405" y="0"/>
                  </a:lnTo>
                  <a:cubicBezTo>
                    <a:pt x="3680870" y="0"/>
                    <a:pt x="3691887" y="11093"/>
                    <a:pt x="3691887" y="24650"/>
                  </a:cubicBezTo>
                  <a:lnTo>
                    <a:pt x="3691887" y="2627706"/>
                  </a:lnTo>
                  <a:cubicBezTo>
                    <a:pt x="3691887" y="2641264"/>
                    <a:pt x="3680870" y="2652357"/>
                    <a:pt x="3667405" y="2652357"/>
                  </a:cubicBezTo>
                  <a:lnTo>
                    <a:pt x="24482" y="2652357"/>
                  </a:lnTo>
                  <a:cubicBezTo>
                    <a:pt x="11017" y="2652357"/>
                    <a:pt x="0" y="2641264"/>
                    <a:pt x="0" y="2627706"/>
                  </a:cubicBezTo>
                  <a:lnTo>
                    <a:pt x="0" y="24650"/>
                  </a:lnTo>
                  <a:cubicBezTo>
                    <a:pt x="0" y="11093"/>
                    <a:pt x="11017" y="0"/>
                    <a:pt x="24482" y="0"/>
                  </a:cubicBezTo>
                  <a:moveTo>
                    <a:pt x="24482" y="49300"/>
                  </a:moveTo>
                  <a:lnTo>
                    <a:pt x="24482" y="24650"/>
                  </a:lnTo>
                  <a:lnTo>
                    <a:pt x="48964" y="24650"/>
                  </a:lnTo>
                  <a:lnTo>
                    <a:pt x="48964" y="2627706"/>
                  </a:lnTo>
                  <a:lnTo>
                    <a:pt x="24482" y="2627706"/>
                  </a:lnTo>
                  <a:lnTo>
                    <a:pt x="24482" y="2603056"/>
                  </a:lnTo>
                  <a:lnTo>
                    <a:pt x="3667405" y="2603056"/>
                  </a:lnTo>
                  <a:lnTo>
                    <a:pt x="3667405" y="2627706"/>
                  </a:lnTo>
                  <a:lnTo>
                    <a:pt x="3642923" y="2627706"/>
                  </a:lnTo>
                  <a:lnTo>
                    <a:pt x="3642923" y="24650"/>
                  </a:lnTo>
                  <a:lnTo>
                    <a:pt x="3667405" y="24650"/>
                  </a:lnTo>
                  <a:lnTo>
                    <a:pt x="3667405" y="49300"/>
                  </a:lnTo>
                  <a:lnTo>
                    <a:pt x="24482" y="49300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260005" y="2730316"/>
            <a:ext cx="2756677" cy="415112"/>
            <a:chOff x="0" y="0"/>
            <a:chExt cx="3675569" cy="55348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281" y="16392"/>
              <a:ext cx="3642922" cy="520611"/>
            </a:xfrm>
            <a:custGeom>
              <a:avLst/>
              <a:gdLst/>
              <a:ahLst/>
              <a:cxnLst/>
              <a:rect r="r" b="b" t="t" l="l"/>
              <a:pathLst>
                <a:path h="520611" w="3642922">
                  <a:moveTo>
                    <a:pt x="0" y="0"/>
                  </a:moveTo>
                  <a:lnTo>
                    <a:pt x="3642922" y="0"/>
                  </a:lnTo>
                  <a:lnTo>
                    <a:pt x="3642922" y="520612"/>
                  </a:lnTo>
                  <a:lnTo>
                    <a:pt x="0" y="520612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75484" cy="553398"/>
            </a:xfrm>
            <a:custGeom>
              <a:avLst/>
              <a:gdLst/>
              <a:ahLst/>
              <a:cxnLst/>
              <a:rect r="r" b="b" t="t" l="l"/>
              <a:pathLst>
                <a:path h="553398" w="3675484">
                  <a:moveTo>
                    <a:pt x="16281" y="0"/>
                  </a:moveTo>
                  <a:lnTo>
                    <a:pt x="3659203" y="0"/>
                  </a:lnTo>
                  <a:cubicBezTo>
                    <a:pt x="3668262" y="0"/>
                    <a:pt x="3675484" y="7395"/>
                    <a:pt x="3675484" y="16392"/>
                  </a:cubicBezTo>
                  <a:lnTo>
                    <a:pt x="3675484" y="537004"/>
                  </a:lnTo>
                  <a:cubicBezTo>
                    <a:pt x="3675484" y="546124"/>
                    <a:pt x="3668139" y="553396"/>
                    <a:pt x="3659203" y="553396"/>
                  </a:cubicBezTo>
                  <a:lnTo>
                    <a:pt x="16281" y="553396"/>
                  </a:lnTo>
                  <a:cubicBezTo>
                    <a:pt x="7345" y="553520"/>
                    <a:pt x="0" y="546124"/>
                    <a:pt x="0" y="537004"/>
                  </a:cubicBezTo>
                  <a:lnTo>
                    <a:pt x="0" y="16392"/>
                  </a:lnTo>
                  <a:cubicBezTo>
                    <a:pt x="0" y="7395"/>
                    <a:pt x="7345" y="0"/>
                    <a:pt x="16281" y="0"/>
                  </a:cubicBezTo>
                  <a:moveTo>
                    <a:pt x="16281" y="32908"/>
                  </a:moveTo>
                  <a:lnTo>
                    <a:pt x="16281" y="16392"/>
                  </a:lnTo>
                  <a:lnTo>
                    <a:pt x="32683" y="16392"/>
                  </a:lnTo>
                  <a:lnTo>
                    <a:pt x="32683" y="537004"/>
                  </a:lnTo>
                  <a:lnTo>
                    <a:pt x="16281" y="537004"/>
                  </a:lnTo>
                  <a:lnTo>
                    <a:pt x="16281" y="520611"/>
                  </a:lnTo>
                  <a:lnTo>
                    <a:pt x="3659203" y="520611"/>
                  </a:lnTo>
                  <a:lnTo>
                    <a:pt x="3659203" y="537004"/>
                  </a:lnTo>
                  <a:lnTo>
                    <a:pt x="3642923" y="537004"/>
                  </a:lnTo>
                  <a:lnTo>
                    <a:pt x="3642923" y="16392"/>
                  </a:lnTo>
                  <a:lnTo>
                    <a:pt x="3659203" y="16392"/>
                  </a:lnTo>
                  <a:lnTo>
                    <a:pt x="3659203" y="32908"/>
                  </a:lnTo>
                  <a:lnTo>
                    <a:pt x="16281" y="32908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272243" y="3186340"/>
            <a:ext cx="2732192" cy="922902"/>
            <a:chOff x="0" y="0"/>
            <a:chExt cx="3642923" cy="12305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42923" cy="1230536"/>
            </a:xfrm>
            <a:custGeom>
              <a:avLst/>
              <a:gdLst/>
              <a:ahLst/>
              <a:cxnLst/>
              <a:rect r="r" b="b" t="t" l="l"/>
              <a:pathLst>
                <a:path h="1230536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1230536"/>
                  </a:lnTo>
                  <a:lnTo>
                    <a:pt x="0" y="12305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26" r="-3749" b="-1136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3642923" cy="1278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272243" y="4162487"/>
            <a:ext cx="2732192" cy="461451"/>
            <a:chOff x="0" y="0"/>
            <a:chExt cx="3642923" cy="6152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42923" cy="615268"/>
            </a:xfrm>
            <a:custGeom>
              <a:avLst/>
              <a:gdLst/>
              <a:ahLst/>
              <a:cxnLst/>
              <a:rect r="r" b="b" t="t" l="l"/>
              <a:pathLst>
                <a:path h="615268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615268"/>
                  </a:lnTo>
                  <a:lnTo>
                    <a:pt x="0" y="6152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73" r="-3749" b="-7121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3642923" cy="643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3.10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979950" y="3694131"/>
            <a:ext cx="842178" cy="49297"/>
            <a:chOff x="0" y="0"/>
            <a:chExt cx="1122904" cy="657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32683" y="0"/>
              <a:ext cx="1057623" cy="65693"/>
            </a:xfrm>
            <a:custGeom>
              <a:avLst/>
              <a:gdLst/>
              <a:ahLst/>
              <a:cxnLst/>
              <a:rect r="r" b="b" t="t" l="l"/>
              <a:pathLst>
                <a:path h="65693" w="1057623">
                  <a:moveTo>
                    <a:pt x="0" y="0"/>
                  </a:moveTo>
                  <a:lnTo>
                    <a:pt x="1057623" y="0"/>
                  </a:lnTo>
                  <a:lnTo>
                    <a:pt x="1057623" y="65693"/>
                  </a:lnTo>
                  <a:lnTo>
                    <a:pt x="0" y="65693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480365" y="3451493"/>
            <a:ext cx="440676" cy="480268"/>
            <a:chOff x="0" y="0"/>
            <a:chExt cx="587568" cy="64035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7568" cy="640358"/>
            </a:xfrm>
            <a:custGeom>
              <a:avLst/>
              <a:gdLst/>
              <a:ahLst/>
              <a:cxnLst/>
              <a:rect r="r" b="b" t="t" l="l"/>
              <a:pathLst>
                <a:path h="640358" w="587568">
                  <a:moveTo>
                    <a:pt x="0" y="0"/>
                  </a:moveTo>
                  <a:lnTo>
                    <a:pt x="587568" y="0"/>
                  </a:lnTo>
                  <a:lnTo>
                    <a:pt x="587568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1239" t="0" r="-84989" b="480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87568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F81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250479" y="2724150"/>
            <a:ext cx="2768915" cy="1989268"/>
            <a:chOff x="0" y="0"/>
            <a:chExt cx="3691887" cy="265235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24482" y="24650"/>
              <a:ext cx="3642923" cy="2603056"/>
            </a:xfrm>
            <a:custGeom>
              <a:avLst/>
              <a:gdLst/>
              <a:ahLst/>
              <a:cxnLst/>
              <a:rect r="r" b="b" t="t" l="l"/>
              <a:pathLst>
                <a:path h="2603056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2603056"/>
                  </a:lnTo>
                  <a:lnTo>
                    <a:pt x="0" y="2603056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91887" cy="2652357"/>
            </a:xfrm>
            <a:custGeom>
              <a:avLst/>
              <a:gdLst/>
              <a:ahLst/>
              <a:cxnLst/>
              <a:rect r="r" b="b" t="t" l="l"/>
              <a:pathLst>
                <a:path h="2652357" w="3691887">
                  <a:moveTo>
                    <a:pt x="24482" y="0"/>
                  </a:moveTo>
                  <a:lnTo>
                    <a:pt x="3667405" y="0"/>
                  </a:lnTo>
                  <a:cubicBezTo>
                    <a:pt x="3680870" y="0"/>
                    <a:pt x="3691887" y="11093"/>
                    <a:pt x="3691887" y="24650"/>
                  </a:cubicBezTo>
                  <a:lnTo>
                    <a:pt x="3691887" y="2627706"/>
                  </a:lnTo>
                  <a:cubicBezTo>
                    <a:pt x="3691887" y="2641264"/>
                    <a:pt x="3680870" y="2652357"/>
                    <a:pt x="3667405" y="2652357"/>
                  </a:cubicBezTo>
                  <a:lnTo>
                    <a:pt x="24482" y="2652357"/>
                  </a:lnTo>
                  <a:cubicBezTo>
                    <a:pt x="11017" y="2652357"/>
                    <a:pt x="0" y="2641264"/>
                    <a:pt x="0" y="2627706"/>
                  </a:cubicBezTo>
                  <a:lnTo>
                    <a:pt x="0" y="24650"/>
                  </a:lnTo>
                  <a:cubicBezTo>
                    <a:pt x="0" y="11093"/>
                    <a:pt x="11017" y="0"/>
                    <a:pt x="24482" y="0"/>
                  </a:cubicBezTo>
                  <a:moveTo>
                    <a:pt x="24482" y="49300"/>
                  </a:moveTo>
                  <a:lnTo>
                    <a:pt x="24482" y="24650"/>
                  </a:lnTo>
                  <a:lnTo>
                    <a:pt x="48964" y="24650"/>
                  </a:lnTo>
                  <a:lnTo>
                    <a:pt x="48964" y="2627706"/>
                  </a:lnTo>
                  <a:lnTo>
                    <a:pt x="24482" y="2627706"/>
                  </a:lnTo>
                  <a:lnTo>
                    <a:pt x="24482" y="2603056"/>
                  </a:lnTo>
                  <a:lnTo>
                    <a:pt x="3667405" y="2603056"/>
                  </a:lnTo>
                  <a:lnTo>
                    <a:pt x="3667405" y="2627706"/>
                  </a:lnTo>
                  <a:lnTo>
                    <a:pt x="3642923" y="2627706"/>
                  </a:lnTo>
                  <a:lnTo>
                    <a:pt x="3642923" y="24650"/>
                  </a:lnTo>
                  <a:lnTo>
                    <a:pt x="3667405" y="24650"/>
                  </a:lnTo>
                  <a:lnTo>
                    <a:pt x="3667405" y="49300"/>
                  </a:lnTo>
                  <a:lnTo>
                    <a:pt x="24482" y="49300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256603" y="2730316"/>
            <a:ext cx="2756677" cy="415112"/>
            <a:chOff x="0" y="0"/>
            <a:chExt cx="3675569" cy="55348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281" y="16392"/>
              <a:ext cx="3642922" cy="520611"/>
            </a:xfrm>
            <a:custGeom>
              <a:avLst/>
              <a:gdLst/>
              <a:ahLst/>
              <a:cxnLst/>
              <a:rect r="r" b="b" t="t" l="l"/>
              <a:pathLst>
                <a:path h="520611" w="3642922">
                  <a:moveTo>
                    <a:pt x="0" y="0"/>
                  </a:moveTo>
                  <a:lnTo>
                    <a:pt x="3642922" y="0"/>
                  </a:lnTo>
                  <a:lnTo>
                    <a:pt x="3642922" y="520612"/>
                  </a:lnTo>
                  <a:lnTo>
                    <a:pt x="0" y="520612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75484" cy="553398"/>
            </a:xfrm>
            <a:custGeom>
              <a:avLst/>
              <a:gdLst/>
              <a:ahLst/>
              <a:cxnLst/>
              <a:rect r="r" b="b" t="t" l="l"/>
              <a:pathLst>
                <a:path h="553398" w="3675484">
                  <a:moveTo>
                    <a:pt x="16281" y="0"/>
                  </a:moveTo>
                  <a:lnTo>
                    <a:pt x="3659203" y="0"/>
                  </a:lnTo>
                  <a:cubicBezTo>
                    <a:pt x="3668262" y="0"/>
                    <a:pt x="3675484" y="7395"/>
                    <a:pt x="3675484" y="16392"/>
                  </a:cubicBezTo>
                  <a:lnTo>
                    <a:pt x="3675484" y="537004"/>
                  </a:lnTo>
                  <a:cubicBezTo>
                    <a:pt x="3675484" y="546124"/>
                    <a:pt x="3668139" y="553396"/>
                    <a:pt x="3659203" y="553396"/>
                  </a:cubicBezTo>
                  <a:lnTo>
                    <a:pt x="16281" y="553396"/>
                  </a:lnTo>
                  <a:cubicBezTo>
                    <a:pt x="7345" y="553520"/>
                    <a:pt x="0" y="546124"/>
                    <a:pt x="0" y="537004"/>
                  </a:cubicBezTo>
                  <a:lnTo>
                    <a:pt x="0" y="16392"/>
                  </a:lnTo>
                  <a:cubicBezTo>
                    <a:pt x="0" y="7395"/>
                    <a:pt x="7345" y="0"/>
                    <a:pt x="16281" y="0"/>
                  </a:cubicBezTo>
                  <a:moveTo>
                    <a:pt x="16281" y="32908"/>
                  </a:moveTo>
                  <a:lnTo>
                    <a:pt x="16281" y="16392"/>
                  </a:lnTo>
                  <a:lnTo>
                    <a:pt x="32683" y="16392"/>
                  </a:lnTo>
                  <a:lnTo>
                    <a:pt x="32683" y="537004"/>
                  </a:lnTo>
                  <a:lnTo>
                    <a:pt x="16281" y="537004"/>
                  </a:lnTo>
                  <a:lnTo>
                    <a:pt x="16281" y="520611"/>
                  </a:lnTo>
                  <a:lnTo>
                    <a:pt x="3659203" y="520611"/>
                  </a:lnTo>
                  <a:lnTo>
                    <a:pt x="3659203" y="537004"/>
                  </a:lnTo>
                  <a:lnTo>
                    <a:pt x="3642923" y="537004"/>
                  </a:lnTo>
                  <a:lnTo>
                    <a:pt x="3642923" y="16392"/>
                  </a:lnTo>
                  <a:lnTo>
                    <a:pt x="3659203" y="16392"/>
                  </a:lnTo>
                  <a:lnTo>
                    <a:pt x="3659203" y="32908"/>
                  </a:lnTo>
                  <a:lnTo>
                    <a:pt x="16281" y="32908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268841" y="3186340"/>
            <a:ext cx="2732192" cy="922902"/>
            <a:chOff x="0" y="0"/>
            <a:chExt cx="3642923" cy="12305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42923" cy="1230536"/>
            </a:xfrm>
            <a:custGeom>
              <a:avLst/>
              <a:gdLst/>
              <a:ahLst/>
              <a:cxnLst/>
              <a:rect r="r" b="b" t="t" l="l"/>
              <a:pathLst>
                <a:path h="1230536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1230536"/>
                  </a:lnTo>
                  <a:lnTo>
                    <a:pt x="0" y="12305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26" r="-3749" b="-1136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3642923" cy="1278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268841" y="4162487"/>
            <a:ext cx="2732192" cy="461451"/>
            <a:chOff x="0" y="0"/>
            <a:chExt cx="3642923" cy="6152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42923" cy="615268"/>
            </a:xfrm>
            <a:custGeom>
              <a:avLst/>
              <a:gdLst/>
              <a:ahLst/>
              <a:cxnLst/>
              <a:rect r="r" b="b" t="t" l="l"/>
              <a:pathLst>
                <a:path h="615268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615268"/>
                  </a:lnTo>
                  <a:lnTo>
                    <a:pt x="0" y="6152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73" r="-3749" b="-7121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3642923" cy="643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PHQ9·Sentiment·Fuzzy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976547" y="3694131"/>
            <a:ext cx="842178" cy="49297"/>
            <a:chOff x="0" y="0"/>
            <a:chExt cx="1122904" cy="6573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32683" y="0"/>
              <a:ext cx="1057623" cy="65693"/>
            </a:xfrm>
            <a:custGeom>
              <a:avLst/>
              <a:gdLst/>
              <a:ahLst/>
              <a:cxnLst/>
              <a:rect r="r" b="b" t="t" l="l"/>
              <a:pathLst>
                <a:path h="65693" w="1057623">
                  <a:moveTo>
                    <a:pt x="0" y="0"/>
                  </a:moveTo>
                  <a:lnTo>
                    <a:pt x="1057623" y="0"/>
                  </a:lnTo>
                  <a:lnTo>
                    <a:pt x="1057623" y="65693"/>
                  </a:lnTo>
                  <a:lnTo>
                    <a:pt x="0" y="65693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476963" y="3451493"/>
            <a:ext cx="440676" cy="480268"/>
            <a:chOff x="0" y="0"/>
            <a:chExt cx="587568" cy="64035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87568" cy="640358"/>
            </a:xfrm>
            <a:custGeom>
              <a:avLst/>
              <a:gdLst/>
              <a:ahLst/>
              <a:cxnLst/>
              <a:rect r="r" b="b" t="t" l="l"/>
              <a:pathLst>
                <a:path h="640358" w="587568">
                  <a:moveTo>
                    <a:pt x="0" y="0"/>
                  </a:moveTo>
                  <a:lnTo>
                    <a:pt x="587568" y="0"/>
                  </a:lnTo>
                  <a:lnTo>
                    <a:pt x="587568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1239" t="0" r="-84989" b="480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587568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957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247077" y="2724150"/>
            <a:ext cx="2768915" cy="1989268"/>
            <a:chOff x="0" y="0"/>
            <a:chExt cx="3691887" cy="265235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24482" y="24650"/>
              <a:ext cx="3642923" cy="2603056"/>
            </a:xfrm>
            <a:custGeom>
              <a:avLst/>
              <a:gdLst/>
              <a:ahLst/>
              <a:cxnLst/>
              <a:rect r="r" b="b" t="t" l="l"/>
              <a:pathLst>
                <a:path h="2603056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2603056"/>
                  </a:lnTo>
                  <a:lnTo>
                    <a:pt x="0" y="2603056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91887" cy="2652357"/>
            </a:xfrm>
            <a:custGeom>
              <a:avLst/>
              <a:gdLst/>
              <a:ahLst/>
              <a:cxnLst/>
              <a:rect r="r" b="b" t="t" l="l"/>
              <a:pathLst>
                <a:path h="2652357" w="3691887">
                  <a:moveTo>
                    <a:pt x="24482" y="0"/>
                  </a:moveTo>
                  <a:lnTo>
                    <a:pt x="3667405" y="0"/>
                  </a:lnTo>
                  <a:cubicBezTo>
                    <a:pt x="3680870" y="0"/>
                    <a:pt x="3691887" y="11093"/>
                    <a:pt x="3691887" y="24650"/>
                  </a:cubicBezTo>
                  <a:lnTo>
                    <a:pt x="3691887" y="2627706"/>
                  </a:lnTo>
                  <a:cubicBezTo>
                    <a:pt x="3691887" y="2641264"/>
                    <a:pt x="3680870" y="2652357"/>
                    <a:pt x="3667405" y="2652357"/>
                  </a:cubicBezTo>
                  <a:lnTo>
                    <a:pt x="24482" y="2652357"/>
                  </a:lnTo>
                  <a:cubicBezTo>
                    <a:pt x="11017" y="2652357"/>
                    <a:pt x="0" y="2641264"/>
                    <a:pt x="0" y="2627706"/>
                  </a:cubicBezTo>
                  <a:lnTo>
                    <a:pt x="0" y="24650"/>
                  </a:lnTo>
                  <a:cubicBezTo>
                    <a:pt x="0" y="11093"/>
                    <a:pt x="11017" y="0"/>
                    <a:pt x="24482" y="0"/>
                  </a:cubicBezTo>
                  <a:moveTo>
                    <a:pt x="24482" y="49300"/>
                  </a:moveTo>
                  <a:lnTo>
                    <a:pt x="24482" y="24650"/>
                  </a:lnTo>
                  <a:lnTo>
                    <a:pt x="48964" y="24650"/>
                  </a:lnTo>
                  <a:lnTo>
                    <a:pt x="48964" y="2627706"/>
                  </a:lnTo>
                  <a:lnTo>
                    <a:pt x="24482" y="2627706"/>
                  </a:lnTo>
                  <a:lnTo>
                    <a:pt x="24482" y="2603056"/>
                  </a:lnTo>
                  <a:lnTo>
                    <a:pt x="3667405" y="2603056"/>
                  </a:lnTo>
                  <a:lnTo>
                    <a:pt x="3667405" y="2627706"/>
                  </a:lnTo>
                  <a:lnTo>
                    <a:pt x="3642923" y="2627706"/>
                  </a:lnTo>
                  <a:lnTo>
                    <a:pt x="3642923" y="24650"/>
                  </a:lnTo>
                  <a:lnTo>
                    <a:pt x="3667405" y="24650"/>
                  </a:lnTo>
                  <a:lnTo>
                    <a:pt x="3667405" y="49300"/>
                  </a:lnTo>
                  <a:lnTo>
                    <a:pt x="24482" y="4930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253200" y="2730316"/>
            <a:ext cx="2756677" cy="415112"/>
            <a:chOff x="0" y="0"/>
            <a:chExt cx="3675569" cy="55348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281" y="16392"/>
              <a:ext cx="3642922" cy="520611"/>
            </a:xfrm>
            <a:custGeom>
              <a:avLst/>
              <a:gdLst/>
              <a:ahLst/>
              <a:cxnLst/>
              <a:rect r="r" b="b" t="t" l="l"/>
              <a:pathLst>
                <a:path h="520611" w="3642922">
                  <a:moveTo>
                    <a:pt x="0" y="0"/>
                  </a:moveTo>
                  <a:lnTo>
                    <a:pt x="3642922" y="0"/>
                  </a:lnTo>
                  <a:lnTo>
                    <a:pt x="3642922" y="520612"/>
                  </a:lnTo>
                  <a:lnTo>
                    <a:pt x="0" y="520612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75484" cy="553398"/>
            </a:xfrm>
            <a:custGeom>
              <a:avLst/>
              <a:gdLst/>
              <a:ahLst/>
              <a:cxnLst/>
              <a:rect r="r" b="b" t="t" l="l"/>
              <a:pathLst>
                <a:path h="553398" w="3675484">
                  <a:moveTo>
                    <a:pt x="16281" y="0"/>
                  </a:moveTo>
                  <a:lnTo>
                    <a:pt x="3659203" y="0"/>
                  </a:lnTo>
                  <a:cubicBezTo>
                    <a:pt x="3668262" y="0"/>
                    <a:pt x="3675484" y="7395"/>
                    <a:pt x="3675484" y="16392"/>
                  </a:cubicBezTo>
                  <a:lnTo>
                    <a:pt x="3675484" y="537004"/>
                  </a:lnTo>
                  <a:cubicBezTo>
                    <a:pt x="3675484" y="546124"/>
                    <a:pt x="3668139" y="553396"/>
                    <a:pt x="3659203" y="553396"/>
                  </a:cubicBezTo>
                  <a:lnTo>
                    <a:pt x="16281" y="553396"/>
                  </a:lnTo>
                  <a:cubicBezTo>
                    <a:pt x="7345" y="553520"/>
                    <a:pt x="0" y="546124"/>
                    <a:pt x="0" y="537004"/>
                  </a:cubicBezTo>
                  <a:lnTo>
                    <a:pt x="0" y="16392"/>
                  </a:lnTo>
                  <a:cubicBezTo>
                    <a:pt x="0" y="7395"/>
                    <a:pt x="7345" y="0"/>
                    <a:pt x="16281" y="0"/>
                  </a:cubicBezTo>
                  <a:moveTo>
                    <a:pt x="16281" y="32908"/>
                  </a:moveTo>
                  <a:lnTo>
                    <a:pt x="16281" y="16392"/>
                  </a:lnTo>
                  <a:lnTo>
                    <a:pt x="32683" y="16392"/>
                  </a:lnTo>
                  <a:lnTo>
                    <a:pt x="32683" y="537004"/>
                  </a:lnTo>
                  <a:lnTo>
                    <a:pt x="16281" y="537004"/>
                  </a:lnTo>
                  <a:lnTo>
                    <a:pt x="16281" y="520611"/>
                  </a:lnTo>
                  <a:lnTo>
                    <a:pt x="3659203" y="520611"/>
                  </a:lnTo>
                  <a:lnTo>
                    <a:pt x="3659203" y="537004"/>
                  </a:lnTo>
                  <a:lnTo>
                    <a:pt x="3642923" y="537004"/>
                  </a:lnTo>
                  <a:lnTo>
                    <a:pt x="3642923" y="16392"/>
                  </a:lnTo>
                  <a:lnTo>
                    <a:pt x="3659203" y="16392"/>
                  </a:lnTo>
                  <a:lnTo>
                    <a:pt x="3659203" y="32908"/>
                  </a:lnTo>
                  <a:lnTo>
                    <a:pt x="16281" y="32908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265438" y="3186340"/>
            <a:ext cx="2732192" cy="922902"/>
            <a:chOff x="0" y="0"/>
            <a:chExt cx="3642923" cy="12305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642923" cy="1230536"/>
            </a:xfrm>
            <a:custGeom>
              <a:avLst/>
              <a:gdLst/>
              <a:ahLst/>
              <a:cxnLst/>
              <a:rect r="r" b="b" t="t" l="l"/>
              <a:pathLst>
                <a:path h="1230536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1230536"/>
                  </a:lnTo>
                  <a:lnTo>
                    <a:pt x="0" y="12305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26" r="-3749" b="-1136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3642923" cy="1278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Container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265438" y="4162487"/>
            <a:ext cx="2732192" cy="461451"/>
            <a:chOff x="0" y="0"/>
            <a:chExt cx="3642923" cy="61526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42923" cy="615268"/>
            </a:xfrm>
            <a:custGeom>
              <a:avLst/>
              <a:gdLst/>
              <a:ahLst/>
              <a:cxnLst/>
              <a:rect r="r" b="b" t="t" l="l"/>
              <a:pathLst>
                <a:path h="615268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615268"/>
                  </a:lnTo>
                  <a:lnTo>
                    <a:pt x="0" y="6152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73" r="-3749" b="-7121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3642923" cy="643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neurofuzzy-app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973145" y="3694131"/>
            <a:ext cx="842178" cy="49297"/>
            <a:chOff x="0" y="0"/>
            <a:chExt cx="1122904" cy="6573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32683" y="0"/>
              <a:ext cx="1057623" cy="65693"/>
            </a:xfrm>
            <a:custGeom>
              <a:avLst/>
              <a:gdLst/>
              <a:ahLst/>
              <a:cxnLst/>
              <a:rect r="r" b="b" t="t" l="l"/>
              <a:pathLst>
                <a:path h="65693" w="1057623">
                  <a:moveTo>
                    <a:pt x="0" y="0"/>
                  </a:moveTo>
                  <a:lnTo>
                    <a:pt x="1057623" y="0"/>
                  </a:lnTo>
                  <a:lnTo>
                    <a:pt x="1057623" y="65693"/>
                  </a:lnTo>
                  <a:lnTo>
                    <a:pt x="0" y="65693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473560" y="3451493"/>
            <a:ext cx="440676" cy="480268"/>
            <a:chOff x="0" y="0"/>
            <a:chExt cx="587568" cy="64035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87568" cy="640358"/>
            </a:xfrm>
            <a:custGeom>
              <a:avLst/>
              <a:gdLst/>
              <a:ahLst/>
              <a:cxnLst/>
              <a:rect r="r" b="b" t="t" l="l"/>
              <a:pathLst>
                <a:path h="640358" w="587568">
                  <a:moveTo>
                    <a:pt x="0" y="0"/>
                  </a:moveTo>
                  <a:lnTo>
                    <a:pt x="587568" y="0"/>
                  </a:lnTo>
                  <a:lnTo>
                    <a:pt x="587568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1239" t="0" r="-84989" b="480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587568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BC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243674" y="2724150"/>
            <a:ext cx="2768915" cy="1989268"/>
            <a:chOff x="0" y="0"/>
            <a:chExt cx="3691887" cy="265235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24482" y="24650"/>
              <a:ext cx="3642923" cy="2603056"/>
            </a:xfrm>
            <a:custGeom>
              <a:avLst/>
              <a:gdLst/>
              <a:ahLst/>
              <a:cxnLst/>
              <a:rect r="r" b="b" t="t" l="l"/>
              <a:pathLst>
                <a:path h="2603056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2603056"/>
                  </a:lnTo>
                  <a:lnTo>
                    <a:pt x="0" y="2603056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691887" cy="2652357"/>
            </a:xfrm>
            <a:custGeom>
              <a:avLst/>
              <a:gdLst/>
              <a:ahLst/>
              <a:cxnLst/>
              <a:rect r="r" b="b" t="t" l="l"/>
              <a:pathLst>
                <a:path h="2652357" w="3691887">
                  <a:moveTo>
                    <a:pt x="24482" y="0"/>
                  </a:moveTo>
                  <a:lnTo>
                    <a:pt x="3667405" y="0"/>
                  </a:lnTo>
                  <a:cubicBezTo>
                    <a:pt x="3680870" y="0"/>
                    <a:pt x="3691887" y="11093"/>
                    <a:pt x="3691887" y="24650"/>
                  </a:cubicBezTo>
                  <a:lnTo>
                    <a:pt x="3691887" y="2627706"/>
                  </a:lnTo>
                  <a:cubicBezTo>
                    <a:pt x="3691887" y="2641264"/>
                    <a:pt x="3680870" y="2652357"/>
                    <a:pt x="3667405" y="2652357"/>
                  </a:cubicBezTo>
                  <a:lnTo>
                    <a:pt x="24482" y="2652357"/>
                  </a:lnTo>
                  <a:cubicBezTo>
                    <a:pt x="11017" y="2652357"/>
                    <a:pt x="0" y="2641264"/>
                    <a:pt x="0" y="2627706"/>
                  </a:cubicBezTo>
                  <a:lnTo>
                    <a:pt x="0" y="24650"/>
                  </a:lnTo>
                  <a:cubicBezTo>
                    <a:pt x="0" y="11093"/>
                    <a:pt x="11017" y="0"/>
                    <a:pt x="24482" y="0"/>
                  </a:cubicBezTo>
                  <a:moveTo>
                    <a:pt x="24482" y="49300"/>
                  </a:moveTo>
                  <a:lnTo>
                    <a:pt x="24482" y="24650"/>
                  </a:lnTo>
                  <a:lnTo>
                    <a:pt x="48964" y="24650"/>
                  </a:lnTo>
                  <a:lnTo>
                    <a:pt x="48964" y="2627706"/>
                  </a:lnTo>
                  <a:lnTo>
                    <a:pt x="24482" y="2627706"/>
                  </a:lnTo>
                  <a:lnTo>
                    <a:pt x="24482" y="2603056"/>
                  </a:lnTo>
                  <a:lnTo>
                    <a:pt x="3667405" y="2603056"/>
                  </a:lnTo>
                  <a:lnTo>
                    <a:pt x="3667405" y="2627706"/>
                  </a:lnTo>
                  <a:lnTo>
                    <a:pt x="3642923" y="2627706"/>
                  </a:lnTo>
                  <a:lnTo>
                    <a:pt x="3642923" y="24650"/>
                  </a:lnTo>
                  <a:lnTo>
                    <a:pt x="3667405" y="24650"/>
                  </a:lnTo>
                  <a:lnTo>
                    <a:pt x="3667405" y="49300"/>
                  </a:lnTo>
                  <a:lnTo>
                    <a:pt x="24482" y="49300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249798" y="2730316"/>
            <a:ext cx="2756677" cy="415112"/>
            <a:chOff x="0" y="0"/>
            <a:chExt cx="3675569" cy="55348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281" y="16392"/>
              <a:ext cx="3642922" cy="520611"/>
            </a:xfrm>
            <a:custGeom>
              <a:avLst/>
              <a:gdLst/>
              <a:ahLst/>
              <a:cxnLst/>
              <a:rect r="r" b="b" t="t" l="l"/>
              <a:pathLst>
                <a:path h="520611" w="3642922">
                  <a:moveTo>
                    <a:pt x="0" y="0"/>
                  </a:moveTo>
                  <a:lnTo>
                    <a:pt x="3642922" y="0"/>
                  </a:lnTo>
                  <a:lnTo>
                    <a:pt x="3642922" y="520612"/>
                  </a:lnTo>
                  <a:lnTo>
                    <a:pt x="0" y="520612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675484" cy="553398"/>
            </a:xfrm>
            <a:custGeom>
              <a:avLst/>
              <a:gdLst/>
              <a:ahLst/>
              <a:cxnLst/>
              <a:rect r="r" b="b" t="t" l="l"/>
              <a:pathLst>
                <a:path h="553398" w="3675484">
                  <a:moveTo>
                    <a:pt x="16281" y="0"/>
                  </a:moveTo>
                  <a:lnTo>
                    <a:pt x="3659203" y="0"/>
                  </a:lnTo>
                  <a:cubicBezTo>
                    <a:pt x="3668262" y="0"/>
                    <a:pt x="3675484" y="7395"/>
                    <a:pt x="3675484" y="16392"/>
                  </a:cubicBezTo>
                  <a:lnTo>
                    <a:pt x="3675484" y="537004"/>
                  </a:lnTo>
                  <a:cubicBezTo>
                    <a:pt x="3675484" y="546124"/>
                    <a:pt x="3668139" y="553396"/>
                    <a:pt x="3659203" y="553396"/>
                  </a:cubicBezTo>
                  <a:lnTo>
                    <a:pt x="16281" y="553396"/>
                  </a:lnTo>
                  <a:cubicBezTo>
                    <a:pt x="7345" y="553520"/>
                    <a:pt x="0" y="546124"/>
                    <a:pt x="0" y="537004"/>
                  </a:cubicBezTo>
                  <a:lnTo>
                    <a:pt x="0" y="16392"/>
                  </a:lnTo>
                  <a:cubicBezTo>
                    <a:pt x="0" y="7395"/>
                    <a:pt x="7345" y="0"/>
                    <a:pt x="16281" y="0"/>
                  </a:cubicBezTo>
                  <a:moveTo>
                    <a:pt x="16281" y="32908"/>
                  </a:moveTo>
                  <a:lnTo>
                    <a:pt x="16281" y="16392"/>
                  </a:lnTo>
                  <a:lnTo>
                    <a:pt x="32683" y="16392"/>
                  </a:lnTo>
                  <a:lnTo>
                    <a:pt x="32683" y="537004"/>
                  </a:lnTo>
                  <a:lnTo>
                    <a:pt x="16281" y="537004"/>
                  </a:lnTo>
                  <a:lnTo>
                    <a:pt x="16281" y="520611"/>
                  </a:lnTo>
                  <a:lnTo>
                    <a:pt x="3659203" y="520611"/>
                  </a:lnTo>
                  <a:lnTo>
                    <a:pt x="3659203" y="537004"/>
                  </a:lnTo>
                  <a:lnTo>
                    <a:pt x="3642923" y="537004"/>
                  </a:lnTo>
                  <a:lnTo>
                    <a:pt x="3642923" y="16392"/>
                  </a:lnTo>
                  <a:lnTo>
                    <a:pt x="3659203" y="16392"/>
                  </a:lnTo>
                  <a:lnTo>
                    <a:pt x="3659203" y="32908"/>
                  </a:lnTo>
                  <a:lnTo>
                    <a:pt x="16281" y="32908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262036" y="3186340"/>
            <a:ext cx="2732192" cy="922902"/>
            <a:chOff x="0" y="0"/>
            <a:chExt cx="3642923" cy="123053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642923" cy="1230536"/>
            </a:xfrm>
            <a:custGeom>
              <a:avLst/>
              <a:gdLst/>
              <a:ahLst/>
              <a:cxnLst/>
              <a:rect r="r" b="b" t="t" l="l"/>
              <a:pathLst>
                <a:path h="1230536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1230536"/>
                  </a:lnTo>
                  <a:lnTo>
                    <a:pt x="0" y="12305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26" r="-3749" b="-1136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3642923" cy="1278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ACR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262036" y="4162487"/>
            <a:ext cx="2732192" cy="461451"/>
            <a:chOff x="0" y="0"/>
            <a:chExt cx="3642923" cy="61526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642923" cy="615268"/>
            </a:xfrm>
            <a:custGeom>
              <a:avLst/>
              <a:gdLst/>
              <a:ahLst/>
              <a:cxnLst/>
              <a:rect r="r" b="b" t="t" l="l"/>
              <a:pathLst>
                <a:path h="615268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615268"/>
                  </a:lnTo>
                  <a:lnTo>
                    <a:pt x="0" y="6152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73" r="-3749" b="-7121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3642923" cy="643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 Registry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969743" y="3694131"/>
            <a:ext cx="842178" cy="49297"/>
            <a:chOff x="0" y="0"/>
            <a:chExt cx="1122904" cy="6573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32683" y="0"/>
              <a:ext cx="1057623" cy="65693"/>
            </a:xfrm>
            <a:custGeom>
              <a:avLst/>
              <a:gdLst/>
              <a:ahLst/>
              <a:cxnLst/>
              <a:rect r="r" b="b" t="t" l="l"/>
              <a:pathLst>
                <a:path h="65693" w="1057623">
                  <a:moveTo>
                    <a:pt x="0" y="0"/>
                  </a:moveTo>
                  <a:lnTo>
                    <a:pt x="1057623" y="0"/>
                  </a:lnTo>
                  <a:lnTo>
                    <a:pt x="1057623" y="65693"/>
                  </a:lnTo>
                  <a:lnTo>
                    <a:pt x="0" y="65693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5470158" y="3451493"/>
            <a:ext cx="440676" cy="480268"/>
            <a:chOff x="0" y="0"/>
            <a:chExt cx="587568" cy="64035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87568" cy="640358"/>
            </a:xfrm>
            <a:custGeom>
              <a:avLst/>
              <a:gdLst/>
              <a:ahLst/>
              <a:cxnLst/>
              <a:rect r="r" b="b" t="t" l="l"/>
              <a:pathLst>
                <a:path h="640358" w="587568">
                  <a:moveTo>
                    <a:pt x="0" y="0"/>
                  </a:moveTo>
                  <a:lnTo>
                    <a:pt x="587568" y="0"/>
                  </a:lnTo>
                  <a:lnTo>
                    <a:pt x="587568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1239" t="0" r="-84989" b="4803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587568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7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5240272" y="2724150"/>
            <a:ext cx="2768915" cy="1989268"/>
            <a:chOff x="0" y="0"/>
            <a:chExt cx="3691887" cy="265235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24482" y="24650"/>
              <a:ext cx="3642923" cy="2603056"/>
            </a:xfrm>
            <a:custGeom>
              <a:avLst/>
              <a:gdLst/>
              <a:ahLst/>
              <a:cxnLst/>
              <a:rect r="r" b="b" t="t" l="l"/>
              <a:pathLst>
                <a:path h="2603056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2603056"/>
                  </a:lnTo>
                  <a:lnTo>
                    <a:pt x="0" y="2603056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691887" cy="2652357"/>
            </a:xfrm>
            <a:custGeom>
              <a:avLst/>
              <a:gdLst/>
              <a:ahLst/>
              <a:cxnLst/>
              <a:rect r="r" b="b" t="t" l="l"/>
              <a:pathLst>
                <a:path h="2652357" w="3691887">
                  <a:moveTo>
                    <a:pt x="24482" y="0"/>
                  </a:moveTo>
                  <a:lnTo>
                    <a:pt x="3667405" y="0"/>
                  </a:lnTo>
                  <a:cubicBezTo>
                    <a:pt x="3680870" y="0"/>
                    <a:pt x="3691887" y="11093"/>
                    <a:pt x="3691887" y="24650"/>
                  </a:cubicBezTo>
                  <a:lnTo>
                    <a:pt x="3691887" y="2627706"/>
                  </a:lnTo>
                  <a:cubicBezTo>
                    <a:pt x="3691887" y="2641264"/>
                    <a:pt x="3680870" y="2652357"/>
                    <a:pt x="3667405" y="2652357"/>
                  </a:cubicBezTo>
                  <a:lnTo>
                    <a:pt x="24482" y="2652357"/>
                  </a:lnTo>
                  <a:cubicBezTo>
                    <a:pt x="11017" y="2652357"/>
                    <a:pt x="0" y="2641264"/>
                    <a:pt x="0" y="2627706"/>
                  </a:cubicBezTo>
                  <a:lnTo>
                    <a:pt x="0" y="24650"/>
                  </a:lnTo>
                  <a:cubicBezTo>
                    <a:pt x="0" y="11093"/>
                    <a:pt x="11017" y="0"/>
                    <a:pt x="24482" y="0"/>
                  </a:cubicBezTo>
                  <a:moveTo>
                    <a:pt x="24482" y="49300"/>
                  </a:moveTo>
                  <a:lnTo>
                    <a:pt x="24482" y="24650"/>
                  </a:lnTo>
                  <a:lnTo>
                    <a:pt x="48964" y="24650"/>
                  </a:lnTo>
                  <a:lnTo>
                    <a:pt x="48964" y="2627706"/>
                  </a:lnTo>
                  <a:lnTo>
                    <a:pt x="24482" y="2627706"/>
                  </a:lnTo>
                  <a:lnTo>
                    <a:pt x="24482" y="2603056"/>
                  </a:lnTo>
                  <a:lnTo>
                    <a:pt x="3667405" y="2603056"/>
                  </a:lnTo>
                  <a:lnTo>
                    <a:pt x="3667405" y="2627706"/>
                  </a:lnTo>
                  <a:lnTo>
                    <a:pt x="3642923" y="2627706"/>
                  </a:lnTo>
                  <a:lnTo>
                    <a:pt x="3642923" y="24650"/>
                  </a:lnTo>
                  <a:lnTo>
                    <a:pt x="3667405" y="24650"/>
                  </a:lnTo>
                  <a:lnTo>
                    <a:pt x="3667405" y="49300"/>
                  </a:lnTo>
                  <a:lnTo>
                    <a:pt x="24482" y="49300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5246395" y="2730316"/>
            <a:ext cx="2756677" cy="415112"/>
            <a:chOff x="0" y="0"/>
            <a:chExt cx="3675569" cy="55348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6281" y="16392"/>
              <a:ext cx="3642922" cy="520611"/>
            </a:xfrm>
            <a:custGeom>
              <a:avLst/>
              <a:gdLst/>
              <a:ahLst/>
              <a:cxnLst/>
              <a:rect r="r" b="b" t="t" l="l"/>
              <a:pathLst>
                <a:path h="520611" w="3642922">
                  <a:moveTo>
                    <a:pt x="0" y="0"/>
                  </a:moveTo>
                  <a:lnTo>
                    <a:pt x="3642922" y="0"/>
                  </a:lnTo>
                  <a:lnTo>
                    <a:pt x="3642922" y="520612"/>
                  </a:lnTo>
                  <a:lnTo>
                    <a:pt x="0" y="520612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675484" cy="553398"/>
            </a:xfrm>
            <a:custGeom>
              <a:avLst/>
              <a:gdLst/>
              <a:ahLst/>
              <a:cxnLst/>
              <a:rect r="r" b="b" t="t" l="l"/>
              <a:pathLst>
                <a:path h="553398" w="3675484">
                  <a:moveTo>
                    <a:pt x="16281" y="0"/>
                  </a:moveTo>
                  <a:lnTo>
                    <a:pt x="3659203" y="0"/>
                  </a:lnTo>
                  <a:cubicBezTo>
                    <a:pt x="3668262" y="0"/>
                    <a:pt x="3675484" y="7395"/>
                    <a:pt x="3675484" y="16392"/>
                  </a:cubicBezTo>
                  <a:lnTo>
                    <a:pt x="3675484" y="537004"/>
                  </a:lnTo>
                  <a:cubicBezTo>
                    <a:pt x="3675484" y="546124"/>
                    <a:pt x="3668139" y="553396"/>
                    <a:pt x="3659203" y="553396"/>
                  </a:cubicBezTo>
                  <a:lnTo>
                    <a:pt x="16281" y="553396"/>
                  </a:lnTo>
                  <a:cubicBezTo>
                    <a:pt x="7345" y="553520"/>
                    <a:pt x="0" y="546124"/>
                    <a:pt x="0" y="537004"/>
                  </a:cubicBezTo>
                  <a:lnTo>
                    <a:pt x="0" y="16392"/>
                  </a:lnTo>
                  <a:cubicBezTo>
                    <a:pt x="0" y="7395"/>
                    <a:pt x="7345" y="0"/>
                    <a:pt x="16281" y="0"/>
                  </a:cubicBezTo>
                  <a:moveTo>
                    <a:pt x="16281" y="32908"/>
                  </a:moveTo>
                  <a:lnTo>
                    <a:pt x="16281" y="16392"/>
                  </a:lnTo>
                  <a:lnTo>
                    <a:pt x="32683" y="16392"/>
                  </a:lnTo>
                  <a:lnTo>
                    <a:pt x="32683" y="537004"/>
                  </a:lnTo>
                  <a:lnTo>
                    <a:pt x="16281" y="537004"/>
                  </a:lnTo>
                  <a:lnTo>
                    <a:pt x="16281" y="520611"/>
                  </a:lnTo>
                  <a:lnTo>
                    <a:pt x="3659203" y="520611"/>
                  </a:lnTo>
                  <a:lnTo>
                    <a:pt x="3659203" y="537004"/>
                  </a:lnTo>
                  <a:lnTo>
                    <a:pt x="3642923" y="537004"/>
                  </a:lnTo>
                  <a:lnTo>
                    <a:pt x="3642923" y="16392"/>
                  </a:lnTo>
                  <a:lnTo>
                    <a:pt x="3659203" y="16392"/>
                  </a:lnTo>
                  <a:lnTo>
                    <a:pt x="3659203" y="32908"/>
                  </a:lnTo>
                  <a:lnTo>
                    <a:pt x="16281" y="32908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5258633" y="3186340"/>
            <a:ext cx="2732192" cy="922902"/>
            <a:chOff x="0" y="0"/>
            <a:chExt cx="3642923" cy="123053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642923" cy="1230536"/>
            </a:xfrm>
            <a:custGeom>
              <a:avLst/>
              <a:gdLst/>
              <a:ahLst/>
              <a:cxnLst/>
              <a:rect r="r" b="b" t="t" l="l"/>
              <a:pathLst>
                <a:path h="1230536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1230536"/>
                  </a:lnTo>
                  <a:lnTo>
                    <a:pt x="0" y="12305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26" r="-3749" b="-1136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3642923" cy="1278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 App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5258633" y="4162487"/>
            <a:ext cx="2732192" cy="461451"/>
            <a:chOff x="0" y="0"/>
            <a:chExt cx="3642923" cy="61526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642923" cy="615268"/>
            </a:xfrm>
            <a:custGeom>
              <a:avLst/>
              <a:gdLst/>
              <a:ahLst/>
              <a:cxnLst/>
              <a:rect r="r" b="b" t="t" l="l"/>
              <a:pathLst>
                <a:path h="615268" w="3642923">
                  <a:moveTo>
                    <a:pt x="0" y="0"/>
                  </a:moveTo>
                  <a:lnTo>
                    <a:pt x="3642923" y="0"/>
                  </a:lnTo>
                  <a:lnTo>
                    <a:pt x="3642923" y="615268"/>
                  </a:lnTo>
                  <a:lnTo>
                    <a:pt x="0" y="6152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73" r="-3749" b="-7121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3642923" cy="643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 URL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529590" y="5193030"/>
            <a:ext cx="5341620" cy="2232660"/>
            <a:chOff x="0" y="0"/>
            <a:chExt cx="7122160" cy="29768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25400" y="25400"/>
              <a:ext cx="70713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122160" cy="2976880"/>
            </a:xfrm>
            <a:custGeom>
              <a:avLst/>
              <a:gdLst/>
              <a:ahLst/>
              <a:cxnLst/>
              <a:rect r="r" b="b" t="t" l="l"/>
              <a:pathLst>
                <a:path h="2976880" w="7122160">
                  <a:moveTo>
                    <a:pt x="25400" y="0"/>
                  </a:moveTo>
                  <a:lnTo>
                    <a:pt x="7096760" y="0"/>
                  </a:lnTo>
                  <a:cubicBezTo>
                    <a:pt x="7110730" y="0"/>
                    <a:pt x="7122160" y="11430"/>
                    <a:pt x="7122160" y="25400"/>
                  </a:cubicBezTo>
                  <a:lnTo>
                    <a:pt x="7122160" y="2951480"/>
                  </a:lnTo>
                  <a:cubicBezTo>
                    <a:pt x="7122160" y="2965450"/>
                    <a:pt x="7110730" y="2976880"/>
                    <a:pt x="709676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7096760" y="2926080"/>
                  </a:lnTo>
                  <a:lnTo>
                    <a:pt x="7096760" y="2951480"/>
                  </a:lnTo>
                  <a:lnTo>
                    <a:pt x="7071360" y="2951480"/>
                  </a:lnTo>
                  <a:lnTo>
                    <a:pt x="7071360" y="25400"/>
                  </a:lnTo>
                  <a:lnTo>
                    <a:pt x="7096760" y="25400"/>
                  </a:lnTo>
                  <a:lnTo>
                    <a:pt x="70967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535943" y="5199383"/>
            <a:ext cx="153419" cy="2219963"/>
            <a:chOff x="0" y="0"/>
            <a:chExt cx="204559" cy="2959951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822960" y="5303520"/>
            <a:ext cx="4937760" cy="512064"/>
            <a:chOff x="0" y="0"/>
            <a:chExt cx="6583680" cy="68275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6583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95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Modules</a:t>
              </a:r>
            </a:p>
          </p:txBody>
        </p:sp>
      </p:grpSp>
      <p:sp>
        <p:nvSpPr>
          <p:cNvPr name="TextBox 117" id="117"/>
          <p:cNvSpPr txBox="true"/>
          <p:nvPr/>
        </p:nvSpPr>
        <p:spPr>
          <a:xfrm rot="0">
            <a:off x="914400" y="5814060"/>
            <a:ext cx="4791456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PHQ-9 Scorer – questionnaire analysis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Sentiment Analyzer – emotion from chat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Fuzzy Logic Engine – inference system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Classifier – final depression category</a:t>
            </a:r>
          </a:p>
        </p:txBody>
      </p:sp>
      <p:grpSp>
        <p:nvGrpSpPr>
          <p:cNvPr name="Group 118" id="118"/>
          <p:cNvGrpSpPr/>
          <p:nvPr/>
        </p:nvGrpSpPr>
        <p:grpSpPr>
          <a:xfrm rot="0">
            <a:off x="6198870" y="5193030"/>
            <a:ext cx="5341620" cy="2232660"/>
            <a:chOff x="0" y="0"/>
            <a:chExt cx="7122160" cy="297688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25400" y="25400"/>
              <a:ext cx="70713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122160" cy="2976880"/>
            </a:xfrm>
            <a:custGeom>
              <a:avLst/>
              <a:gdLst/>
              <a:ahLst/>
              <a:cxnLst/>
              <a:rect r="r" b="b" t="t" l="l"/>
              <a:pathLst>
                <a:path h="2976880" w="7122160">
                  <a:moveTo>
                    <a:pt x="25400" y="0"/>
                  </a:moveTo>
                  <a:lnTo>
                    <a:pt x="7096760" y="0"/>
                  </a:lnTo>
                  <a:cubicBezTo>
                    <a:pt x="7110730" y="0"/>
                    <a:pt x="7122160" y="11430"/>
                    <a:pt x="7122160" y="25400"/>
                  </a:cubicBezTo>
                  <a:lnTo>
                    <a:pt x="7122160" y="2951480"/>
                  </a:lnTo>
                  <a:cubicBezTo>
                    <a:pt x="7122160" y="2965450"/>
                    <a:pt x="7110730" y="2976880"/>
                    <a:pt x="709676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7096760" y="2926080"/>
                  </a:lnTo>
                  <a:lnTo>
                    <a:pt x="7096760" y="2951480"/>
                  </a:lnTo>
                  <a:lnTo>
                    <a:pt x="7071360" y="2951480"/>
                  </a:lnTo>
                  <a:lnTo>
                    <a:pt x="7071360" y="25400"/>
                  </a:lnTo>
                  <a:lnTo>
                    <a:pt x="7096760" y="25400"/>
                  </a:lnTo>
                  <a:lnTo>
                    <a:pt x="70967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6205223" y="5199383"/>
            <a:ext cx="153419" cy="2219963"/>
            <a:chOff x="0" y="0"/>
            <a:chExt cx="204559" cy="295995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6492240" y="5303520"/>
            <a:ext cx="4937760" cy="512064"/>
            <a:chOff x="0" y="0"/>
            <a:chExt cx="6583680" cy="68275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6583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BC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 Infrastructure</a:t>
              </a:r>
            </a:p>
          </p:txBody>
        </p:sp>
      </p:grpSp>
      <p:sp>
        <p:nvSpPr>
          <p:cNvPr name="TextBox 127" id="127"/>
          <p:cNvSpPr txBox="true"/>
          <p:nvPr/>
        </p:nvSpPr>
        <p:spPr>
          <a:xfrm rot="0">
            <a:off x="6583680" y="5814060"/>
            <a:ext cx="4791456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Docker image: neurofuzzy-app:latest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ACR: neuroregistry123.azurecr.io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App Service Plan: B1 (Linux)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Port: 8000 → WEBSITES_PORT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11868150" y="5193030"/>
            <a:ext cx="5707380" cy="2232660"/>
            <a:chOff x="0" y="0"/>
            <a:chExt cx="7609840" cy="297688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25400" y="25400"/>
              <a:ext cx="75590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609840" cy="2976880"/>
            </a:xfrm>
            <a:custGeom>
              <a:avLst/>
              <a:gdLst/>
              <a:ahLst/>
              <a:cxnLst/>
              <a:rect r="r" b="b" t="t" l="l"/>
              <a:pathLst>
                <a:path h="2976880" w="7609840">
                  <a:moveTo>
                    <a:pt x="25400" y="0"/>
                  </a:moveTo>
                  <a:lnTo>
                    <a:pt x="7584440" y="0"/>
                  </a:lnTo>
                  <a:cubicBezTo>
                    <a:pt x="7598410" y="0"/>
                    <a:pt x="7609840" y="11430"/>
                    <a:pt x="7609840" y="25400"/>
                  </a:cubicBezTo>
                  <a:lnTo>
                    <a:pt x="7609840" y="2951480"/>
                  </a:lnTo>
                  <a:cubicBezTo>
                    <a:pt x="7609840" y="2965450"/>
                    <a:pt x="7598410" y="2976880"/>
                    <a:pt x="758444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7584440" y="2926080"/>
                  </a:lnTo>
                  <a:lnTo>
                    <a:pt x="7584440" y="2951480"/>
                  </a:lnTo>
                  <a:lnTo>
                    <a:pt x="7559040" y="2951480"/>
                  </a:lnTo>
                  <a:lnTo>
                    <a:pt x="7559040" y="25400"/>
                  </a:lnTo>
                  <a:lnTo>
                    <a:pt x="7584440" y="25400"/>
                  </a:lnTo>
                  <a:lnTo>
                    <a:pt x="75844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1874503" y="5199383"/>
            <a:ext cx="153419" cy="2219963"/>
            <a:chOff x="0" y="0"/>
            <a:chExt cx="204559" cy="295995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2161520" y="5303520"/>
            <a:ext cx="5303520" cy="512064"/>
            <a:chOff x="0" y="0"/>
            <a:chExt cx="7071360" cy="68275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071360" cy="682752"/>
            </a:xfrm>
            <a:custGeom>
              <a:avLst/>
              <a:gdLst/>
              <a:ahLst/>
              <a:cxnLst/>
              <a:rect r="r" b="b" t="t" l="l"/>
              <a:pathLst>
                <a:path h="6827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70713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F81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CI/CD Pipeline</a:t>
              </a:r>
            </a:p>
          </p:txBody>
        </p:sp>
      </p:grpSp>
      <p:sp>
        <p:nvSpPr>
          <p:cNvPr name="TextBox 137" id="137"/>
          <p:cNvSpPr txBox="true"/>
          <p:nvPr/>
        </p:nvSpPr>
        <p:spPr>
          <a:xfrm rot="0">
            <a:off x="12252960" y="5814060"/>
            <a:ext cx="5157216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Actions on push to main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Auto docker build + push to ACR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Auto Azure Web App restart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Zero-touch deployment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Development (FastAPI)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Building the core API server in Python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12653" y="1724663"/>
            <a:ext cx="5524500" cy="5119959"/>
            <a:chOff x="0" y="0"/>
            <a:chExt cx="7366000" cy="68266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33530"/>
              <a:ext cx="7315200" cy="6759554"/>
            </a:xfrm>
            <a:custGeom>
              <a:avLst/>
              <a:gdLst/>
              <a:ahLst/>
              <a:cxnLst/>
              <a:rect r="r" b="b" t="t" l="l"/>
              <a:pathLst>
                <a:path h="675955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759553"/>
                  </a:lnTo>
                  <a:lnTo>
                    <a:pt x="0" y="6759553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66000" cy="6826612"/>
            </a:xfrm>
            <a:custGeom>
              <a:avLst/>
              <a:gdLst/>
              <a:ahLst/>
              <a:cxnLst/>
              <a:rect r="r" b="b" t="t" l="l"/>
              <a:pathLst>
                <a:path h="6826612" w="7366000">
                  <a:moveTo>
                    <a:pt x="25400" y="0"/>
                  </a:moveTo>
                  <a:lnTo>
                    <a:pt x="7340600" y="0"/>
                  </a:lnTo>
                  <a:cubicBezTo>
                    <a:pt x="7354570" y="0"/>
                    <a:pt x="7366000" y="15088"/>
                    <a:pt x="7366000" y="33530"/>
                  </a:cubicBezTo>
                  <a:lnTo>
                    <a:pt x="7366000" y="6793083"/>
                  </a:lnTo>
                  <a:cubicBezTo>
                    <a:pt x="7366000" y="6811524"/>
                    <a:pt x="7354570" y="6826612"/>
                    <a:pt x="7340600" y="6826612"/>
                  </a:cubicBezTo>
                  <a:lnTo>
                    <a:pt x="25400" y="6826612"/>
                  </a:lnTo>
                  <a:cubicBezTo>
                    <a:pt x="11430" y="6826612"/>
                    <a:pt x="0" y="6811524"/>
                    <a:pt x="0" y="6793083"/>
                  </a:cubicBezTo>
                  <a:lnTo>
                    <a:pt x="0" y="33530"/>
                  </a:lnTo>
                  <a:cubicBezTo>
                    <a:pt x="0" y="15088"/>
                    <a:pt x="11430" y="0"/>
                    <a:pt x="25400" y="0"/>
                  </a:cubicBezTo>
                  <a:moveTo>
                    <a:pt x="25400" y="67059"/>
                  </a:moveTo>
                  <a:lnTo>
                    <a:pt x="25400" y="33530"/>
                  </a:lnTo>
                  <a:lnTo>
                    <a:pt x="50800" y="33530"/>
                  </a:lnTo>
                  <a:lnTo>
                    <a:pt x="50800" y="6793083"/>
                  </a:lnTo>
                  <a:lnTo>
                    <a:pt x="25400" y="6793083"/>
                  </a:lnTo>
                  <a:lnTo>
                    <a:pt x="25400" y="6759553"/>
                  </a:lnTo>
                  <a:lnTo>
                    <a:pt x="7340600" y="6759553"/>
                  </a:lnTo>
                  <a:lnTo>
                    <a:pt x="7340600" y="6793083"/>
                  </a:lnTo>
                  <a:lnTo>
                    <a:pt x="7315200" y="6793083"/>
                  </a:lnTo>
                  <a:lnTo>
                    <a:pt x="7315200" y="33530"/>
                  </a:lnTo>
                  <a:lnTo>
                    <a:pt x="7340600" y="33530"/>
                  </a:lnTo>
                  <a:lnTo>
                    <a:pt x="7340600" y="67059"/>
                  </a:lnTo>
                  <a:lnTo>
                    <a:pt x="25400" y="6705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19006" y="1731016"/>
            <a:ext cx="202936" cy="5113606"/>
            <a:chOff x="0" y="0"/>
            <a:chExt cx="204559" cy="51545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5120640"/>
            </a:xfrm>
            <a:custGeom>
              <a:avLst/>
              <a:gdLst/>
              <a:ahLst/>
              <a:cxnLst/>
              <a:rect r="r" b="b" t="t" l="l"/>
              <a:pathLst>
                <a:path h="5120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5154422"/>
            </a:xfrm>
            <a:custGeom>
              <a:avLst/>
              <a:gdLst/>
              <a:ahLst/>
              <a:cxnLst/>
              <a:rect r="r" b="b" t="t" l="l"/>
              <a:pathLst>
                <a:path h="5154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137531"/>
                  </a:lnTo>
                  <a:cubicBezTo>
                    <a:pt x="204470" y="5146929"/>
                    <a:pt x="196850" y="5154422"/>
                    <a:pt x="187579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87579" y="5120640"/>
                  </a:lnTo>
                  <a:lnTo>
                    <a:pt x="187579" y="5137531"/>
                  </a:lnTo>
                  <a:lnTo>
                    <a:pt x="170688" y="5137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06023" y="1835153"/>
            <a:ext cx="5120640" cy="512064"/>
            <a:chOff x="0" y="0"/>
            <a:chExt cx="682752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F81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FastAPI?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37178" y="1724663"/>
            <a:ext cx="11181083" cy="5119959"/>
            <a:chOff x="0" y="0"/>
            <a:chExt cx="14908111" cy="68266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22370"/>
              <a:ext cx="14874239" cy="6781754"/>
            </a:xfrm>
            <a:custGeom>
              <a:avLst/>
              <a:gdLst/>
              <a:ahLst/>
              <a:cxnLst/>
              <a:rect r="r" b="b" t="t" l="l"/>
              <a:pathLst>
                <a:path h="6781754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6781754"/>
                  </a:lnTo>
                  <a:lnTo>
                    <a:pt x="0" y="6781754"/>
                  </a:lnTo>
                  <a:close/>
                </a:path>
              </a:pathLst>
            </a:custGeom>
            <a:blipFill>
              <a:blip r:embed="rId3"/>
              <a:stretch>
                <a:fillRect l="0" t="0" r="-6032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908022" cy="6826495"/>
            </a:xfrm>
            <a:custGeom>
              <a:avLst/>
              <a:gdLst/>
              <a:ahLst/>
              <a:cxnLst/>
              <a:rect r="r" b="b" t="t" l="l"/>
              <a:pathLst>
                <a:path h="6826495" w="14908022">
                  <a:moveTo>
                    <a:pt x="16891" y="0"/>
                  </a:moveTo>
                  <a:lnTo>
                    <a:pt x="14891130" y="0"/>
                  </a:lnTo>
                  <a:cubicBezTo>
                    <a:pt x="14900529" y="0"/>
                    <a:pt x="14908022" y="10092"/>
                    <a:pt x="14908022" y="22370"/>
                  </a:cubicBezTo>
                  <a:lnTo>
                    <a:pt x="14908022" y="6804124"/>
                  </a:lnTo>
                  <a:cubicBezTo>
                    <a:pt x="14908022" y="6816571"/>
                    <a:pt x="14900402" y="6826495"/>
                    <a:pt x="14891130" y="6826495"/>
                  </a:cubicBezTo>
                  <a:lnTo>
                    <a:pt x="16891" y="6826495"/>
                  </a:lnTo>
                  <a:cubicBezTo>
                    <a:pt x="7493" y="6826495"/>
                    <a:pt x="0" y="6816403"/>
                    <a:pt x="0" y="6804124"/>
                  </a:cubicBezTo>
                  <a:lnTo>
                    <a:pt x="0" y="22370"/>
                  </a:lnTo>
                  <a:cubicBezTo>
                    <a:pt x="0" y="10092"/>
                    <a:pt x="7620" y="0"/>
                    <a:pt x="16891" y="0"/>
                  </a:cubicBezTo>
                  <a:moveTo>
                    <a:pt x="16891" y="44909"/>
                  </a:moveTo>
                  <a:lnTo>
                    <a:pt x="16891" y="22370"/>
                  </a:lnTo>
                  <a:lnTo>
                    <a:pt x="33909" y="22370"/>
                  </a:lnTo>
                  <a:lnTo>
                    <a:pt x="33909" y="6804124"/>
                  </a:lnTo>
                  <a:lnTo>
                    <a:pt x="16891" y="6804124"/>
                  </a:lnTo>
                  <a:lnTo>
                    <a:pt x="16891" y="6781753"/>
                  </a:lnTo>
                  <a:lnTo>
                    <a:pt x="14891130" y="6781753"/>
                  </a:lnTo>
                  <a:lnTo>
                    <a:pt x="14891130" y="6804124"/>
                  </a:lnTo>
                  <a:lnTo>
                    <a:pt x="14874239" y="6804124"/>
                  </a:lnTo>
                  <a:lnTo>
                    <a:pt x="14874239" y="22370"/>
                  </a:lnTo>
                  <a:lnTo>
                    <a:pt x="14891130" y="22370"/>
                  </a:lnTo>
                  <a:lnTo>
                    <a:pt x="14891130" y="44909"/>
                  </a:lnTo>
                  <a:lnTo>
                    <a:pt x="16891" y="44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12653" y="7019163"/>
            <a:ext cx="5524500" cy="2795273"/>
            <a:chOff x="0" y="0"/>
            <a:chExt cx="7366000" cy="372703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7366000" cy="3708400"/>
              <a:chOff x="0" y="0"/>
              <a:chExt cx="7366000" cy="3708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25400" y="25400"/>
                <a:ext cx="7315200" cy="3657600"/>
              </a:xfrm>
              <a:custGeom>
                <a:avLst/>
                <a:gdLst/>
                <a:ahLst/>
                <a:cxnLst/>
                <a:rect r="r" b="b" t="t" l="l"/>
                <a:pathLst>
                  <a:path h="365760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3657600"/>
                    </a:lnTo>
                    <a:lnTo>
                      <a:pt x="0" y="3657600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366000" cy="3708400"/>
              </a:xfrm>
              <a:custGeom>
                <a:avLst/>
                <a:gdLst/>
                <a:ahLst/>
                <a:cxnLst/>
                <a:rect r="r" b="b" t="t" l="l"/>
                <a:pathLst>
                  <a:path h="3708400" w="7366000">
                    <a:moveTo>
                      <a:pt x="25400" y="0"/>
                    </a:moveTo>
                    <a:lnTo>
                      <a:pt x="7340600" y="0"/>
                    </a:lnTo>
                    <a:cubicBezTo>
                      <a:pt x="7354570" y="0"/>
                      <a:pt x="7366000" y="11430"/>
                      <a:pt x="7366000" y="25400"/>
                    </a:cubicBezTo>
                    <a:lnTo>
                      <a:pt x="7366000" y="3683000"/>
                    </a:lnTo>
                    <a:cubicBezTo>
                      <a:pt x="7366000" y="3696970"/>
                      <a:pt x="7354570" y="3708400"/>
                      <a:pt x="7340600" y="3708400"/>
                    </a:cubicBezTo>
                    <a:lnTo>
                      <a:pt x="25400" y="3708400"/>
                    </a:lnTo>
                    <a:cubicBezTo>
                      <a:pt x="11430" y="3708400"/>
                      <a:pt x="0" y="3696970"/>
                      <a:pt x="0" y="368300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3683000"/>
                    </a:lnTo>
                    <a:lnTo>
                      <a:pt x="25400" y="3683000"/>
                    </a:lnTo>
                    <a:lnTo>
                      <a:pt x="25400" y="3657600"/>
                    </a:lnTo>
                    <a:lnTo>
                      <a:pt x="7340600" y="3657600"/>
                    </a:lnTo>
                    <a:lnTo>
                      <a:pt x="7340600" y="3683000"/>
                    </a:lnTo>
                    <a:lnTo>
                      <a:pt x="7315200" y="3683000"/>
                    </a:lnTo>
                    <a:lnTo>
                      <a:pt x="7315200" y="25400"/>
                    </a:lnTo>
                    <a:lnTo>
                      <a:pt x="7340600" y="25400"/>
                    </a:lnTo>
                    <a:lnTo>
                      <a:pt x="734060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F0883E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35560"/>
              <a:ext cx="204559" cy="3691471"/>
              <a:chOff x="0" y="0"/>
              <a:chExt cx="204559" cy="369147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16891" y="16891"/>
                <a:ext cx="170688" cy="3657600"/>
              </a:xfrm>
              <a:custGeom>
                <a:avLst/>
                <a:gdLst/>
                <a:ahLst/>
                <a:cxnLst/>
                <a:rect r="r" b="b" t="t" l="l"/>
                <a:pathLst>
                  <a:path h="3657600" w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3657600"/>
                    </a:lnTo>
                    <a:lnTo>
                      <a:pt x="0" y="3657600"/>
                    </a:lnTo>
                    <a:close/>
                  </a:path>
                </a:pathLst>
              </a:custGeom>
              <a:solidFill>
                <a:srgbClr val="F0883E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04470" cy="3691382"/>
              </a:xfrm>
              <a:custGeom>
                <a:avLst/>
                <a:gdLst/>
                <a:ahLst/>
                <a:cxnLst/>
                <a:rect r="r" b="b" t="t" l="l"/>
                <a:pathLst>
                  <a:path h="3691382" w="204470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3674491"/>
                    </a:lnTo>
                    <a:cubicBezTo>
                      <a:pt x="204470" y="3683889"/>
                      <a:pt x="196850" y="3691382"/>
                      <a:pt x="187579" y="3691382"/>
                    </a:cubicBezTo>
                    <a:lnTo>
                      <a:pt x="16891" y="3691382"/>
                    </a:lnTo>
                    <a:cubicBezTo>
                      <a:pt x="7493" y="3691382"/>
                      <a:pt x="0" y="3683762"/>
                      <a:pt x="0" y="36744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3674491"/>
                    </a:lnTo>
                    <a:lnTo>
                      <a:pt x="16891" y="3674491"/>
                    </a:lnTo>
                    <a:lnTo>
                      <a:pt x="16891" y="3657600"/>
                    </a:lnTo>
                    <a:lnTo>
                      <a:pt x="187579" y="3657600"/>
                    </a:lnTo>
                    <a:lnTo>
                      <a:pt x="187579" y="3674491"/>
                    </a:lnTo>
                    <a:lnTo>
                      <a:pt x="170688" y="3674491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0883E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382689" y="174409"/>
              <a:ext cx="6827520" cy="682752"/>
              <a:chOff x="0" y="0"/>
              <a:chExt cx="6827520" cy="68275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8275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44850" r="0" b="-144850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6827520" cy="7303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0883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CORS Configuration</a:t>
                </a: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504609" y="867829"/>
              <a:ext cx="6632448" cy="259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CORSMiddleware added to allow all origins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Required for frontend-backend cross-origin calls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allow_origins=["*"] for development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Prevents 'Failed to fetch' errors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62700" y="7003285"/>
            <a:ext cx="11193780" cy="2781300"/>
            <a:chOff x="0" y="0"/>
            <a:chExt cx="14925040" cy="37084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4925040" cy="3708400"/>
              <a:chOff x="0" y="0"/>
              <a:chExt cx="14925040" cy="3708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25400" y="25400"/>
                <a:ext cx="14874239" cy="3657600"/>
              </a:xfrm>
              <a:custGeom>
                <a:avLst/>
                <a:gdLst/>
                <a:ahLst/>
                <a:cxnLst/>
                <a:rect r="r" b="b" t="t" l="l"/>
                <a:pathLst>
                  <a:path h="3657600" w="14874239">
                    <a:moveTo>
                      <a:pt x="0" y="0"/>
                    </a:moveTo>
                    <a:lnTo>
                      <a:pt x="14874239" y="0"/>
                    </a:lnTo>
                    <a:lnTo>
                      <a:pt x="14874239" y="3657600"/>
                    </a:lnTo>
                    <a:lnTo>
                      <a:pt x="0" y="3657600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4925039" cy="3708400"/>
              </a:xfrm>
              <a:custGeom>
                <a:avLst/>
                <a:gdLst/>
                <a:ahLst/>
                <a:cxnLst/>
                <a:rect r="r" b="b" t="t" l="l"/>
                <a:pathLst>
                  <a:path h="3708400" w="14925039">
                    <a:moveTo>
                      <a:pt x="25400" y="0"/>
                    </a:moveTo>
                    <a:lnTo>
                      <a:pt x="14899639" y="0"/>
                    </a:lnTo>
                    <a:cubicBezTo>
                      <a:pt x="14913609" y="0"/>
                      <a:pt x="14925039" y="11430"/>
                      <a:pt x="14925039" y="25400"/>
                    </a:cubicBezTo>
                    <a:lnTo>
                      <a:pt x="14925039" y="3683000"/>
                    </a:lnTo>
                    <a:cubicBezTo>
                      <a:pt x="14925039" y="3696970"/>
                      <a:pt x="14913609" y="3708400"/>
                      <a:pt x="14899639" y="3708400"/>
                    </a:cubicBezTo>
                    <a:lnTo>
                      <a:pt x="25400" y="3708400"/>
                    </a:lnTo>
                    <a:cubicBezTo>
                      <a:pt x="11430" y="3708400"/>
                      <a:pt x="0" y="3696970"/>
                      <a:pt x="0" y="368300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3683000"/>
                    </a:lnTo>
                    <a:lnTo>
                      <a:pt x="25400" y="3683000"/>
                    </a:lnTo>
                    <a:lnTo>
                      <a:pt x="25400" y="3657600"/>
                    </a:lnTo>
                    <a:lnTo>
                      <a:pt x="14899639" y="3657600"/>
                    </a:lnTo>
                    <a:lnTo>
                      <a:pt x="14899639" y="3683000"/>
                    </a:lnTo>
                    <a:lnTo>
                      <a:pt x="14874239" y="3683000"/>
                    </a:lnTo>
                    <a:lnTo>
                      <a:pt x="14874239" y="25400"/>
                    </a:lnTo>
                    <a:lnTo>
                      <a:pt x="14899639" y="25400"/>
                    </a:lnTo>
                    <a:lnTo>
                      <a:pt x="14899639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2F81F7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16929"/>
              <a:ext cx="204559" cy="3691471"/>
              <a:chOff x="0" y="0"/>
              <a:chExt cx="204559" cy="369147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16891" y="16891"/>
                <a:ext cx="170688" cy="3657600"/>
              </a:xfrm>
              <a:custGeom>
                <a:avLst/>
                <a:gdLst/>
                <a:ahLst/>
                <a:cxnLst/>
                <a:rect r="r" b="b" t="t" l="l"/>
                <a:pathLst>
                  <a:path h="3657600" w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3657600"/>
                    </a:lnTo>
                    <a:lnTo>
                      <a:pt x="0" y="3657600"/>
                    </a:lnTo>
                    <a:close/>
                  </a:path>
                </a:pathLst>
              </a:custGeom>
              <a:solidFill>
                <a:srgbClr val="2F81F7"/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04470" cy="3691382"/>
              </a:xfrm>
              <a:custGeom>
                <a:avLst/>
                <a:gdLst/>
                <a:ahLst/>
                <a:cxnLst/>
                <a:rect r="r" b="b" t="t" l="l"/>
                <a:pathLst>
                  <a:path h="3691382" w="204470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3674491"/>
                    </a:lnTo>
                    <a:cubicBezTo>
                      <a:pt x="204470" y="3683889"/>
                      <a:pt x="196850" y="3691382"/>
                      <a:pt x="187579" y="3691382"/>
                    </a:cubicBezTo>
                    <a:lnTo>
                      <a:pt x="16891" y="3691382"/>
                    </a:lnTo>
                    <a:cubicBezTo>
                      <a:pt x="7493" y="3691382"/>
                      <a:pt x="0" y="3683762"/>
                      <a:pt x="0" y="36744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3674491"/>
                    </a:lnTo>
                    <a:lnTo>
                      <a:pt x="16891" y="3674491"/>
                    </a:lnTo>
                    <a:lnTo>
                      <a:pt x="16891" y="3657600"/>
                    </a:lnTo>
                    <a:lnTo>
                      <a:pt x="187579" y="3657600"/>
                    </a:lnTo>
                    <a:lnTo>
                      <a:pt x="187579" y="3674491"/>
                    </a:lnTo>
                    <a:lnTo>
                      <a:pt x="170688" y="3674491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2F81F7"/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382689" y="155778"/>
              <a:ext cx="14386560" cy="682752"/>
              <a:chOff x="0" y="0"/>
              <a:chExt cx="14386560" cy="68275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438656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14386561">
                    <a:moveTo>
                      <a:pt x="0" y="0"/>
                    </a:moveTo>
                    <a:lnTo>
                      <a:pt x="14386561" y="0"/>
                    </a:lnTo>
                    <a:lnTo>
                      <a:pt x="1438656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799441" r="0" b="-799441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47625"/>
                <a:ext cx="14386560" cy="7303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2F81F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App Structure</a:t>
                </a: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504609" y="849198"/>
              <a:ext cx="14191488" cy="161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root → backend/ + frontend/ + Dockerfile + requirements.txt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Uvicorn ASGI server: uvicorn backend.api:app --host 0.0.0.0 --port 8000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 models loaded at startup (PHQ9 scorer, sentiment, classifier)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served from FastAPI static file response at root route /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97463" y="2345693"/>
            <a:ext cx="4974336" cy="305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Modern, high-performance Python web framework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Automatic Swagger UI at /docs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Built-in async support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Easy integration with ML models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JSON API responses out of the box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Endpoints Design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RESTful endpoints powering the depression analysis system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31520" y="1840850"/>
            <a:ext cx="15870392" cy="7798304"/>
          </a:xfrm>
          <a:custGeom>
            <a:avLst/>
            <a:gdLst/>
            <a:ahLst/>
            <a:cxnLst/>
            <a:rect r="r" b="b" t="t" l="l"/>
            <a:pathLst>
              <a:path h="7798304" w="15870392">
                <a:moveTo>
                  <a:pt x="0" y="0"/>
                </a:moveTo>
                <a:lnTo>
                  <a:pt x="15870392" y="0"/>
                </a:lnTo>
                <a:lnTo>
                  <a:pt x="15870392" y="7798304"/>
                </a:lnTo>
                <a:lnTo>
                  <a:pt x="0" y="7798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0165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032169" y="5829306"/>
            <a:ext cx="4191511" cy="393874"/>
            <a:chOff x="0" y="0"/>
            <a:chExt cx="5588681" cy="5251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88681" cy="525165"/>
            </a:xfrm>
            <a:custGeom>
              <a:avLst/>
              <a:gdLst/>
              <a:ahLst/>
              <a:cxnLst/>
              <a:rect r="r" b="b" t="t" l="l"/>
              <a:pathLst>
                <a:path h="525165" w="5588681">
                  <a:moveTo>
                    <a:pt x="0" y="0"/>
                  </a:moveTo>
                  <a:lnTo>
                    <a:pt x="5588681" y="0"/>
                  </a:lnTo>
                  <a:lnTo>
                    <a:pt x="5588681" y="525165"/>
                  </a:lnTo>
                  <a:lnTo>
                    <a:pt x="0" y="5251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4778" r="-253411" b="-69085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588681" cy="563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D11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Serves the frontend index.html file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032169" y="6623230"/>
            <a:ext cx="4921028" cy="393874"/>
            <a:chOff x="0" y="0"/>
            <a:chExt cx="6561371" cy="5251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61371" cy="525165"/>
            </a:xfrm>
            <a:custGeom>
              <a:avLst/>
              <a:gdLst/>
              <a:ahLst/>
              <a:cxnLst/>
              <a:rect r="r" b="b" t="t" l="l"/>
              <a:pathLst>
                <a:path h="525165" w="6561371">
                  <a:moveTo>
                    <a:pt x="0" y="0"/>
                  </a:moveTo>
                  <a:lnTo>
                    <a:pt x="6561371" y="0"/>
                  </a:lnTo>
                  <a:lnTo>
                    <a:pt x="6561371" y="525165"/>
                  </a:lnTo>
                  <a:lnTo>
                    <a:pt x="0" y="5251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4778" r="-201020" b="-69085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561371" cy="563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D11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Returns server status and loaded modules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032169" y="7417154"/>
            <a:ext cx="4191511" cy="393874"/>
            <a:chOff x="0" y="0"/>
            <a:chExt cx="5588681" cy="5251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681" cy="525165"/>
            </a:xfrm>
            <a:custGeom>
              <a:avLst/>
              <a:gdLst/>
              <a:ahLst/>
              <a:cxnLst/>
              <a:rect r="r" b="b" t="t" l="l"/>
              <a:pathLst>
                <a:path h="525165" w="5588681">
                  <a:moveTo>
                    <a:pt x="0" y="0"/>
                  </a:moveTo>
                  <a:lnTo>
                    <a:pt x="5588681" y="0"/>
                  </a:lnTo>
                  <a:lnTo>
                    <a:pt x="5588681" y="525165"/>
                  </a:lnTo>
                  <a:lnTo>
                    <a:pt x="0" y="5251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4778" r="-253411" b="-69085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588681" cy="563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D11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depression analysis (PHQ-9 + chat)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32169" y="8211077"/>
            <a:ext cx="4921028" cy="416807"/>
            <a:chOff x="0" y="0"/>
            <a:chExt cx="6561371" cy="5557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61371" cy="555743"/>
            </a:xfrm>
            <a:custGeom>
              <a:avLst/>
              <a:gdLst/>
              <a:ahLst/>
              <a:cxnLst/>
              <a:rect r="r" b="b" t="t" l="l"/>
              <a:pathLst>
                <a:path h="555743" w="6561371">
                  <a:moveTo>
                    <a:pt x="0" y="0"/>
                  </a:moveTo>
                  <a:lnTo>
                    <a:pt x="6561371" y="0"/>
                  </a:lnTo>
                  <a:lnTo>
                    <a:pt x="6561371" y="555743"/>
                  </a:lnTo>
                  <a:lnTo>
                    <a:pt x="0" y="555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7650" r="-201020" b="-64734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561371" cy="593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D11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from conversation text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032169" y="9029700"/>
            <a:ext cx="4191511" cy="457200"/>
            <a:chOff x="0" y="0"/>
            <a:chExt cx="5588681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88681" cy="609600"/>
            </a:xfrm>
            <a:custGeom>
              <a:avLst/>
              <a:gdLst/>
              <a:ahLst/>
              <a:cxnLst/>
              <a:rect r="r" b="b" t="t" l="l"/>
              <a:pathLst>
                <a:path h="609600" w="5588681">
                  <a:moveTo>
                    <a:pt x="0" y="0"/>
                  </a:moveTo>
                  <a:lnTo>
                    <a:pt x="5588681" y="0"/>
                  </a:lnTo>
                  <a:lnTo>
                    <a:pt x="5588681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1315" r="-253411" b="-58131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588681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D11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Standalone PHQ-9 questionnaire scoring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Local Testing &amp; Validation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4840" y="1111305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Verifying the app works before containerizing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15067" y="1983795"/>
            <a:ext cx="7901940" cy="3329940"/>
            <a:chOff x="0" y="0"/>
            <a:chExt cx="10535920" cy="4439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104851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35920" cy="4439920"/>
            </a:xfrm>
            <a:custGeom>
              <a:avLst/>
              <a:gdLst/>
              <a:ahLst/>
              <a:cxnLst/>
              <a:rect r="r" b="b" t="t" l="l"/>
              <a:pathLst>
                <a:path h="4439920" w="10535920">
                  <a:moveTo>
                    <a:pt x="25400" y="0"/>
                  </a:moveTo>
                  <a:lnTo>
                    <a:pt x="10510520" y="0"/>
                  </a:lnTo>
                  <a:cubicBezTo>
                    <a:pt x="10524489" y="0"/>
                    <a:pt x="10535920" y="11430"/>
                    <a:pt x="10535920" y="25400"/>
                  </a:cubicBezTo>
                  <a:lnTo>
                    <a:pt x="10535920" y="4414520"/>
                  </a:lnTo>
                  <a:cubicBezTo>
                    <a:pt x="10535920" y="4428490"/>
                    <a:pt x="10524489" y="4439920"/>
                    <a:pt x="10510520" y="4439920"/>
                  </a:cubicBezTo>
                  <a:lnTo>
                    <a:pt x="25400" y="4439920"/>
                  </a:lnTo>
                  <a:cubicBezTo>
                    <a:pt x="11430" y="4439920"/>
                    <a:pt x="0" y="4428490"/>
                    <a:pt x="0" y="44145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414520"/>
                  </a:lnTo>
                  <a:lnTo>
                    <a:pt x="25400" y="4414520"/>
                  </a:lnTo>
                  <a:lnTo>
                    <a:pt x="25400" y="4389120"/>
                  </a:lnTo>
                  <a:lnTo>
                    <a:pt x="10510520" y="4389120"/>
                  </a:lnTo>
                  <a:lnTo>
                    <a:pt x="10510520" y="4414520"/>
                  </a:lnTo>
                  <a:lnTo>
                    <a:pt x="10485120" y="4414520"/>
                  </a:lnTo>
                  <a:lnTo>
                    <a:pt x="10485120" y="25400"/>
                  </a:lnTo>
                  <a:lnTo>
                    <a:pt x="10510520" y="25400"/>
                  </a:lnTo>
                  <a:lnTo>
                    <a:pt x="10510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1421" y="1990149"/>
            <a:ext cx="153419" cy="3317243"/>
            <a:chOff x="0" y="0"/>
            <a:chExt cx="204559" cy="4422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4389120"/>
            </a:xfrm>
            <a:custGeom>
              <a:avLst/>
              <a:gdLst/>
              <a:ahLst/>
              <a:cxnLst/>
              <a:rect r="r" b="b" t="t" l="l"/>
              <a:pathLst>
                <a:path h="4389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4422902"/>
            </a:xfrm>
            <a:custGeom>
              <a:avLst/>
              <a:gdLst/>
              <a:ahLst/>
              <a:cxnLst/>
              <a:rect r="r" b="b" t="t" l="l"/>
              <a:pathLst>
                <a:path h="442290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406011"/>
                  </a:lnTo>
                  <a:cubicBezTo>
                    <a:pt x="204470" y="4415409"/>
                    <a:pt x="196850" y="4422902"/>
                    <a:pt x="187579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187579" y="4389120"/>
                  </a:lnTo>
                  <a:lnTo>
                    <a:pt x="187579" y="4406011"/>
                  </a:lnTo>
                  <a:lnTo>
                    <a:pt x="170688" y="440601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08437" y="2094285"/>
            <a:ext cx="7498080" cy="512064"/>
            <a:chOff x="0" y="0"/>
            <a:chExt cx="999744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997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BC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Test Locally First?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99877" y="2604825"/>
            <a:ext cx="7351776" cy="250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Catch errors before adding Docker complexity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Faster iteration without image rebuild cycles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Verify ML models load and run correctly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Test all API endpoints with Swagger UI at /docs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Ensure frontend connects to backend successfully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15067" y="5549955"/>
            <a:ext cx="7901940" cy="2598420"/>
            <a:chOff x="0" y="0"/>
            <a:chExt cx="10535920" cy="3464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04851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35920" cy="3464560"/>
            </a:xfrm>
            <a:custGeom>
              <a:avLst/>
              <a:gdLst/>
              <a:ahLst/>
              <a:cxnLst/>
              <a:rect r="r" b="b" t="t" l="l"/>
              <a:pathLst>
                <a:path h="3464560" w="10535920">
                  <a:moveTo>
                    <a:pt x="25400" y="0"/>
                  </a:moveTo>
                  <a:lnTo>
                    <a:pt x="10510520" y="0"/>
                  </a:lnTo>
                  <a:cubicBezTo>
                    <a:pt x="10524489" y="0"/>
                    <a:pt x="10535920" y="11430"/>
                    <a:pt x="10535920" y="25400"/>
                  </a:cubicBezTo>
                  <a:lnTo>
                    <a:pt x="10535920" y="3439160"/>
                  </a:lnTo>
                  <a:cubicBezTo>
                    <a:pt x="10535920" y="3453130"/>
                    <a:pt x="10524489" y="3464560"/>
                    <a:pt x="10510520" y="3464560"/>
                  </a:cubicBezTo>
                  <a:lnTo>
                    <a:pt x="25400" y="3464560"/>
                  </a:lnTo>
                  <a:cubicBezTo>
                    <a:pt x="11430" y="3464560"/>
                    <a:pt x="0" y="3453130"/>
                    <a:pt x="0" y="3439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439160"/>
                  </a:lnTo>
                  <a:lnTo>
                    <a:pt x="25400" y="3439160"/>
                  </a:lnTo>
                  <a:lnTo>
                    <a:pt x="25400" y="3413760"/>
                  </a:lnTo>
                  <a:lnTo>
                    <a:pt x="10510520" y="3413760"/>
                  </a:lnTo>
                  <a:lnTo>
                    <a:pt x="10510520" y="3439160"/>
                  </a:lnTo>
                  <a:lnTo>
                    <a:pt x="10485120" y="3439160"/>
                  </a:lnTo>
                  <a:lnTo>
                    <a:pt x="10485120" y="25400"/>
                  </a:lnTo>
                  <a:lnTo>
                    <a:pt x="10510520" y="25400"/>
                  </a:lnTo>
                  <a:lnTo>
                    <a:pt x="10510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21421" y="5556309"/>
            <a:ext cx="153419" cy="2585723"/>
            <a:chOff x="0" y="0"/>
            <a:chExt cx="204559" cy="34476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3FB95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08437" y="5660445"/>
            <a:ext cx="7498080" cy="512064"/>
            <a:chOff x="0" y="0"/>
            <a:chExt cx="999744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997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FB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Validation Steps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99877" y="6170985"/>
            <a:ext cx="7351776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Run: uvicorn backend.api:app --port 8000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Open: http://localhost:8000/docs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Test /health → modules loaded?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Test /analyze endpoints with sample data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Confirm frontend UI loads and calls API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869304" y="1990149"/>
            <a:ext cx="8785360" cy="4024264"/>
            <a:chOff x="0" y="0"/>
            <a:chExt cx="11738191" cy="53768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7620"/>
              <a:ext cx="11704320" cy="5341520"/>
            </a:xfrm>
            <a:custGeom>
              <a:avLst/>
              <a:gdLst/>
              <a:ahLst/>
              <a:cxnLst/>
              <a:rect r="r" b="b" t="t" l="l"/>
              <a:pathLst>
                <a:path h="53415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341519"/>
                  </a:lnTo>
                  <a:lnTo>
                    <a:pt x="0" y="5341519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738101" cy="5376759"/>
            </a:xfrm>
            <a:custGeom>
              <a:avLst/>
              <a:gdLst/>
              <a:ahLst/>
              <a:cxnLst/>
              <a:rect r="r" b="b" t="t" l="l"/>
              <a:pathLst>
                <a:path h="5376759" w="11738101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949"/>
                    <a:pt x="11738101" y="17620"/>
                  </a:cubicBezTo>
                  <a:lnTo>
                    <a:pt x="11738101" y="5359139"/>
                  </a:lnTo>
                  <a:cubicBezTo>
                    <a:pt x="11738101" y="5368943"/>
                    <a:pt x="11730482" y="5376759"/>
                    <a:pt x="11721211" y="5376759"/>
                  </a:cubicBezTo>
                  <a:lnTo>
                    <a:pt x="16891" y="5376759"/>
                  </a:lnTo>
                  <a:cubicBezTo>
                    <a:pt x="7493" y="5376759"/>
                    <a:pt x="0" y="5368810"/>
                    <a:pt x="0" y="5359139"/>
                  </a:cubicBezTo>
                  <a:lnTo>
                    <a:pt x="0" y="17620"/>
                  </a:lnTo>
                  <a:cubicBezTo>
                    <a:pt x="0" y="7949"/>
                    <a:pt x="7620" y="0"/>
                    <a:pt x="16891" y="0"/>
                  </a:cubicBezTo>
                  <a:moveTo>
                    <a:pt x="16891" y="35372"/>
                  </a:moveTo>
                  <a:lnTo>
                    <a:pt x="16891" y="17620"/>
                  </a:lnTo>
                  <a:lnTo>
                    <a:pt x="33909" y="17620"/>
                  </a:lnTo>
                  <a:lnTo>
                    <a:pt x="33909" y="5359139"/>
                  </a:lnTo>
                  <a:lnTo>
                    <a:pt x="16891" y="5359139"/>
                  </a:lnTo>
                  <a:lnTo>
                    <a:pt x="16891" y="5341520"/>
                  </a:lnTo>
                  <a:lnTo>
                    <a:pt x="11721211" y="5341520"/>
                  </a:lnTo>
                  <a:lnTo>
                    <a:pt x="11721211" y="5359139"/>
                  </a:lnTo>
                  <a:lnTo>
                    <a:pt x="11704320" y="5359139"/>
                  </a:lnTo>
                  <a:lnTo>
                    <a:pt x="11704320" y="17620"/>
                  </a:lnTo>
                  <a:lnTo>
                    <a:pt x="11721211" y="17620"/>
                  </a:lnTo>
                  <a:lnTo>
                    <a:pt x="11721211" y="35372"/>
                  </a:lnTo>
                  <a:lnTo>
                    <a:pt x="16891" y="35372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851021" y="1990149"/>
            <a:ext cx="8803643" cy="427739"/>
            <a:chOff x="0" y="0"/>
            <a:chExt cx="11738191" cy="5703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1704320" cy="536448"/>
            </a:xfrm>
            <a:custGeom>
              <a:avLst/>
              <a:gdLst/>
              <a:ahLst/>
              <a:cxnLst/>
              <a:rect r="r" b="b" t="t" l="l"/>
              <a:pathLst>
                <a:path h="53644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C212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738101" cy="570232"/>
            </a:xfrm>
            <a:custGeom>
              <a:avLst/>
              <a:gdLst/>
              <a:ahLst/>
              <a:cxnLst/>
              <a:rect r="r" b="b" t="t" l="l"/>
              <a:pathLst>
                <a:path h="570232" w="11738101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620"/>
                    <a:pt x="11738101" y="16891"/>
                  </a:cubicBezTo>
                  <a:lnTo>
                    <a:pt x="11738101" y="553339"/>
                  </a:lnTo>
                  <a:cubicBezTo>
                    <a:pt x="11738101" y="562737"/>
                    <a:pt x="11730482" y="570230"/>
                    <a:pt x="1172121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1721211" y="536448"/>
                  </a:lnTo>
                  <a:lnTo>
                    <a:pt x="11721211" y="553339"/>
                  </a:lnTo>
                  <a:lnTo>
                    <a:pt x="11704320" y="553339"/>
                  </a:lnTo>
                  <a:lnTo>
                    <a:pt x="11704320" y="16891"/>
                  </a:lnTo>
                  <a:lnTo>
                    <a:pt x="11721211" y="16891"/>
                  </a:lnTo>
                  <a:lnTo>
                    <a:pt x="11721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12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046597" y="2039421"/>
            <a:ext cx="8412480" cy="329184"/>
            <a:chOff x="0" y="0"/>
            <a:chExt cx="11216640" cy="4389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216640" cy="438912"/>
            </a:xfrm>
            <a:custGeom>
              <a:avLst/>
              <a:gdLst/>
              <a:ahLst/>
              <a:cxnLst/>
              <a:rect r="r" b="b" t="t" l="l"/>
              <a:pathLst>
                <a:path h="43891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12166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$ terminal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083173" y="2403657"/>
            <a:ext cx="8375904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Start server locally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uvicorn backend.api:app --host 0.0.0.0 --port 8000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Expected output: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INFO: Application startup complete.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INFO: Uvicorn running on http://0.0.0.0:8000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Test endpoints: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curl http://localhost:8000/health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→ {"status":"ok","modules":["phq9_scorer",...]}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curl -X POST http://localhost:8000/analyze/chat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-d '{"text":"I feel hopeless today"}'</a:t>
            </a: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41" id="41"/>
          <p:cNvGrpSpPr/>
          <p:nvPr/>
        </p:nvGrpSpPr>
        <p:grpSpPr>
          <a:xfrm rot="0">
            <a:off x="8869299" y="6333682"/>
            <a:ext cx="8803643" cy="1969522"/>
            <a:chOff x="0" y="0"/>
            <a:chExt cx="11738191" cy="262603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11738191" cy="2626030"/>
              <a:chOff x="0" y="0"/>
              <a:chExt cx="11738191" cy="262603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16891" y="16331"/>
                <a:ext cx="11704320" cy="2593282"/>
              </a:xfrm>
              <a:custGeom>
                <a:avLst/>
                <a:gdLst/>
                <a:ahLst/>
                <a:cxnLst/>
                <a:rect r="r" b="b" t="t" l="l"/>
                <a:pathLst>
                  <a:path h="2593282" w="11704320">
                    <a:moveTo>
                      <a:pt x="0" y="0"/>
                    </a:moveTo>
                    <a:lnTo>
                      <a:pt x="11704320" y="0"/>
                    </a:lnTo>
                    <a:lnTo>
                      <a:pt x="11704320" y="2593282"/>
                    </a:lnTo>
                    <a:lnTo>
                      <a:pt x="0" y="2593282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1738101" cy="2625944"/>
              </a:xfrm>
              <a:custGeom>
                <a:avLst/>
                <a:gdLst/>
                <a:ahLst/>
                <a:cxnLst/>
                <a:rect r="r" b="b" t="t" l="l"/>
                <a:pathLst>
                  <a:path h="2625944" w="11738101">
                    <a:moveTo>
                      <a:pt x="16891" y="0"/>
                    </a:moveTo>
                    <a:lnTo>
                      <a:pt x="11721211" y="0"/>
                    </a:lnTo>
                    <a:cubicBezTo>
                      <a:pt x="11730609" y="0"/>
                      <a:pt x="11738101" y="7367"/>
                      <a:pt x="11738101" y="16331"/>
                    </a:cubicBezTo>
                    <a:lnTo>
                      <a:pt x="11738101" y="2609613"/>
                    </a:lnTo>
                    <a:cubicBezTo>
                      <a:pt x="11738101" y="2618699"/>
                      <a:pt x="11730482" y="2625944"/>
                      <a:pt x="11721211" y="2625944"/>
                    </a:cubicBezTo>
                    <a:lnTo>
                      <a:pt x="16891" y="2625944"/>
                    </a:lnTo>
                    <a:cubicBezTo>
                      <a:pt x="7493" y="2625944"/>
                      <a:pt x="0" y="2618577"/>
                      <a:pt x="0" y="2609613"/>
                    </a:cubicBezTo>
                    <a:lnTo>
                      <a:pt x="0" y="16331"/>
                    </a:lnTo>
                    <a:cubicBezTo>
                      <a:pt x="0" y="7367"/>
                      <a:pt x="7620" y="0"/>
                      <a:pt x="16891" y="0"/>
                    </a:cubicBezTo>
                    <a:moveTo>
                      <a:pt x="16891" y="32784"/>
                    </a:moveTo>
                    <a:lnTo>
                      <a:pt x="16891" y="16331"/>
                    </a:lnTo>
                    <a:lnTo>
                      <a:pt x="33909" y="16331"/>
                    </a:lnTo>
                    <a:lnTo>
                      <a:pt x="33909" y="2609613"/>
                    </a:lnTo>
                    <a:lnTo>
                      <a:pt x="16891" y="2609613"/>
                    </a:lnTo>
                    <a:lnTo>
                      <a:pt x="16891" y="2593282"/>
                    </a:lnTo>
                    <a:lnTo>
                      <a:pt x="11721211" y="2593282"/>
                    </a:lnTo>
                    <a:lnTo>
                      <a:pt x="11721211" y="2609613"/>
                    </a:lnTo>
                    <a:lnTo>
                      <a:pt x="11704320" y="2609613"/>
                    </a:lnTo>
                    <a:lnTo>
                      <a:pt x="11704320" y="16331"/>
                    </a:lnTo>
                    <a:lnTo>
                      <a:pt x="11721211" y="16331"/>
                    </a:lnTo>
                    <a:lnTo>
                      <a:pt x="11721211" y="32784"/>
                    </a:lnTo>
                    <a:lnTo>
                      <a:pt x="16891" y="32784"/>
                    </a:lnTo>
                    <a:close/>
                  </a:path>
                </a:pathLst>
              </a:custGeom>
              <a:solidFill>
                <a:srgbClr val="3FB950"/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504615" y="433528"/>
              <a:ext cx="10728960" cy="660108"/>
              <a:chOff x="0" y="0"/>
              <a:chExt cx="10728960" cy="660108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0728960" cy="660108"/>
              </a:xfrm>
              <a:custGeom>
                <a:avLst/>
                <a:gdLst/>
                <a:ahLst/>
                <a:cxnLst/>
                <a:rect r="r" b="b" t="t" l="l"/>
                <a:pathLst>
                  <a:path h="660108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660108"/>
                    </a:lnTo>
                    <a:lnTo>
                      <a:pt x="0" y="66010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64981" r="0" b="-268412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10728960" cy="70773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3FB95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✅  Local validation passed: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504615" y="1211512"/>
              <a:ext cx="10728960" cy="1414518"/>
              <a:chOff x="0" y="0"/>
              <a:chExt cx="10728960" cy="1414518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0728960" cy="1414518"/>
              </a:xfrm>
              <a:custGeom>
                <a:avLst/>
                <a:gdLst/>
                <a:ahLst/>
                <a:cxnLst/>
                <a:rect r="r" b="b" t="t" l="l"/>
                <a:pathLst>
                  <a:path h="1414518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1414518"/>
                    </a:lnTo>
                    <a:lnTo>
                      <a:pt x="0" y="14145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96076" r="0" b="-99507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10728960" cy="14526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Swagger UI responsive  </a:t>
                </a:r>
                <a:r>
                  <a:rPr lang="en-US" sz="2000">
                    <a:solidFill>
                      <a:srgbClr val="8B949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• </a:t>
                </a:r>
                <a:r>
                  <a:rPr lang="en-US" sz="2000">
                    <a:solidFill>
                      <a:srgbClr val="C9D1D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Models load in ~30s  </a:t>
                </a:r>
                <a:r>
                  <a:rPr lang="en-US" sz="2000">
                    <a:solidFill>
                      <a:srgbClr val="8B949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• </a:t>
                </a:r>
                <a:r>
                  <a:rPr lang="en-US" sz="2000">
                    <a:solidFill>
                      <a:srgbClr val="C9D1D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All endpoints return JSON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 to Docker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Containerization — packaging the app for any environment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9590" y="1626870"/>
            <a:ext cx="8267700" cy="2506980"/>
            <a:chOff x="0" y="0"/>
            <a:chExt cx="11023600" cy="3342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23600" cy="3342640"/>
            </a:xfrm>
            <a:custGeom>
              <a:avLst/>
              <a:gdLst/>
              <a:ahLst/>
              <a:cxnLst/>
              <a:rect r="r" b="b" t="t" l="l"/>
              <a:pathLst>
                <a:path h="334264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3317240"/>
                  </a:lnTo>
                  <a:cubicBezTo>
                    <a:pt x="11023600" y="3331210"/>
                    <a:pt x="11012170" y="3342640"/>
                    <a:pt x="1099820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10998200" y="3291840"/>
                  </a:lnTo>
                  <a:lnTo>
                    <a:pt x="10998200" y="3317240"/>
                  </a:lnTo>
                  <a:lnTo>
                    <a:pt x="10972800" y="331724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633223"/>
            <a:ext cx="153419" cy="2494283"/>
            <a:chOff x="0" y="0"/>
            <a:chExt cx="204559" cy="3325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737360"/>
            <a:ext cx="7863840" cy="512064"/>
            <a:chOff x="0" y="0"/>
            <a:chExt cx="1048512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BC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Docker?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247900"/>
            <a:ext cx="7717536" cy="168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Platform to build, ship and run applications in containers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 container packages code + dependencies + OS layer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Runs identically on any machine: dev, staging, cloud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Eliminates 'works on my machine' problem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29590" y="4278630"/>
            <a:ext cx="8267700" cy="2506980"/>
            <a:chOff x="0" y="0"/>
            <a:chExt cx="11023600" cy="3342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23600" cy="3342640"/>
            </a:xfrm>
            <a:custGeom>
              <a:avLst/>
              <a:gdLst/>
              <a:ahLst/>
              <a:cxnLst/>
              <a:rect r="r" b="b" t="t" l="l"/>
              <a:pathLst>
                <a:path h="334264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3317240"/>
                  </a:lnTo>
                  <a:cubicBezTo>
                    <a:pt x="11023600" y="3331210"/>
                    <a:pt x="11012170" y="3342640"/>
                    <a:pt x="1099820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10998200" y="3291840"/>
                  </a:lnTo>
                  <a:lnTo>
                    <a:pt x="10998200" y="3317240"/>
                  </a:lnTo>
                  <a:lnTo>
                    <a:pt x="10972800" y="331724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5943" y="4284983"/>
            <a:ext cx="153419" cy="2494283"/>
            <a:chOff x="0" y="0"/>
            <a:chExt cx="204559" cy="33257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4389120"/>
            <a:ext cx="7863840" cy="512064"/>
            <a:chOff x="0" y="0"/>
            <a:chExt cx="1048512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Docker for our project?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4899660"/>
            <a:ext cx="7717536" cy="168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ML models require exact Python + library versions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Azure App Service natively supports Docker containers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Single image can be versioned (v1, v2 ... latest)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Easy rollback to previous version if deploy fails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14183" y="1633223"/>
            <a:ext cx="8255003" cy="5146043"/>
            <a:chOff x="0" y="0"/>
            <a:chExt cx="11006671" cy="68613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09728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06582" cy="6861301"/>
            </a:xfrm>
            <a:custGeom>
              <a:avLst/>
              <a:gdLst/>
              <a:ahLst/>
              <a:cxnLst/>
              <a:rect r="r" b="b" t="t" l="l"/>
              <a:pathLst>
                <a:path h="6861301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6844411"/>
                  </a:lnTo>
                  <a:cubicBezTo>
                    <a:pt x="11006582" y="6853809"/>
                    <a:pt x="10998962" y="6861301"/>
                    <a:pt x="10989691" y="6861301"/>
                  </a:cubicBezTo>
                  <a:lnTo>
                    <a:pt x="16891" y="6861301"/>
                  </a:lnTo>
                  <a:cubicBezTo>
                    <a:pt x="7493" y="6861301"/>
                    <a:pt x="0" y="6853682"/>
                    <a:pt x="0" y="6844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44411"/>
                  </a:lnTo>
                  <a:lnTo>
                    <a:pt x="16891" y="6844411"/>
                  </a:lnTo>
                  <a:lnTo>
                    <a:pt x="16891" y="6827520"/>
                  </a:lnTo>
                  <a:lnTo>
                    <a:pt x="10989691" y="6827520"/>
                  </a:lnTo>
                  <a:lnTo>
                    <a:pt x="10989691" y="6844411"/>
                  </a:lnTo>
                  <a:lnTo>
                    <a:pt x="10972800" y="68444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09760" y="1792224"/>
            <a:ext cx="7680960" cy="512064"/>
            <a:chOff x="0" y="0"/>
            <a:chExt cx="1024128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BC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Container vs Traditional Deploy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05623" y="2401319"/>
            <a:ext cx="7980683" cy="830075"/>
            <a:chOff x="0" y="0"/>
            <a:chExt cx="10640911" cy="110676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0607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4082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089787"/>
                  </a:lnTo>
                  <a:cubicBezTo>
                    <a:pt x="10640822" y="1099185"/>
                    <a:pt x="10633202" y="1106678"/>
                    <a:pt x="1062393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0623931" y="1072896"/>
                  </a:lnTo>
                  <a:lnTo>
                    <a:pt x="10623931" y="1089787"/>
                  </a:lnTo>
                  <a:lnTo>
                    <a:pt x="10607040" y="1089787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546336" y="2560320"/>
            <a:ext cx="2103120" cy="512064"/>
            <a:chOff x="0" y="0"/>
            <a:chExt cx="280416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804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B94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Aspect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740896" y="2560320"/>
            <a:ext cx="2651760" cy="512064"/>
            <a:chOff x="0" y="0"/>
            <a:chExt cx="3535680" cy="6827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53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904" r="0" b="-5090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535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B94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Traditional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484096" y="2560320"/>
            <a:ext cx="2651760" cy="512064"/>
            <a:chOff x="0" y="0"/>
            <a:chExt cx="3535680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3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904" r="0" b="-5090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535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B94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05623" y="3242567"/>
            <a:ext cx="7980683" cy="830075"/>
            <a:chOff x="0" y="0"/>
            <a:chExt cx="10640911" cy="110676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0607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4082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089787"/>
                  </a:lnTo>
                  <a:cubicBezTo>
                    <a:pt x="10640822" y="1099185"/>
                    <a:pt x="10633202" y="1106678"/>
                    <a:pt x="1062393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0623931" y="1072896"/>
                  </a:lnTo>
                  <a:lnTo>
                    <a:pt x="10623931" y="1089787"/>
                  </a:lnTo>
                  <a:lnTo>
                    <a:pt x="10607040" y="1089787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546336" y="3401568"/>
            <a:ext cx="2103120" cy="512064"/>
            <a:chOff x="0" y="0"/>
            <a:chExt cx="280416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804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Setup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740896" y="3401568"/>
            <a:ext cx="2651760" cy="512064"/>
            <a:chOff x="0" y="0"/>
            <a:chExt cx="3535680" cy="682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53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904" r="0" b="-5090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535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install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484096" y="3401568"/>
            <a:ext cx="2651760" cy="512064"/>
            <a:chOff x="0" y="0"/>
            <a:chExt cx="353568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53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904" r="0" b="-5090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535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FB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command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05623" y="4083815"/>
            <a:ext cx="7980683" cy="830075"/>
            <a:chOff x="0" y="0"/>
            <a:chExt cx="10640911" cy="110676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10607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A1F27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64082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089787"/>
                  </a:lnTo>
                  <a:cubicBezTo>
                    <a:pt x="10640822" y="1099185"/>
                    <a:pt x="10633202" y="1106678"/>
                    <a:pt x="1062393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0623931" y="1072896"/>
                  </a:lnTo>
                  <a:lnTo>
                    <a:pt x="10623931" y="1089787"/>
                  </a:lnTo>
                  <a:lnTo>
                    <a:pt x="10607040" y="1089787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546336" y="4242816"/>
            <a:ext cx="2103120" cy="512064"/>
            <a:chOff x="0" y="0"/>
            <a:chExt cx="2804160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804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Environment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740896" y="4242816"/>
            <a:ext cx="2651760" cy="512064"/>
            <a:chOff x="0" y="0"/>
            <a:chExt cx="3535680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53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904" r="0" b="-5090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535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Varies per machine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484096" y="4242816"/>
            <a:ext cx="2651760" cy="512064"/>
            <a:chOff x="0" y="0"/>
            <a:chExt cx="353568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53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904" r="0" b="-5090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535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FB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Always consistent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405623" y="4925063"/>
            <a:ext cx="7980683" cy="830075"/>
            <a:chOff x="0" y="0"/>
            <a:chExt cx="10640911" cy="110676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10607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64082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089787"/>
                  </a:lnTo>
                  <a:cubicBezTo>
                    <a:pt x="10640822" y="1099185"/>
                    <a:pt x="10633202" y="1106678"/>
                    <a:pt x="1062393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0623931" y="1072896"/>
                  </a:lnTo>
                  <a:lnTo>
                    <a:pt x="10623931" y="1089787"/>
                  </a:lnTo>
                  <a:lnTo>
                    <a:pt x="10607040" y="1089787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546336" y="5084064"/>
            <a:ext cx="2103120" cy="512064"/>
            <a:chOff x="0" y="0"/>
            <a:chExt cx="2804160" cy="682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804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740896" y="5084064"/>
            <a:ext cx="2651760" cy="512064"/>
            <a:chOff x="0" y="0"/>
            <a:chExt cx="3535680" cy="6827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53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904" r="0" b="-5090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3535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Copy files + hope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484096" y="5084064"/>
            <a:ext cx="2651760" cy="512064"/>
            <a:chOff x="0" y="0"/>
            <a:chExt cx="3535680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53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904" r="0" b="-5090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3535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FB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docker run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405623" y="5766311"/>
            <a:ext cx="7980683" cy="830075"/>
            <a:chOff x="0" y="0"/>
            <a:chExt cx="10640911" cy="110676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10607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A1F27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64082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089787"/>
                  </a:lnTo>
                  <a:cubicBezTo>
                    <a:pt x="10640822" y="1099185"/>
                    <a:pt x="10633202" y="1106678"/>
                    <a:pt x="1062393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0623931" y="1072896"/>
                  </a:lnTo>
                  <a:lnTo>
                    <a:pt x="10623931" y="1089787"/>
                  </a:lnTo>
                  <a:lnTo>
                    <a:pt x="10607040" y="1089787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546336" y="5925312"/>
            <a:ext cx="2103120" cy="512064"/>
            <a:chOff x="0" y="0"/>
            <a:chExt cx="2804160" cy="68275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2804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740896" y="5925312"/>
            <a:ext cx="2651760" cy="512064"/>
            <a:chOff x="0" y="0"/>
            <a:chExt cx="3535680" cy="68275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53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904" r="0" b="-5090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535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Complex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484096" y="5925312"/>
            <a:ext cx="2651760" cy="512064"/>
            <a:chOff x="0" y="0"/>
            <a:chExt cx="3535680" cy="6827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53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904" r="0" b="-5090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3535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FB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Simple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529590" y="6930390"/>
            <a:ext cx="17045940" cy="1866900"/>
            <a:chOff x="0" y="0"/>
            <a:chExt cx="22727920" cy="24892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25400" y="25400"/>
              <a:ext cx="22677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72792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2727920">
                  <a:moveTo>
                    <a:pt x="25400" y="0"/>
                  </a:moveTo>
                  <a:lnTo>
                    <a:pt x="22702520" y="0"/>
                  </a:lnTo>
                  <a:cubicBezTo>
                    <a:pt x="22716489" y="0"/>
                    <a:pt x="22727920" y="11430"/>
                    <a:pt x="22727920" y="25400"/>
                  </a:cubicBezTo>
                  <a:lnTo>
                    <a:pt x="22727920" y="2463800"/>
                  </a:lnTo>
                  <a:cubicBezTo>
                    <a:pt x="22727920" y="2477770"/>
                    <a:pt x="22716489" y="2489200"/>
                    <a:pt x="2270252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2702520" y="2438400"/>
                  </a:lnTo>
                  <a:lnTo>
                    <a:pt x="22702520" y="2463800"/>
                  </a:lnTo>
                  <a:lnTo>
                    <a:pt x="22677120" y="2463800"/>
                  </a:lnTo>
                  <a:lnTo>
                    <a:pt x="22677120" y="25400"/>
                  </a:lnTo>
                  <a:lnTo>
                    <a:pt x="22702520" y="25400"/>
                  </a:lnTo>
                  <a:lnTo>
                    <a:pt x="2270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35943" y="6936743"/>
            <a:ext cx="153419" cy="1854203"/>
            <a:chOff x="0" y="0"/>
            <a:chExt cx="204559" cy="247227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822960" y="7040880"/>
            <a:ext cx="16642080" cy="512064"/>
            <a:chOff x="0" y="0"/>
            <a:chExt cx="22189440" cy="68275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BC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 Key Concepts Used</a:t>
              </a:r>
            </a:p>
          </p:txBody>
        </p:sp>
      </p:grpSp>
      <p:sp>
        <p:nvSpPr>
          <p:cNvPr name="TextBox 106" id="106"/>
          <p:cNvSpPr txBox="true"/>
          <p:nvPr/>
        </p:nvSpPr>
        <p:spPr>
          <a:xfrm rot="0">
            <a:off x="914400" y="7551420"/>
            <a:ext cx="1649577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Image – blueprint of our app (built with Dockerfile)   •   Container – running instance of the image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Tag – version label (v1, v2, latest)   •   Registry – remote image storage (Azure ACR)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Dockerfile Setup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Defining how our app container is built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596647"/>
            <a:ext cx="9535163" cy="7446500"/>
            <a:chOff x="0" y="0"/>
            <a:chExt cx="12713551" cy="99286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7135"/>
              <a:ext cx="12679681" cy="9894308"/>
            </a:xfrm>
            <a:custGeom>
              <a:avLst/>
              <a:gdLst/>
              <a:ahLst/>
              <a:cxnLst/>
              <a:rect r="r" b="b" t="t" l="l"/>
              <a:pathLst>
                <a:path h="9894308" w="12679681">
                  <a:moveTo>
                    <a:pt x="0" y="0"/>
                  </a:moveTo>
                  <a:lnTo>
                    <a:pt x="12679681" y="0"/>
                  </a:lnTo>
                  <a:lnTo>
                    <a:pt x="12679681" y="9894307"/>
                  </a:lnTo>
                  <a:lnTo>
                    <a:pt x="0" y="9894307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13463" cy="9928576"/>
            </a:xfrm>
            <a:custGeom>
              <a:avLst/>
              <a:gdLst/>
              <a:ahLst/>
              <a:cxnLst/>
              <a:rect r="r" b="b" t="t" l="l"/>
              <a:pathLst>
                <a:path h="9928576" w="12713463">
                  <a:moveTo>
                    <a:pt x="16891" y="0"/>
                  </a:moveTo>
                  <a:lnTo>
                    <a:pt x="12696572" y="0"/>
                  </a:lnTo>
                  <a:cubicBezTo>
                    <a:pt x="12705969" y="0"/>
                    <a:pt x="12713463" y="7730"/>
                    <a:pt x="12713463" y="17135"/>
                  </a:cubicBezTo>
                  <a:lnTo>
                    <a:pt x="12713463" y="9911442"/>
                  </a:lnTo>
                  <a:cubicBezTo>
                    <a:pt x="12713463" y="9920976"/>
                    <a:pt x="12705842" y="9928576"/>
                    <a:pt x="12696572" y="9928576"/>
                  </a:cubicBezTo>
                  <a:lnTo>
                    <a:pt x="16891" y="9928576"/>
                  </a:lnTo>
                  <a:cubicBezTo>
                    <a:pt x="7493" y="9928576"/>
                    <a:pt x="0" y="9920846"/>
                    <a:pt x="0" y="9911442"/>
                  </a:cubicBezTo>
                  <a:lnTo>
                    <a:pt x="0" y="17135"/>
                  </a:lnTo>
                  <a:cubicBezTo>
                    <a:pt x="0" y="7730"/>
                    <a:pt x="7620" y="0"/>
                    <a:pt x="16891" y="0"/>
                  </a:cubicBezTo>
                  <a:moveTo>
                    <a:pt x="16891" y="34398"/>
                  </a:moveTo>
                  <a:lnTo>
                    <a:pt x="16891" y="17135"/>
                  </a:lnTo>
                  <a:lnTo>
                    <a:pt x="33909" y="17135"/>
                  </a:lnTo>
                  <a:lnTo>
                    <a:pt x="33909" y="9911442"/>
                  </a:lnTo>
                  <a:lnTo>
                    <a:pt x="16891" y="9911442"/>
                  </a:lnTo>
                  <a:lnTo>
                    <a:pt x="16891" y="9894307"/>
                  </a:lnTo>
                  <a:lnTo>
                    <a:pt x="12696572" y="9894307"/>
                  </a:lnTo>
                  <a:lnTo>
                    <a:pt x="12696572" y="9911442"/>
                  </a:lnTo>
                  <a:lnTo>
                    <a:pt x="12679680" y="9911442"/>
                  </a:lnTo>
                  <a:lnTo>
                    <a:pt x="12679680" y="17135"/>
                  </a:lnTo>
                  <a:lnTo>
                    <a:pt x="12696572" y="17135"/>
                  </a:lnTo>
                  <a:lnTo>
                    <a:pt x="12696572" y="34398"/>
                  </a:lnTo>
                  <a:lnTo>
                    <a:pt x="16891" y="34398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596647"/>
            <a:ext cx="9535163" cy="427739"/>
            <a:chOff x="0" y="0"/>
            <a:chExt cx="12713551" cy="5703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2679681" cy="536448"/>
            </a:xfrm>
            <a:custGeom>
              <a:avLst/>
              <a:gdLst/>
              <a:ahLst/>
              <a:cxnLst/>
              <a:rect r="r" b="b" t="t" l="l"/>
              <a:pathLst>
                <a:path h="536448" w="12679681">
                  <a:moveTo>
                    <a:pt x="0" y="0"/>
                  </a:moveTo>
                  <a:lnTo>
                    <a:pt x="12679681" y="0"/>
                  </a:lnTo>
                  <a:lnTo>
                    <a:pt x="12679681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C212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713463" cy="570232"/>
            </a:xfrm>
            <a:custGeom>
              <a:avLst/>
              <a:gdLst/>
              <a:ahLst/>
              <a:cxnLst/>
              <a:rect r="r" b="b" t="t" l="l"/>
              <a:pathLst>
                <a:path h="570232" w="12713463">
                  <a:moveTo>
                    <a:pt x="16891" y="0"/>
                  </a:moveTo>
                  <a:lnTo>
                    <a:pt x="12696572" y="0"/>
                  </a:lnTo>
                  <a:cubicBezTo>
                    <a:pt x="12705969" y="0"/>
                    <a:pt x="12713463" y="7620"/>
                    <a:pt x="12713463" y="16891"/>
                  </a:cubicBezTo>
                  <a:lnTo>
                    <a:pt x="12713463" y="553339"/>
                  </a:lnTo>
                  <a:cubicBezTo>
                    <a:pt x="12713463" y="562737"/>
                    <a:pt x="12705842" y="570230"/>
                    <a:pt x="12696572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2696572" y="536448"/>
                  </a:lnTo>
                  <a:lnTo>
                    <a:pt x="12696572" y="553339"/>
                  </a:lnTo>
                  <a:lnTo>
                    <a:pt x="12679680" y="553339"/>
                  </a:lnTo>
                  <a:lnTo>
                    <a:pt x="12679680" y="16891"/>
                  </a:lnTo>
                  <a:lnTo>
                    <a:pt x="12696572" y="16891"/>
                  </a:lnTo>
                  <a:lnTo>
                    <a:pt x="12696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12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645920"/>
            <a:ext cx="9144000" cy="329184"/>
            <a:chOff x="0" y="0"/>
            <a:chExt cx="12192000" cy="4389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0" cy="438912"/>
            </a:xfrm>
            <a:custGeom>
              <a:avLst/>
              <a:gdLst/>
              <a:ahLst/>
              <a:cxnLst/>
              <a:rect r="r" b="b" t="t" l="l"/>
              <a:pathLst>
                <a:path h="43891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1251" r="0" b="-49125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1920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$ terminal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31520" y="2097148"/>
            <a:ext cx="9008965" cy="716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Use lightweight Python base image</a:t>
            </a: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FROM python:3.10-slim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Set working directory inside container</a:t>
            </a: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WORKDIR /app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Copy dependency list first (layer cache optimization)</a:t>
            </a: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COPY requirements.txt .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Install Python dependencies</a:t>
            </a: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RUN pip install --no-cache-dir -r requirements.txt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Install CPU-only PyTorch (smaller image size)</a:t>
            </a: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RUN pip install --no-cache-dir \</a:t>
            </a: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--extra-index-url https://download.pytorch.org/whl/cpu \</a:t>
            </a: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-r requirements.txt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Copy entire project (backend/ + frontend/)</a:t>
            </a: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COPY . .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Expose app port</a:t>
            </a: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EXPOSE 8000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Start FastAPI with Uvicorn</a:t>
            </a: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CMD ["uvicorn", "backend.api:app",</a:t>
            </a:r>
          </a:p>
          <a:p>
            <a:pPr algn="l">
              <a:lnSpc>
                <a:spcPts val="2136"/>
              </a:lnSpc>
            </a:pPr>
            <a:r>
              <a:rPr lang="en-US" sz="178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   "--host", "0.0.0.0", "--port", "8000"]</a:t>
            </a:r>
          </a:p>
          <a:p>
            <a:pPr algn="l">
              <a:lnSpc>
                <a:spcPts val="2136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10405110" y="1590294"/>
            <a:ext cx="7170420" cy="2415540"/>
            <a:chOff x="0" y="0"/>
            <a:chExt cx="9560560" cy="322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95097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60560" cy="3220720"/>
            </a:xfrm>
            <a:custGeom>
              <a:avLst/>
              <a:gdLst/>
              <a:ahLst/>
              <a:cxnLst/>
              <a:rect r="r" b="b" t="t" l="l"/>
              <a:pathLst>
                <a:path h="3220720" w="9560560">
                  <a:moveTo>
                    <a:pt x="25400" y="0"/>
                  </a:moveTo>
                  <a:lnTo>
                    <a:pt x="9535160" y="0"/>
                  </a:lnTo>
                  <a:cubicBezTo>
                    <a:pt x="9549130" y="0"/>
                    <a:pt x="9560560" y="11430"/>
                    <a:pt x="9560560" y="25400"/>
                  </a:cubicBezTo>
                  <a:lnTo>
                    <a:pt x="9560560" y="3195320"/>
                  </a:lnTo>
                  <a:cubicBezTo>
                    <a:pt x="9560560" y="3209290"/>
                    <a:pt x="9549130" y="3220720"/>
                    <a:pt x="9535160" y="3220720"/>
                  </a:cubicBezTo>
                  <a:lnTo>
                    <a:pt x="25400" y="3220720"/>
                  </a:lnTo>
                  <a:cubicBezTo>
                    <a:pt x="11430" y="3220720"/>
                    <a:pt x="0" y="3209290"/>
                    <a:pt x="0" y="31953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95320"/>
                  </a:lnTo>
                  <a:lnTo>
                    <a:pt x="25400" y="3195320"/>
                  </a:lnTo>
                  <a:lnTo>
                    <a:pt x="25400" y="3169920"/>
                  </a:lnTo>
                  <a:lnTo>
                    <a:pt x="9535160" y="3169920"/>
                  </a:lnTo>
                  <a:lnTo>
                    <a:pt x="9535160" y="3195320"/>
                  </a:lnTo>
                  <a:lnTo>
                    <a:pt x="9509760" y="3195320"/>
                  </a:lnTo>
                  <a:lnTo>
                    <a:pt x="9509760" y="25400"/>
                  </a:lnTo>
                  <a:lnTo>
                    <a:pt x="9535160" y="25400"/>
                  </a:lnTo>
                  <a:lnTo>
                    <a:pt x="95351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411463" y="1596647"/>
            <a:ext cx="153419" cy="2402843"/>
            <a:chOff x="0" y="0"/>
            <a:chExt cx="204559" cy="32037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70688" cy="3169920"/>
            </a:xfrm>
            <a:custGeom>
              <a:avLst/>
              <a:gdLst/>
              <a:ahLst/>
              <a:cxnLst/>
              <a:rect r="r" b="b" t="t" l="l"/>
              <a:pathLst>
                <a:path h="31699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4470" cy="3203702"/>
            </a:xfrm>
            <a:custGeom>
              <a:avLst/>
              <a:gdLst/>
              <a:ahLst/>
              <a:cxnLst/>
              <a:rect r="r" b="b" t="t" l="l"/>
              <a:pathLst>
                <a:path h="320370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186811"/>
                  </a:lnTo>
                  <a:cubicBezTo>
                    <a:pt x="204470" y="3196209"/>
                    <a:pt x="196850" y="3203702"/>
                    <a:pt x="187579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87579" y="3169920"/>
                  </a:lnTo>
                  <a:lnTo>
                    <a:pt x="187579" y="3186811"/>
                  </a:lnTo>
                  <a:lnTo>
                    <a:pt x="170688" y="318681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698480" y="1700784"/>
            <a:ext cx="6766560" cy="512064"/>
            <a:chOff x="0" y="0"/>
            <a:chExt cx="902208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BC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Image Choice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789920" y="2211324"/>
            <a:ext cx="6620256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python:3.10-slim → minimal, no GUI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image size significantly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All ML libs installable via pip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Compatible with Azure Linux containers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405110" y="4150614"/>
            <a:ext cx="7170420" cy="2415540"/>
            <a:chOff x="0" y="0"/>
            <a:chExt cx="9560560" cy="322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25400"/>
              <a:ext cx="95097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60560" cy="3220720"/>
            </a:xfrm>
            <a:custGeom>
              <a:avLst/>
              <a:gdLst/>
              <a:ahLst/>
              <a:cxnLst/>
              <a:rect r="r" b="b" t="t" l="l"/>
              <a:pathLst>
                <a:path h="3220720" w="9560560">
                  <a:moveTo>
                    <a:pt x="25400" y="0"/>
                  </a:moveTo>
                  <a:lnTo>
                    <a:pt x="9535160" y="0"/>
                  </a:lnTo>
                  <a:cubicBezTo>
                    <a:pt x="9549130" y="0"/>
                    <a:pt x="9560560" y="11430"/>
                    <a:pt x="9560560" y="25400"/>
                  </a:cubicBezTo>
                  <a:lnTo>
                    <a:pt x="9560560" y="3195320"/>
                  </a:lnTo>
                  <a:cubicBezTo>
                    <a:pt x="9560560" y="3209290"/>
                    <a:pt x="9549130" y="3220720"/>
                    <a:pt x="9535160" y="3220720"/>
                  </a:cubicBezTo>
                  <a:lnTo>
                    <a:pt x="25400" y="3220720"/>
                  </a:lnTo>
                  <a:cubicBezTo>
                    <a:pt x="11430" y="3220720"/>
                    <a:pt x="0" y="3209290"/>
                    <a:pt x="0" y="31953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95320"/>
                  </a:lnTo>
                  <a:lnTo>
                    <a:pt x="25400" y="3195320"/>
                  </a:lnTo>
                  <a:lnTo>
                    <a:pt x="25400" y="3169920"/>
                  </a:lnTo>
                  <a:lnTo>
                    <a:pt x="9535160" y="3169920"/>
                  </a:lnTo>
                  <a:lnTo>
                    <a:pt x="9535160" y="3195320"/>
                  </a:lnTo>
                  <a:lnTo>
                    <a:pt x="9509760" y="3195320"/>
                  </a:lnTo>
                  <a:lnTo>
                    <a:pt x="9509760" y="25400"/>
                  </a:lnTo>
                  <a:lnTo>
                    <a:pt x="9535160" y="25400"/>
                  </a:lnTo>
                  <a:lnTo>
                    <a:pt x="95351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411463" y="4156967"/>
            <a:ext cx="153419" cy="2402843"/>
            <a:chOff x="0" y="0"/>
            <a:chExt cx="204559" cy="32037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70688" cy="3169920"/>
            </a:xfrm>
            <a:custGeom>
              <a:avLst/>
              <a:gdLst/>
              <a:ahLst/>
              <a:cxnLst/>
              <a:rect r="r" b="b" t="t" l="l"/>
              <a:pathLst>
                <a:path h="31699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4470" cy="3203702"/>
            </a:xfrm>
            <a:custGeom>
              <a:avLst/>
              <a:gdLst/>
              <a:ahLst/>
              <a:cxnLst/>
              <a:rect r="r" b="b" t="t" l="l"/>
              <a:pathLst>
                <a:path h="320370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186811"/>
                  </a:lnTo>
                  <a:cubicBezTo>
                    <a:pt x="204470" y="3196209"/>
                    <a:pt x="196850" y="3203702"/>
                    <a:pt x="187579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87579" y="3169920"/>
                  </a:lnTo>
                  <a:lnTo>
                    <a:pt x="187579" y="3186811"/>
                  </a:lnTo>
                  <a:lnTo>
                    <a:pt x="170688" y="318681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698480" y="4261104"/>
            <a:ext cx="6766560" cy="512064"/>
            <a:chOff x="0" y="0"/>
            <a:chExt cx="902208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Layer Caching Strategy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789920" y="4771644"/>
            <a:ext cx="6620256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COPY requirements.txt FIRST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RUN pip install as a separate layer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Docker caches if requirements unchanged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Subsequent builds skip reinstall → faster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405110" y="6710934"/>
            <a:ext cx="7170420" cy="2232660"/>
            <a:chOff x="0" y="0"/>
            <a:chExt cx="9560560" cy="2976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5400"/>
              <a:ext cx="9509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60560" cy="2976880"/>
            </a:xfrm>
            <a:custGeom>
              <a:avLst/>
              <a:gdLst/>
              <a:ahLst/>
              <a:cxnLst/>
              <a:rect r="r" b="b" t="t" l="l"/>
              <a:pathLst>
                <a:path h="2976880" w="9560560">
                  <a:moveTo>
                    <a:pt x="25400" y="0"/>
                  </a:moveTo>
                  <a:lnTo>
                    <a:pt x="9535160" y="0"/>
                  </a:lnTo>
                  <a:cubicBezTo>
                    <a:pt x="9549130" y="0"/>
                    <a:pt x="9560560" y="11430"/>
                    <a:pt x="9560560" y="25400"/>
                  </a:cubicBezTo>
                  <a:lnTo>
                    <a:pt x="9560560" y="2951480"/>
                  </a:lnTo>
                  <a:cubicBezTo>
                    <a:pt x="9560560" y="2965450"/>
                    <a:pt x="9549130" y="2976880"/>
                    <a:pt x="953516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9535160" y="2926080"/>
                  </a:lnTo>
                  <a:lnTo>
                    <a:pt x="9535160" y="2951480"/>
                  </a:lnTo>
                  <a:lnTo>
                    <a:pt x="9509760" y="2951480"/>
                  </a:lnTo>
                  <a:lnTo>
                    <a:pt x="9509760" y="25400"/>
                  </a:lnTo>
                  <a:lnTo>
                    <a:pt x="9535160" y="25400"/>
                  </a:lnTo>
                  <a:lnTo>
                    <a:pt x="95351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411463" y="6717287"/>
            <a:ext cx="153419" cy="2219963"/>
            <a:chOff x="0" y="0"/>
            <a:chExt cx="204559" cy="29599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698480" y="6821424"/>
            <a:ext cx="6766560" cy="512064"/>
            <a:chOff x="0" y="0"/>
            <a:chExt cx="902208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95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CPU-only PyTorch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789920" y="7331964"/>
            <a:ext cx="6620256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torch==2.3.0+cpu → removes CUDA packages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image from ~5GB to ~1.85GB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Azure App Service has no GPU access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Faster container startup in cloud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Building Docker Image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Creating the container image from our project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633223"/>
            <a:ext cx="10083803" cy="3171825"/>
            <a:chOff x="0" y="0"/>
            <a:chExt cx="13445071" cy="4229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8152"/>
              <a:ext cx="13411199" cy="4192700"/>
            </a:xfrm>
            <a:custGeom>
              <a:avLst/>
              <a:gdLst/>
              <a:ahLst/>
              <a:cxnLst/>
              <a:rect r="r" b="b" t="t" l="l"/>
              <a:pathLst>
                <a:path h="4192700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4192700"/>
                  </a:lnTo>
                  <a:lnTo>
                    <a:pt x="0" y="4192700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44982" cy="4229005"/>
            </a:xfrm>
            <a:custGeom>
              <a:avLst/>
              <a:gdLst/>
              <a:ahLst/>
              <a:cxnLst/>
              <a:rect r="r" b="b" t="t" l="l"/>
              <a:pathLst>
                <a:path h="4229005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8189"/>
                    <a:pt x="13444982" y="18152"/>
                  </a:cubicBezTo>
                  <a:lnTo>
                    <a:pt x="13444982" y="4210852"/>
                  </a:lnTo>
                  <a:cubicBezTo>
                    <a:pt x="13444982" y="4220952"/>
                    <a:pt x="13437363" y="4229005"/>
                    <a:pt x="13428090" y="4229005"/>
                  </a:cubicBezTo>
                  <a:lnTo>
                    <a:pt x="16891" y="4229005"/>
                  </a:lnTo>
                  <a:cubicBezTo>
                    <a:pt x="7493" y="4229005"/>
                    <a:pt x="0" y="4220816"/>
                    <a:pt x="0" y="4210852"/>
                  </a:cubicBezTo>
                  <a:lnTo>
                    <a:pt x="0" y="18152"/>
                  </a:lnTo>
                  <a:cubicBezTo>
                    <a:pt x="0" y="8189"/>
                    <a:pt x="7620" y="0"/>
                    <a:pt x="16891" y="0"/>
                  </a:cubicBezTo>
                  <a:moveTo>
                    <a:pt x="16891" y="36440"/>
                  </a:moveTo>
                  <a:lnTo>
                    <a:pt x="16891" y="18152"/>
                  </a:lnTo>
                  <a:lnTo>
                    <a:pt x="33909" y="18152"/>
                  </a:lnTo>
                  <a:lnTo>
                    <a:pt x="33909" y="4210852"/>
                  </a:lnTo>
                  <a:lnTo>
                    <a:pt x="16891" y="4210852"/>
                  </a:lnTo>
                  <a:lnTo>
                    <a:pt x="16891" y="4192701"/>
                  </a:lnTo>
                  <a:lnTo>
                    <a:pt x="13428090" y="4192701"/>
                  </a:lnTo>
                  <a:lnTo>
                    <a:pt x="13428090" y="4210852"/>
                  </a:lnTo>
                  <a:lnTo>
                    <a:pt x="13411200" y="4210852"/>
                  </a:lnTo>
                  <a:lnTo>
                    <a:pt x="13411200" y="18152"/>
                  </a:lnTo>
                  <a:lnTo>
                    <a:pt x="13428090" y="18152"/>
                  </a:lnTo>
                  <a:lnTo>
                    <a:pt x="13428090" y="36440"/>
                  </a:lnTo>
                  <a:lnTo>
                    <a:pt x="16891" y="36440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633223"/>
            <a:ext cx="10083803" cy="427739"/>
            <a:chOff x="0" y="0"/>
            <a:chExt cx="13445071" cy="5703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3411199" cy="536448"/>
            </a:xfrm>
            <a:custGeom>
              <a:avLst/>
              <a:gdLst/>
              <a:ahLst/>
              <a:cxnLst/>
              <a:rect r="r" b="b" t="t" l="l"/>
              <a:pathLst>
                <a:path h="536448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C212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4982" cy="570232"/>
            </a:xfrm>
            <a:custGeom>
              <a:avLst/>
              <a:gdLst/>
              <a:ahLst/>
              <a:cxnLst/>
              <a:rect r="r" b="b" t="t" l="l"/>
              <a:pathLst>
                <a:path h="570232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553339"/>
                  </a:lnTo>
                  <a:cubicBezTo>
                    <a:pt x="13444982" y="562737"/>
                    <a:pt x="13437363" y="570230"/>
                    <a:pt x="13428090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3428090" y="536448"/>
                  </a:lnTo>
                  <a:lnTo>
                    <a:pt x="13428090" y="553339"/>
                  </a:lnTo>
                  <a:lnTo>
                    <a:pt x="13411200" y="553339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12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682496"/>
            <a:ext cx="9692640" cy="329184"/>
            <a:chOff x="0" y="0"/>
            <a:chExt cx="12923520" cy="4389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923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3726" r="0" b="-52372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923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$ terminal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68096" y="2046732"/>
            <a:ext cx="9656064" cy="241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Navigate to project root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cd C:\Codes\neurofuzzy-depression-analysis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Build Docker image (tag it "neurofuzzy-app")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docker build -t neurofuzzy-app .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Verify image was created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docker images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REPOSITORY       TAG    IMAGE ID     SIZE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neurofuzzy-app   latest 24d1218c...  1.85GB</a:t>
            </a: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554224" y="4940617"/>
            <a:ext cx="10083808" cy="3042923"/>
            <a:chOff x="0" y="0"/>
            <a:chExt cx="13445077" cy="405723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6" y="0"/>
              <a:ext cx="13445071" cy="4057231"/>
              <a:chOff x="0" y="0"/>
              <a:chExt cx="13445071" cy="405723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16891" y="16891"/>
                <a:ext cx="13411199" cy="4023360"/>
              </a:xfrm>
              <a:custGeom>
                <a:avLst/>
                <a:gdLst/>
                <a:ahLst/>
                <a:cxnLst/>
                <a:rect r="r" b="b" t="t" l="l"/>
                <a:pathLst>
                  <a:path h="4023360" w="13411199">
                    <a:moveTo>
                      <a:pt x="0" y="0"/>
                    </a:moveTo>
                    <a:lnTo>
                      <a:pt x="13411199" y="0"/>
                    </a:lnTo>
                    <a:lnTo>
                      <a:pt x="13411199" y="4023360"/>
                    </a:lnTo>
                    <a:lnTo>
                      <a:pt x="0" y="4023360"/>
                    </a:lnTo>
                    <a:close/>
                  </a:path>
                </a:pathLst>
              </a:custGeom>
              <a:solidFill>
                <a:srgbClr val="0D1117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3444982" cy="4057142"/>
              </a:xfrm>
              <a:custGeom>
                <a:avLst/>
                <a:gdLst/>
                <a:ahLst/>
                <a:cxnLst/>
                <a:rect r="r" b="b" t="t" l="l"/>
                <a:pathLst>
                  <a:path h="4057142" w="13444982">
                    <a:moveTo>
                      <a:pt x="16891" y="0"/>
                    </a:moveTo>
                    <a:lnTo>
                      <a:pt x="13428090" y="0"/>
                    </a:lnTo>
                    <a:cubicBezTo>
                      <a:pt x="13437490" y="0"/>
                      <a:pt x="13444982" y="7620"/>
                      <a:pt x="13444982" y="16891"/>
                    </a:cubicBezTo>
                    <a:lnTo>
                      <a:pt x="13444982" y="4040251"/>
                    </a:lnTo>
                    <a:cubicBezTo>
                      <a:pt x="13444982" y="4049649"/>
                      <a:pt x="13437363" y="4057142"/>
                      <a:pt x="13428090" y="4057142"/>
                    </a:cubicBezTo>
                    <a:lnTo>
                      <a:pt x="16891" y="4057142"/>
                    </a:lnTo>
                    <a:cubicBezTo>
                      <a:pt x="7493" y="4057142"/>
                      <a:pt x="0" y="4049522"/>
                      <a:pt x="0" y="404025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040251"/>
                    </a:lnTo>
                    <a:lnTo>
                      <a:pt x="16891" y="4040251"/>
                    </a:lnTo>
                    <a:lnTo>
                      <a:pt x="16891" y="4023360"/>
                    </a:lnTo>
                    <a:lnTo>
                      <a:pt x="13428090" y="4023360"/>
                    </a:lnTo>
                    <a:lnTo>
                      <a:pt x="13428090" y="4040251"/>
                    </a:lnTo>
                    <a:lnTo>
                      <a:pt x="13411200" y="4040251"/>
                    </a:lnTo>
                    <a:lnTo>
                      <a:pt x="13411200" y="16891"/>
                    </a:lnTo>
                    <a:lnTo>
                      <a:pt x="13428090" y="16891"/>
                    </a:lnTo>
                    <a:lnTo>
                      <a:pt x="13428090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2F81F7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13445071" cy="570319"/>
              <a:chOff x="0" y="0"/>
              <a:chExt cx="13445071" cy="57031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16891" y="16891"/>
                <a:ext cx="13411199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13411199">
                    <a:moveTo>
                      <a:pt x="0" y="0"/>
                    </a:moveTo>
                    <a:lnTo>
                      <a:pt x="13411199" y="0"/>
                    </a:lnTo>
                    <a:lnTo>
                      <a:pt x="13411199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solidFill>
                <a:srgbClr val="1C2128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3444982" cy="570232"/>
              </a:xfrm>
              <a:custGeom>
                <a:avLst/>
                <a:gdLst/>
                <a:ahLst/>
                <a:cxnLst/>
                <a:rect r="r" b="b" t="t" l="l"/>
                <a:pathLst>
                  <a:path h="570232" w="13444982">
                    <a:moveTo>
                      <a:pt x="16891" y="0"/>
                    </a:moveTo>
                    <a:lnTo>
                      <a:pt x="13428090" y="0"/>
                    </a:lnTo>
                    <a:cubicBezTo>
                      <a:pt x="13437490" y="0"/>
                      <a:pt x="13444982" y="7620"/>
                      <a:pt x="13444982" y="16891"/>
                    </a:cubicBezTo>
                    <a:lnTo>
                      <a:pt x="13444982" y="553339"/>
                    </a:lnTo>
                    <a:cubicBezTo>
                      <a:pt x="13444982" y="562737"/>
                      <a:pt x="13437363" y="570230"/>
                      <a:pt x="13428090" y="570230"/>
                    </a:cubicBezTo>
                    <a:lnTo>
                      <a:pt x="16891" y="570230"/>
                    </a:lnTo>
                    <a:cubicBezTo>
                      <a:pt x="7620" y="570357"/>
                      <a:pt x="0" y="562737"/>
                      <a:pt x="0" y="5533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553339"/>
                    </a:lnTo>
                    <a:lnTo>
                      <a:pt x="16891" y="553339"/>
                    </a:lnTo>
                    <a:lnTo>
                      <a:pt x="16891" y="536448"/>
                    </a:lnTo>
                    <a:lnTo>
                      <a:pt x="13428090" y="536448"/>
                    </a:lnTo>
                    <a:lnTo>
                      <a:pt x="13428090" y="553339"/>
                    </a:lnTo>
                    <a:lnTo>
                      <a:pt x="13411200" y="553339"/>
                    </a:lnTo>
                    <a:lnTo>
                      <a:pt x="13411200" y="16891"/>
                    </a:lnTo>
                    <a:lnTo>
                      <a:pt x="13428090" y="16891"/>
                    </a:lnTo>
                    <a:lnTo>
                      <a:pt x="13428090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C2128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260775" y="65697"/>
              <a:ext cx="12923520" cy="438912"/>
              <a:chOff x="0" y="0"/>
              <a:chExt cx="12923520" cy="43891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923520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12923520">
                    <a:moveTo>
                      <a:pt x="0" y="0"/>
                    </a:moveTo>
                    <a:lnTo>
                      <a:pt x="12923520" y="0"/>
                    </a:lnTo>
                    <a:lnTo>
                      <a:pt x="12923520" y="438912"/>
                    </a:lnTo>
                    <a:lnTo>
                      <a:pt x="0" y="43891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523726" r="0" b="-523726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923520" cy="47701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20"/>
                  </a:lnSpc>
                </a:pPr>
                <a:r>
                  <a:rPr lang="en-US" sz="1600">
                    <a:solidFill>
                      <a:srgbClr val="8B949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$ terminal</a:t>
                </a:r>
              </a:p>
            </p:txBody>
          </p:sp>
        </p:grpSp>
      </p:grpSp>
      <p:sp>
        <p:nvSpPr>
          <p:cNvPr name="TextBox 31" id="31"/>
          <p:cNvSpPr txBox="true"/>
          <p:nvPr/>
        </p:nvSpPr>
        <p:spPr>
          <a:xfrm rot="0">
            <a:off x="731520" y="5433698"/>
            <a:ext cx="9656064" cy="250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Run container locally to test before cloud deploy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docker run -p 8000:8000 neurofuzzy-app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Expected console output: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INFO: Application startup complete.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INFO: Uvicorn running on http://0.0.0.0:8000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Test in browser: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http://localhost:8000/docs → Swagger UI ✅</a:t>
            </a: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10953750" y="1626870"/>
            <a:ext cx="6621780" cy="2964180"/>
            <a:chOff x="0" y="0"/>
            <a:chExt cx="8829040" cy="3952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5400" y="25400"/>
              <a:ext cx="87782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829040" cy="3952240"/>
            </a:xfrm>
            <a:custGeom>
              <a:avLst/>
              <a:gdLst/>
              <a:ahLst/>
              <a:cxnLst/>
              <a:rect r="r" b="b" t="t" l="l"/>
              <a:pathLst>
                <a:path h="3952240" w="8829040">
                  <a:moveTo>
                    <a:pt x="25400" y="0"/>
                  </a:moveTo>
                  <a:lnTo>
                    <a:pt x="8803640" y="0"/>
                  </a:lnTo>
                  <a:cubicBezTo>
                    <a:pt x="8817610" y="0"/>
                    <a:pt x="8829040" y="11430"/>
                    <a:pt x="8829040" y="25400"/>
                  </a:cubicBezTo>
                  <a:lnTo>
                    <a:pt x="8829040" y="3926840"/>
                  </a:lnTo>
                  <a:cubicBezTo>
                    <a:pt x="8829040" y="3940810"/>
                    <a:pt x="8817610" y="3952240"/>
                    <a:pt x="880364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8803640" y="3901440"/>
                  </a:lnTo>
                  <a:lnTo>
                    <a:pt x="8803640" y="3926840"/>
                  </a:lnTo>
                  <a:lnTo>
                    <a:pt x="8778240" y="3926840"/>
                  </a:lnTo>
                  <a:lnTo>
                    <a:pt x="8778240" y="25400"/>
                  </a:lnTo>
                  <a:lnTo>
                    <a:pt x="8803640" y="25400"/>
                  </a:lnTo>
                  <a:lnTo>
                    <a:pt x="8803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960103" y="1633223"/>
            <a:ext cx="153419" cy="2951483"/>
            <a:chOff x="0" y="0"/>
            <a:chExt cx="204559" cy="39353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247120" y="1737360"/>
            <a:ext cx="6217920" cy="512064"/>
            <a:chOff x="0" y="0"/>
            <a:chExt cx="829056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2905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BC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Command Explained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1338560" y="2247900"/>
            <a:ext cx="6071616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docker build → triggers Dockerfile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-t neurofuzzy-app → assigns name tag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. (dot) → build context = current folder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Copies all project files including frontend/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Executes RUN commands, sets CMD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0953750" y="4827270"/>
            <a:ext cx="6621780" cy="3055620"/>
            <a:chOff x="0" y="0"/>
            <a:chExt cx="8829040" cy="4074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25400" y="25400"/>
              <a:ext cx="87782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829040" cy="4074160"/>
            </a:xfrm>
            <a:custGeom>
              <a:avLst/>
              <a:gdLst/>
              <a:ahLst/>
              <a:cxnLst/>
              <a:rect r="r" b="b" t="t" l="l"/>
              <a:pathLst>
                <a:path h="4074160" w="8829040">
                  <a:moveTo>
                    <a:pt x="25400" y="0"/>
                  </a:moveTo>
                  <a:lnTo>
                    <a:pt x="8803640" y="0"/>
                  </a:lnTo>
                  <a:cubicBezTo>
                    <a:pt x="8817610" y="0"/>
                    <a:pt x="8829040" y="11430"/>
                    <a:pt x="8829040" y="25400"/>
                  </a:cubicBezTo>
                  <a:lnTo>
                    <a:pt x="8829040" y="4048760"/>
                  </a:lnTo>
                  <a:cubicBezTo>
                    <a:pt x="8829040" y="4062730"/>
                    <a:pt x="8817610" y="4074160"/>
                    <a:pt x="8803640" y="4074160"/>
                  </a:cubicBezTo>
                  <a:lnTo>
                    <a:pt x="25400" y="4074160"/>
                  </a:lnTo>
                  <a:cubicBezTo>
                    <a:pt x="11430" y="4074160"/>
                    <a:pt x="0" y="4062730"/>
                    <a:pt x="0" y="40487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048760"/>
                  </a:lnTo>
                  <a:lnTo>
                    <a:pt x="25400" y="4048760"/>
                  </a:lnTo>
                  <a:lnTo>
                    <a:pt x="25400" y="4023360"/>
                  </a:lnTo>
                  <a:lnTo>
                    <a:pt x="8803640" y="4023360"/>
                  </a:lnTo>
                  <a:lnTo>
                    <a:pt x="8803640" y="4048760"/>
                  </a:lnTo>
                  <a:lnTo>
                    <a:pt x="8778240" y="4048760"/>
                  </a:lnTo>
                  <a:lnTo>
                    <a:pt x="8778240" y="25400"/>
                  </a:lnTo>
                  <a:lnTo>
                    <a:pt x="8803640" y="25400"/>
                  </a:lnTo>
                  <a:lnTo>
                    <a:pt x="8803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960103" y="4833623"/>
            <a:ext cx="153419" cy="3042923"/>
            <a:chOff x="0" y="0"/>
            <a:chExt cx="204559" cy="405723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170688" cy="4023360"/>
            </a:xfrm>
            <a:custGeom>
              <a:avLst/>
              <a:gdLst/>
              <a:ahLst/>
              <a:cxnLst/>
              <a:rect r="r" b="b" t="t" l="l"/>
              <a:pathLst>
                <a:path h="40233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3FB95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4470" cy="4057142"/>
            </a:xfrm>
            <a:custGeom>
              <a:avLst/>
              <a:gdLst/>
              <a:ahLst/>
              <a:cxnLst/>
              <a:rect r="r" b="b" t="t" l="l"/>
              <a:pathLst>
                <a:path h="40571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040251"/>
                  </a:lnTo>
                  <a:cubicBezTo>
                    <a:pt x="204470" y="4049649"/>
                    <a:pt x="196850" y="4057142"/>
                    <a:pt x="187579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87579" y="4023360"/>
                  </a:lnTo>
                  <a:lnTo>
                    <a:pt x="187579" y="4040251"/>
                  </a:lnTo>
                  <a:lnTo>
                    <a:pt x="170688" y="40402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247120" y="4937760"/>
            <a:ext cx="6217920" cy="512064"/>
            <a:chOff x="0" y="0"/>
            <a:chExt cx="8290560" cy="682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82905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FB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Command Explained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338560" y="5448300"/>
            <a:ext cx="6071616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docker run → start container from image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-p 8000:8000 → host:container port mapping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Maps laptop port 8000 → container port 8000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If local test passes → Azure will work too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Confirms image is complete and functional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529590" y="8119110"/>
            <a:ext cx="17045940" cy="1409700"/>
            <a:chOff x="0" y="0"/>
            <a:chExt cx="22727920" cy="1879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25400" y="25400"/>
              <a:ext cx="22677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727920" cy="1879600"/>
            </a:xfrm>
            <a:custGeom>
              <a:avLst/>
              <a:gdLst/>
              <a:ahLst/>
              <a:cxnLst/>
              <a:rect r="r" b="b" t="t" l="l"/>
              <a:pathLst>
                <a:path h="1879600" w="22727920">
                  <a:moveTo>
                    <a:pt x="25400" y="0"/>
                  </a:moveTo>
                  <a:lnTo>
                    <a:pt x="22702520" y="0"/>
                  </a:lnTo>
                  <a:cubicBezTo>
                    <a:pt x="22716489" y="0"/>
                    <a:pt x="22727920" y="11430"/>
                    <a:pt x="22727920" y="25400"/>
                  </a:cubicBezTo>
                  <a:lnTo>
                    <a:pt x="22727920" y="1854200"/>
                  </a:lnTo>
                  <a:cubicBezTo>
                    <a:pt x="22727920" y="1868170"/>
                    <a:pt x="22716489" y="1879600"/>
                    <a:pt x="22702520" y="1879600"/>
                  </a:cubicBezTo>
                  <a:lnTo>
                    <a:pt x="25400" y="1879600"/>
                  </a:lnTo>
                  <a:cubicBezTo>
                    <a:pt x="11430" y="1879600"/>
                    <a:pt x="0" y="1868170"/>
                    <a:pt x="0" y="18542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854200"/>
                  </a:lnTo>
                  <a:lnTo>
                    <a:pt x="25400" y="1854200"/>
                  </a:lnTo>
                  <a:lnTo>
                    <a:pt x="25400" y="1828800"/>
                  </a:lnTo>
                  <a:lnTo>
                    <a:pt x="22702520" y="1828800"/>
                  </a:lnTo>
                  <a:lnTo>
                    <a:pt x="22702520" y="1854200"/>
                  </a:lnTo>
                  <a:lnTo>
                    <a:pt x="22677120" y="1854200"/>
                  </a:lnTo>
                  <a:lnTo>
                    <a:pt x="22677120" y="25400"/>
                  </a:lnTo>
                  <a:lnTo>
                    <a:pt x="22702520" y="25400"/>
                  </a:lnTo>
                  <a:lnTo>
                    <a:pt x="2270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97280" y="8266176"/>
            <a:ext cx="3657600" cy="512064"/>
            <a:chOff x="0" y="0"/>
            <a:chExt cx="4876800" cy="682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876800" cy="682752"/>
            </a:xfrm>
            <a:custGeom>
              <a:avLst/>
              <a:gdLst/>
              <a:ahLst/>
              <a:cxnLst/>
              <a:rect r="r" b="b" t="t" l="l"/>
              <a:pathLst>
                <a:path h="6827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4876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FB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Key Insight: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206240" y="8266176"/>
            <a:ext cx="12801600" cy="1005840"/>
            <a:chOff x="0" y="0"/>
            <a:chExt cx="17068800" cy="13411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70688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the app runs locally in Docker → it will run identically on Azure. This is the core promise of containerization.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Handling Dependency Issues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Real problems encountered and how we solved them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9590" y="1626870"/>
            <a:ext cx="17045940" cy="2506980"/>
            <a:chOff x="0" y="0"/>
            <a:chExt cx="22727920" cy="3342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226771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727920" cy="3342640"/>
            </a:xfrm>
            <a:custGeom>
              <a:avLst/>
              <a:gdLst/>
              <a:ahLst/>
              <a:cxnLst/>
              <a:rect r="r" b="b" t="t" l="l"/>
              <a:pathLst>
                <a:path h="3342640" w="22727920">
                  <a:moveTo>
                    <a:pt x="25400" y="0"/>
                  </a:moveTo>
                  <a:lnTo>
                    <a:pt x="22702520" y="0"/>
                  </a:lnTo>
                  <a:cubicBezTo>
                    <a:pt x="22716489" y="0"/>
                    <a:pt x="22727920" y="11430"/>
                    <a:pt x="22727920" y="25400"/>
                  </a:cubicBezTo>
                  <a:lnTo>
                    <a:pt x="22727920" y="3317240"/>
                  </a:lnTo>
                  <a:cubicBezTo>
                    <a:pt x="22727920" y="3331210"/>
                    <a:pt x="22716489" y="3342640"/>
                    <a:pt x="2270252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22702520" y="3291840"/>
                  </a:lnTo>
                  <a:lnTo>
                    <a:pt x="22702520" y="3317240"/>
                  </a:lnTo>
                  <a:lnTo>
                    <a:pt x="22677120" y="3317240"/>
                  </a:lnTo>
                  <a:lnTo>
                    <a:pt x="22677120" y="25400"/>
                  </a:lnTo>
                  <a:lnTo>
                    <a:pt x="22702520" y="25400"/>
                  </a:lnTo>
                  <a:lnTo>
                    <a:pt x="2270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633223"/>
            <a:ext cx="153419" cy="2494283"/>
            <a:chOff x="0" y="0"/>
            <a:chExt cx="204559" cy="3325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737360"/>
            <a:ext cx="16459200" cy="512064"/>
            <a:chOff x="0" y="0"/>
            <a:chExt cx="2194560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Issue 1: pyaudio Build Failure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2286000"/>
            <a:ext cx="16459200" cy="658368"/>
            <a:chOff x="0" y="0"/>
            <a:chExt cx="21945600" cy="877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945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Problem: error: command 'gcc' failed — pyaudio requires C compiler to build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2962656"/>
            <a:ext cx="16459200" cy="1005840"/>
            <a:chOff x="0" y="0"/>
            <a:chExt cx="2194560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945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Fix: Removed pyaudio + SpeechRecognition from requirements.txt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Cloud has no microphone hardware — audio input not needed on Azure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29590" y="4370070"/>
            <a:ext cx="17045940" cy="2506980"/>
            <a:chOff x="0" y="0"/>
            <a:chExt cx="22727920" cy="3342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226771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727920" cy="3342640"/>
            </a:xfrm>
            <a:custGeom>
              <a:avLst/>
              <a:gdLst/>
              <a:ahLst/>
              <a:cxnLst/>
              <a:rect r="r" b="b" t="t" l="l"/>
              <a:pathLst>
                <a:path h="3342640" w="22727920">
                  <a:moveTo>
                    <a:pt x="25400" y="0"/>
                  </a:moveTo>
                  <a:lnTo>
                    <a:pt x="22702520" y="0"/>
                  </a:lnTo>
                  <a:cubicBezTo>
                    <a:pt x="22716489" y="0"/>
                    <a:pt x="22727920" y="11430"/>
                    <a:pt x="22727920" y="25400"/>
                  </a:cubicBezTo>
                  <a:lnTo>
                    <a:pt x="22727920" y="3317240"/>
                  </a:lnTo>
                  <a:cubicBezTo>
                    <a:pt x="22727920" y="3331210"/>
                    <a:pt x="22716489" y="3342640"/>
                    <a:pt x="2270252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22702520" y="3291840"/>
                  </a:lnTo>
                  <a:lnTo>
                    <a:pt x="22702520" y="3317240"/>
                  </a:lnTo>
                  <a:lnTo>
                    <a:pt x="22677120" y="3317240"/>
                  </a:lnTo>
                  <a:lnTo>
                    <a:pt x="22677120" y="25400"/>
                  </a:lnTo>
                  <a:lnTo>
                    <a:pt x="22702520" y="25400"/>
                  </a:lnTo>
                  <a:lnTo>
                    <a:pt x="2270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35943" y="4376423"/>
            <a:ext cx="153419" cy="2494283"/>
            <a:chOff x="0" y="0"/>
            <a:chExt cx="204559" cy="33257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4480560"/>
            <a:ext cx="16459200" cy="512064"/>
            <a:chOff x="0" y="0"/>
            <a:chExt cx="2194560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95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Issue 2: Huge Docker Image (~5GB)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5029200"/>
            <a:ext cx="16459200" cy="658368"/>
            <a:chOff x="0" y="0"/>
            <a:chExt cx="21945600" cy="8778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45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Problem: torch default install includes NVIDIA CUDA (~2GB extra). Azure B1 plan crashes on memory overload.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5705856"/>
            <a:ext cx="16459200" cy="1005840"/>
            <a:chOff x="0" y="0"/>
            <a:chExt cx="2194560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1945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Fix: Used CPU-only PyTorch: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--extra-index-url https://download.pytorch.org/whl/cpu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torch==2.3.0+cpu  →  Image shrunk to 1.85GB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29590" y="7113270"/>
            <a:ext cx="17045940" cy="2506980"/>
            <a:chOff x="0" y="0"/>
            <a:chExt cx="22727920" cy="3342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5400"/>
              <a:ext cx="226771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727920" cy="3342640"/>
            </a:xfrm>
            <a:custGeom>
              <a:avLst/>
              <a:gdLst/>
              <a:ahLst/>
              <a:cxnLst/>
              <a:rect r="r" b="b" t="t" l="l"/>
              <a:pathLst>
                <a:path h="3342640" w="22727920">
                  <a:moveTo>
                    <a:pt x="25400" y="0"/>
                  </a:moveTo>
                  <a:lnTo>
                    <a:pt x="22702520" y="0"/>
                  </a:lnTo>
                  <a:cubicBezTo>
                    <a:pt x="22716489" y="0"/>
                    <a:pt x="22727920" y="11430"/>
                    <a:pt x="22727920" y="25400"/>
                  </a:cubicBezTo>
                  <a:lnTo>
                    <a:pt x="22727920" y="3317240"/>
                  </a:lnTo>
                  <a:cubicBezTo>
                    <a:pt x="22727920" y="3331210"/>
                    <a:pt x="22716489" y="3342640"/>
                    <a:pt x="2270252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22702520" y="3291840"/>
                  </a:lnTo>
                  <a:lnTo>
                    <a:pt x="22702520" y="3317240"/>
                  </a:lnTo>
                  <a:lnTo>
                    <a:pt x="22677120" y="3317240"/>
                  </a:lnTo>
                  <a:lnTo>
                    <a:pt x="22677120" y="25400"/>
                  </a:lnTo>
                  <a:lnTo>
                    <a:pt x="22702520" y="25400"/>
                  </a:lnTo>
                  <a:lnTo>
                    <a:pt x="2270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35943" y="7119623"/>
            <a:ext cx="153419" cy="2494283"/>
            <a:chOff x="0" y="0"/>
            <a:chExt cx="204559" cy="33257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D2992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7223760"/>
            <a:ext cx="16459200" cy="512064"/>
            <a:chOff x="0" y="0"/>
            <a:chExt cx="2194560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299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Issue 3: requirements.txt Syntax Error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4400" y="7772400"/>
            <a:ext cx="16459200" cy="658368"/>
            <a:chOff x="0" y="0"/>
            <a:chExt cx="21945600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4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1945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Problem: Wrote torch==2.3.0+cpu --extra-index-url on SAME line → pip parse error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4400" y="8449056"/>
            <a:ext cx="16459200" cy="1005840"/>
            <a:chOff x="0" y="0"/>
            <a:chExt cx="21945600" cy="1341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1945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Fix: Moved --extra-index-url to Dockerfile RUN command separately: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 pip install --extra-index-url https://...whl/cpu -r requirements.txt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 Image Versioning (Tags)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Managing multiple versions of our deployment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9590" y="1590294"/>
            <a:ext cx="8267700" cy="2598420"/>
            <a:chOff x="0" y="0"/>
            <a:chExt cx="11023600" cy="3464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109728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23600" cy="3464560"/>
            </a:xfrm>
            <a:custGeom>
              <a:avLst/>
              <a:gdLst/>
              <a:ahLst/>
              <a:cxnLst/>
              <a:rect r="r" b="b" t="t" l="l"/>
              <a:pathLst>
                <a:path h="346456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3439160"/>
                  </a:lnTo>
                  <a:cubicBezTo>
                    <a:pt x="11023600" y="3453130"/>
                    <a:pt x="11012170" y="3464560"/>
                    <a:pt x="10998200" y="3464560"/>
                  </a:cubicBezTo>
                  <a:lnTo>
                    <a:pt x="25400" y="3464560"/>
                  </a:lnTo>
                  <a:cubicBezTo>
                    <a:pt x="11430" y="3464560"/>
                    <a:pt x="0" y="3453130"/>
                    <a:pt x="0" y="3439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439160"/>
                  </a:lnTo>
                  <a:lnTo>
                    <a:pt x="25400" y="3439160"/>
                  </a:lnTo>
                  <a:lnTo>
                    <a:pt x="25400" y="3413760"/>
                  </a:lnTo>
                  <a:lnTo>
                    <a:pt x="10998200" y="3413760"/>
                  </a:lnTo>
                  <a:lnTo>
                    <a:pt x="10998200" y="3439160"/>
                  </a:lnTo>
                  <a:lnTo>
                    <a:pt x="10972800" y="343916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596647"/>
            <a:ext cx="153419" cy="2585723"/>
            <a:chOff x="0" y="0"/>
            <a:chExt cx="204559" cy="34476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700784"/>
            <a:ext cx="7863840" cy="512064"/>
            <a:chOff x="0" y="0"/>
            <a:chExt cx="1048512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BC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are Tags?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211324"/>
            <a:ext cx="7717536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Labels attached to Docker images for version tracking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Format: repository:tag (e.g. neurofuzzy-app:v3)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Default tag is 'latest' if none specified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 tags can point to same image ID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Critical for rollback and reproducibility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35943" y="4412999"/>
            <a:ext cx="8255003" cy="5252209"/>
            <a:chOff x="0" y="0"/>
            <a:chExt cx="11006671" cy="70029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8210"/>
              <a:ext cx="10972800" cy="6966429"/>
            </a:xfrm>
            <a:custGeom>
              <a:avLst/>
              <a:gdLst/>
              <a:ahLst/>
              <a:cxnLst/>
              <a:rect r="r" b="b" t="t" l="l"/>
              <a:pathLst>
                <a:path h="696642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966429"/>
                  </a:lnTo>
                  <a:lnTo>
                    <a:pt x="0" y="6966429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06582" cy="7002849"/>
            </a:xfrm>
            <a:custGeom>
              <a:avLst/>
              <a:gdLst/>
              <a:ahLst/>
              <a:cxnLst/>
              <a:rect r="r" b="b" t="t" l="l"/>
              <a:pathLst>
                <a:path h="7002849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8215"/>
                    <a:pt x="11006582" y="18210"/>
                  </a:cubicBezTo>
                  <a:lnTo>
                    <a:pt x="11006582" y="6984639"/>
                  </a:lnTo>
                  <a:cubicBezTo>
                    <a:pt x="11006582" y="6994771"/>
                    <a:pt x="10998962" y="7002849"/>
                    <a:pt x="10989691" y="7002849"/>
                  </a:cubicBezTo>
                  <a:lnTo>
                    <a:pt x="16891" y="7002849"/>
                  </a:lnTo>
                  <a:cubicBezTo>
                    <a:pt x="7493" y="7002849"/>
                    <a:pt x="0" y="6994634"/>
                    <a:pt x="0" y="6984639"/>
                  </a:cubicBezTo>
                  <a:lnTo>
                    <a:pt x="0" y="18210"/>
                  </a:lnTo>
                  <a:cubicBezTo>
                    <a:pt x="0" y="8215"/>
                    <a:pt x="7620" y="0"/>
                    <a:pt x="16891" y="0"/>
                  </a:cubicBezTo>
                  <a:moveTo>
                    <a:pt x="16891" y="36557"/>
                  </a:moveTo>
                  <a:lnTo>
                    <a:pt x="16891" y="18210"/>
                  </a:lnTo>
                  <a:lnTo>
                    <a:pt x="33909" y="18210"/>
                  </a:lnTo>
                  <a:lnTo>
                    <a:pt x="33909" y="6984639"/>
                  </a:lnTo>
                  <a:lnTo>
                    <a:pt x="16891" y="6984639"/>
                  </a:lnTo>
                  <a:lnTo>
                    <a:pt x="16891" y="6966429"/>
                  </a:lnTo>
                  <a:lnTo>
                    <a:pt x="10989691" y="6966429"/>
                  </a:lnTo>
                  <a:lnTo>
                    <a:pt x="10989691" y="6984639"/>
                  </a:lnTo>
                  <a:lnTo>
                    <a:pt x="10972800" y="6984639"/>
                  </a:lnTo>
                  <a:lnTo>
                    <a:pt x="10972800" y="18210"/>
                  </a:lnTo>
                  <a:lnTo>
                    <a:pt x="10989691" y="18210"/>
                  </a:lnTo>
                  <a:lnTo>
                    <a:pt x="10989691" y="36557"/>
                  </a:lnTo>
                  <a:lnTo>
                    <a:pt x="16891" y="36557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5943" y="4412999"/>
            <a:ext cx="8255003" cy="427739"/>
            <a:chOff x="0" y="0"/>
            <a:chExt cx="11006671" cy="5703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0972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C212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06582" cy="570232"/>
            </a:xfrm>
            <a:custGeom>
              <a:avLst/>
              <a:gdLst/>
              <a:ahLst/>
              <a:cxnLst/>
              <a:rect r="r" b="b" t="t" l="l"/>
              <a:pathLst>
                <a:path h="57023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553339"/>
                  </a:lnTo>
                  <a:cubicBezTo>
                    <a:pt x="11006582" y="562737"/>
                    <a:pt x="10998962" y="570230"/>
                    <a:pt x="1098969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0989691" y="536448"/>
                  </a:lnTo>
                  <a:lnTo>
                    <a:pt x="10989691" y="553339"/>
                  </a:lnTo>
                  <a:lnTo>
                    <a:pt x="10972800" y="55333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12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31520" y="4462272"/>
            <a:ext cx="7863840" cy="329184"/>
            <a:chOff x="0" y="0"/>
            <a:chExt cx="10485120" cy="4389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8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5475" r="0" b="-41547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485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$ terminal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68096" y="4826508"/>
            <a:ext cx="7827264" cy="483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Tagging images for Azure ACR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docker tag neurofuzzy-app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neuroregistry123.azurecr.io/neurofuzzy-app:v1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docker tag neurofuzzy-app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neuroregistry123.azurecr.io/neurofuzzy-app:v3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For CI/CD automation (always latest)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docker tag neurofuzzy-app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neuroregistry123.azurecr.io/neurofuzzy-app:latest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Our version progression: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v1 → initial deploy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v2 → Dockerfile CMD fix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v3 → CMD order fix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v5–v8 → frontend integration fixes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latest → CI/CD automated builds</a:t>
            </a: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9222743" y="1596647"/>
            <a:ext cx="8346443" cy="8068561"/>
            <a:chOff x="0" y="0"/>
            <a:chExt cx="11128591" cy="107580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7685"/>
              <a:ext cx="11094720" cy="10722618"/>
            </a:xfrm>
            <a:custGeom>
              <a:avLst/>
              <a:gdLst/>
              <a:ahLst/>
              <a:cxnLst/>
              <a:rect r="r" b="b" t="t" l="l"/>
              <a:pathLst>
                <a:path h="1072261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722618"/>
                  </a:lnTo>
                  <a:lnTo>
                    <a:pt x="0" y="10722618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28501" cy="10757988"/>
            </a:xfrm>
            <a:custGeom>
              <a:avLst/>
              <a:gdLst/>
              <a:ahLst/>
              <a:cxnLst/>
              <a:rect r="r" b="b" t="t" l="l"/>
              <a:pathLst>
                <a:path h="1075798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978"/>
                    <a:pt x="11128501" y="17685"/>
                  </a:cubicBezTo>
                  <a:lnTo>
                    <a:pt x="11128501" y="10740303"/>
                  </a:lnTo>
                  <a:cubicBezTo>
                    <a:pt x="11128501" y="10750143"/>
                    <a:pt x="11120882" y="10757988"/>
                    <a:pt x="11111611" y="10757988"/>
                  </a:cubicBezTo>
                  <a:lnTo>
                    <a:pt x="16891" y="10757988"/>
                  </a:lnTo>
                  <a:cubicBezTo>
                    <a:pt x="7493" y="10757988"/>
                    <a:pt x="0" y="10750010"/>
                    <a:pt x="0" y="10740303"/>
                  </a:cubicBezTo>
                  <a:lnTo>
                    <a:pt x="0" y="17685"/>
                  </a:lnTo>
                  <a:cubicBezTo>
                    <a:pt x="0" y="7978"/>
                    <a:pt x="7620" y="0"/>
                    <a:pt x="16891" y="0"/>
                  </a:cubicBezTo>
                  <a:moveTo>
                    <a:pt x="16891" y="35503"/>
                  </a:moveTo>
                  <a:lnTo>
                    <a:pt x="16891" y="17685"/>
                  </a:lnTo>
                  <a:lnTo>
                    <a:pt x="33909" y="17685"/>
                  </a:lnTo>
                  <a:lnTo>
                    <a:pt x="33909" y="10740303"/>
                  </a:lnTo>
                  <a:lnTo>
                    <a:pt x="16891" y="10740303"/>
                  </a:lnTo>
                  <a:lnTo>
                    <a:pt x="16891" y="10722618"/>
                  </a:lnTo>
                  <a:lnTo>
                    <a:pt x="11111611" y="10722618"/>
                  </a:lnTo>
                  <a:lnTo>
                    <a:pt x="11111611" y="10740303"/>
                  </a:lnTo>
                  <a:lnTo>
                    <a:pt x="11094720" y="10740303"/>
                  </a:lnTo>
                  <a:lnTo>
                    <a:pt x="11094720" y="17685"/>
                  </a:lnTo>
                  <a:lnTo>
                    <a:pt x="11111611" y="17685"/>
                  </a:lnTo>
                  <a:lnTo>
                    <a:pt x="11111611" y="35503"/>
                  </a:lnTo>
                  <a:lnTo>
                    <a:pt x="16891" y="35503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09760" y="1755648"/>
            <a:ext cx="7680960" cy="512064"/>
            <a:chOff x="0" y="0"/>
            <a:chExt cx="1024128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BC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Version Timeline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05623" y="2437895"/>
            <a:ext cx="1214123" cy="683771"/>
            <a:chOff x="0" y="0"/>
            <a:chExt cx="1618831" cy="91169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584960" cy="877824"/>
            </a:xfrm>
            <a:custGeom>
              <a:avLst/>
              <a:gdLst/>
              <a:ahLst/>
              <a:cxnLst/>
              <a:rect r="r" b="b" t="t" l="l"/>
              <a:pathLst>
                <a:path h="87782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3FB95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18742" cy="911608"/>
            </a:xfrm>
            <a:custGeom>
              <a:avLst/>
              <a:gdLst/>
              <a:ahLst/>
              <a:cxnLst/>
              <a:rect r="r" b="b" t="t" l="l"/>
              <a:pathLst>
                <a:path h="911608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894715"/>
                  </a:lnTo>
                  <a:cubicBezTo>
                    <a:pt x="1618742" y="904113"/>
                    <a:pt x="1611122" y="911606"/>
                    <a:pt x="160185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601851" y="877824"/>
                  </a:lnTo>
                  <a:lnTo>
                    <a:pt x="1601851" y="894715"/>
                  </a:lnTo>
                  <a:lnTo>
                    <a:pt x="1584960" y="894715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18320" y="2450592"/>
            <a:ext cx="1188720" cy="658368"/>
            <a:chOff x="0" y="0"/>
            <a:chExt cx="1584960" cy="8778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84960" cy="877824"/>
            </a:xfrm>
            <a:custGeom>
              <a:avLst/>
              <a:gdLst/>
              <a:ahLst/>
              <a:cxnLst/>
              <a:rect r="r" b="b" t="t" l="l"/>
              <a:pathLst>
                <a:path h="87782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60" t="0" r="-2106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584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v1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789920" y="2560320"/>
            <a:ext cx="6492240" cy="438912"/>
            <a:chOff x="0" y="0"/>
            <a:chExt cx="8656320" cy="5852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656320" cy="585216"/>
            </a:xfrm>
            <a:custGeom>
              <a:avLst/>
              <a:gdLst/>
              <a:ahLst/>
              <a:cxnLst/>
              <a:rect r="r" b="b" t="t" l="l"/>
              <a:pathLst>
                <a:path h="585216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216" r="0" b="-23821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656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Initial push to ACR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05623" y="3388871"/>
            <a:ext cx="1214123" cy="683771"/>
            <a:chOff x="0" y="0"/>
            <a:chExt cx="1618831" cy="91169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584960" cy="877824"/>
            </a:xfrm>
            <a:custGeom>
              <a:avLst/>
              <a:gdLst/>
              <a:ahLst/>
              <a:cxnLst/>
              <a:rect r="r" b="b" t="t" l="l"/>
              <a:pathLst>
                <a:path h="87782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18742" cy="911608"/>
            </a:xfrm>
            <a:custGeom>
              <a:avLst/>
              <a:gdLst/>
              <a:ahLst/>
              <a:cxnLst/>
              <a:rect r="r" b="b" t="t" l="l"/>
              <a:pathLst>
                <a:path h="911608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894715"/>
                  </a:lnTo>
                  <a:cubicBezTo>
                    <a:pt x="1618742" y="904113"/>
                    <a:pt x="1611122" y="911606"/>
                    <a:pt x="160185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601851" y="877824"/>
                  </a:lnTo>
                  <a:lnTo>
                    <a:pt x="1601851" y="894715"/>
                  </a:lnTo>
                  <a:lnTo>
                    <a:pt x="1584960" y="894715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418320" y="3401568"/>
            <a:ext cx="1188720" cy="658368"/>
            <a:chOff x="0" y="0"/>
            <a:chExt cx="1584960" cy="8778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84960" cy="877824"/>
            </a:xfrm>
            <a:custGeom>
              <a:avLst/>
              <a:gdLst/>
              <a:ahLst/>
              <a:cxnLst/>
              <a:rect r="r" b="b" t="t" l="l"/>
              <a:pathLst>
                <a:path h="87782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60" t="0" r="-2106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584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v2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789920" y="3511296"/>
            <a:ext cx="6492240" cy="438912"/>
            <a:chOff x="0" y="0"/>
            <a:chExt cx="8656320" cy="5852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656320" cy="585216"/>
            </a:xfrm>
            <a:custGeom>
              <a:avLst/>
              <a:gdLst/>
              <a:ahLst/>
              <a:cxnLst/>
              <a:rect r="r" b="b" t="t" l="l"/>
              <a:pathLst>
                <a:path h="585216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216" r="0" b="-23821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8656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Fixed Dockerfile CMD order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405623" y="4339847"/>
            <a:ext cx="1214123" cy="683771"/>
            <a:chOff x="0" y="0"/>
            <a:chExt cx="1618831" cy="91169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1584960" cy="877824"/>
            </a:xfrm>
            <a:custGeom>
              <a:avLst/>
              <a:gdLst/>
              <a:ahLst/>
              <a:cxnLst/>
              <a:rect r="r" b="b" t="t" l="l"/>
              <a:pathLst>
                <a:path h="87782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18742" cy="911608"/>
            </a:xfrm>
            <a:custGeom>
              <a:avLst/>
              <a:gdLst/>
              <a:ahLst/>
              <a:cxnLst/>
              <a:rect r="r" b="b" t="t" l="l"/>
              <a:pathLst>
                <a:path h="911608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894715"/>
                  </a:lnTo>
                  <a:cubicBezTo>
                    <a:pt x="1618742" y="904113"/>
                    <a:pt x="1611122" y="911606"/>
                    <a:pt x="160185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601851" y="877824"/>
                  </a:lnTo>
                  <a:lnTo>
                    <a:pt x="1601851" y="894715"/>
                  </a:lnTo>
                  <a:lnTo>
                    <a:pt x="1584960" y="894715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418320" y="4352544"/>
            <a:ext cx="1188720" cy="658368"/>
            <a:chOff x="0" y="0"/>
            <a:chExt cx="1584960" cy="87782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84960" cy="877824"/>
            </a:xfrm>
            <a:custGeom>
              <a:avLst/>
              <a:gdLst/>
              <a:ahLst/>
              <a:cxnLst/>
              <a:rect r="r" b="b" t="t" l="l"/>
              <a:pathLst>
                <a:path h="87782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60" t="0" r="-21060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584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v3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789920" y="4462272"/>
            <a:ext cx="6492240" cy="438912"/>
            <a:chOff x="0" y="0"/>
            <a:chExt cx="8656320" cy="585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656320" cy="585216"/>
            </a:xfrm>
            <a:custGeom>
              <a:avLst/>
              <a:gdLst/>
              <a:ahLst/>
              <a:cxnLst/>
              <a:rect r="r" b="b" t="t" l="l"/>
              <a:pathLst>
                <a:path h="585216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216" r="0" b="-23821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8656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Removed duplicate CMD statements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405623" y="5290823"/>
            <a:ext cx="1214123" cy="683771"/>
            <a:chOff x="0" y="0"/>
            <a:chExt cx="1618831" cy="91169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1584960" cy="877824"/>
            </a:xfrm>
            <a:custGeom>
              <a:avLst/>
              <a:gdLst/>
              <a:ahLst/>
              <a:cxnLst/>
              <a:rect r="r" b="b" t="t" l="l"/>
              <a:pathLst>
                <a:path h="87782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618742" cy="911608"/>
            </a:xfrm>
            <a:custGeom>
              <a:avLst/>
              <a:gdLst/>
              <a:ahLst/>
              <a:cxnLst/>
              <a:rect r="r" b="b" t="t" l="l"/>
              <a:pathLst>
                <a:path h="911608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894715"/>
                  </a:lnTo>
                  <a:cubicBezTo>
                    <a:pt x="1618742" y="904113"/>
                    <a:pt x="1611122" y="911606"/>
                    <a:pt x="160185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601851" y="877824"/>
                  </a:lnTo>
                  <a:lnTo>
                    <a:pt x="1601851" y="894715"/>
                  </a:lnTo>
                  <a:lnTo>
                    <a:pt x="1584960" y="894715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418320" y="5303520"/>
            <a:ext cx="1188720" cy="658368"/>
            <a:chOff x="0" y="0"/>
            <a:chExt cx="1584960" cy="87782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584960" cy="877824"/>
            </a:xfrm>
            <a:custGeom>
              <a:avLst/>
              <a:gdLst/>
              <a:ahLst/>
              <a:cxnLst/>
              <a:rect r="r" b="b" t="t" l="l"/>
              <a:pathLst>
                <a:path h="87782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60" t="0" r="-21060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584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v5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789920" y="5413248"/>
            <a:ext cx="6492240" cy="438912"/>
            <a:chOff x="0" y="0"/>
            <a:chExt cx="8656320" cy="5852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656320" cy="585216"/>
            </a:xfrm>
            <a:custGeom>
              <a:avLst/>
              <a:gdLst/>
              <a:ahLst/>
              <a:cxnLst/>
              <a:rect r="r" b="b" t="t" l="l"/>
              <a:pathLst>
                <a:path h="585216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216" r="0" b="-23821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656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Fixed frontend folder not included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405623" y="6241799"/>
            <a:ext cx="1214123" cy="683771"/>
            <a:chOff x="0" y="0"/>
            <a:chExt cx="1618831" cy="91169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1584960" cy="877824"/>
            </a:xfrm>
            <a:custGeom>
              <a:avLst/>
              <a:gdLst/>
              <a:ahLst/>
              <a:cxnLst/>
              <a:rect r="r" b="b" t="t" l="l"/>
              <a:pathLst>
                <a:path h="87782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618742" cy="911608"/>
            </a:xfrm>
            <a:custGeom>
              <a:avLst/>
              <a:gdLst/>
              <a:ahLst/>
              <a:cxnLst/>
              <a:rect r="r" b="b" t="t" l="l"/>
              <a:pathLst>
                <a:path h="911608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894715"/>
                  </a:lnTo>
                  <a:cubicBezTo>
                    <a:pt x="1618742" y="904113"/>
                    <a:pt x="1611122" y="911606"/>
                    <a:pt x="160185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601851" y="877824"/>
                  </a:lnTo>
                  <a:lnTo>
                    <a:pt x="1601851" y="894715"/>
                  </a:lnTo>
                  <a:lnTo>
                    <a:pt x="1584960" y="894715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418320" y="6254496"/>
            <a:ext cx="1188720" cy="658368"/>
            <a:chOff x="0" y="0"/>
            <a:chExt cx="1584960" cy="87782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584960" cy="877824"/>
            </a:xfrm>
            <a:custGeom>
              <a:avLst/>
              <a:gdLst/>
              <a:ahLst/>
              <a:cxnLst/>
              <a:rect r="r" b="b" t="t" l="l"/>
              <a:pathLst>
                <a:path h="87782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60" t="0" r="-21060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584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v7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789920" y="6364224"/>
            <a:ext cx="6492240" cy="438912"/>
            <a:chOff x="0" y="0"/>
            <a:chExt cx="8656320" cy="58521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656320" cy="585216"/>
            </a:xfrm>
            <a:custGeom>
              <a:avLst/>
              <a:gdLst/>
              <a:ahLst/>
              <a:cxnLst/>
              <a:rect r="r" b="b" t="t" l="l"/>
              <a:pathLst>
                <a:path h="585216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216" r="0" b="-23821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8656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Added safe FileResponse with path check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405623" y="7192775"/>
            <a:ext cx="1214123" cy="683771"/>
            <a:chOff x="0" y="0"/>
            <a:chExt cx="1618831" cy="91169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1584960" cy="877824"/>
            </a:xfrm>
            <a:custGeom>
              <a:avLst/>
              <a:gdLst/>
              <a:ahLst/>
              <a:cxnLst/>
              <a:rect r="r" b="b" t="t" l="l"/>
              <a:pathLst>
                <a:path h="87782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3FB950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618742" cy="911608"/>
            </a:xfrm>
            <a:custGeom>
              <a:avLst/>
              <a:gdLst/>
              <a:ahLst/>
              <a:cxnLst/>
              <a:rect r="r" b="b" t="t" l="l"/>
              <a:pathLst>
                <a:path h="911608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894715"/>
                  </a:lnTo>
                  <a:cubicBezTo>
                    <a:pt x="1618742" y="904113"/>
                    <a:pt x="1611122" y="911606"/>
                    <a:pt x="160185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601851" y="877824"/>
                  </a:lnTo>
                  <a:lnTo>
                    <a:pt x="1601851" y="894715"/>
                  </a:lnTo>
                  <a:lnTo>
                    <a:pt x="1584960" y="894715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418320" y="7205472"/>
            <a:ext cx="1188720" cy="658368"/>
            <a:chOff x="0" y="0"/>
            <a:chExt cx="1584960" cy="87782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584960" cy="877824"/>
            </a:xfrm>
            <a:custGeom>
              <a:avLst/>
              <a:gdLst/>
              <a:ahLst/>
              <a:cxnLst/>
              <a:rect r="r" b="b" t="t" l="l"/>
              <a:pathLst>
                <a:path h="87782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60" t="0" r="-21060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584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v8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789920" y="7315200"/>
            <a:ext cx="6492240" cy="438912"/>
            <a:chOff x="0" y="0"/>
            <a:chExt cx="8656320" cy="58521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656320" cy="585216"/>
            </a:xfrm>
            <a:custGeom>
              <a:avLst/>
              <a:gdLst/>
              <a:ahLst/>
              <a:cxnLst/>
              <a:rect r="r" b="b" t="t" l="l"/>
              <a:pathLst>
                <a:path h="585216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216" r="0" b="-238216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8656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Fixed API BASE_URL for production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405623" y="8143751"/>
            <a:ext cx="1214123" cy="683771"/>
            <a:chOff x="0" y="0"/>
            <a:chExt cx="1618831" cy="91169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1584960" cy="877824"/>
            </a:xfrm>
            <a:custGeom>
              <a:avLst/>
              <a:gdLst/>
              <a:ahLst/>
              <a:cxnLst/>
              <a:rect r="r" b="b" t="t" l="l"/>
              <a:pathLst>
                <a:path h="87782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618742" cy="911608"/>
            </a:xfrm>
            <a:custGeom>
              <a:avLst/>
              <a:gdLst/>
              <a:ahLst/>
              <a:cxnLst/>
              <a:rect r="r" b="b" t="t" l="l"/>
              <a:pathLst>
                <a:path h="911608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894715"/>
                  </a:lnTo>
                  <a:cubicBezTo>
                    <a:pt x="1618742" y="904113"/>
                    <a:pt x="1611122" y="911606"/>
                    <a:pt x="160185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601851" y="877824"/>
                  </a:lnTo>
                  <a:lnTo>
                    <a:pt x="1601851" y="894715"/>
                  </a:lnTo>
                  <a:lnTo>
                    <a:pt x="1584960" y="894715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418320" y="8156448"/>
            <a:ext cx="1188720" cy="658368"/>
            <a:chOff x="0" y="0"/>
            <a:chExt cx="1584960" cy="87782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584960" cy="877824"/>
            </a:xfrm>
            <a:custGeom>
              <a:avLst/>
              <a:gdLst/>
              <a:ahLst/>
              <a:cxnLst/>
              <a:rect r="r" b="b" t="t" l="l"/>
              <a:pathLst>
                <a:path h="87782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60" t="0" r="-21060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584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latest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789920" y="8266176"/>
            <a:ext cx="6492240" cy="438912"/>
            <a:chOff x="0" y="0"/>
            <a:chExt cx="8656320" cy="58521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656320" cy="585216"/>
            </a:xfrm>
            <a:custGeom>
              <a:avLst/>
              <a:gdLst/>
              <a:ahLst/>
              <a:cxnLst/>
              <a:rect r="r" b="b" t="t" l="l"/>
              <a:pathLst>
                <a:path h="585216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216" r="0" b="-23821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8656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CI/CD auto-build on every git push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Pushing Image to Azure Container Registry (ACR)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Uploading our Docker image to the cloud registry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9590" y="1626870"/>
            <a:ext cx="5524500" cy="2747010"/>
            <a:chOff x="0" y="0"/>
            <a:chExt cx="7366000" cy="3662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31252"/>
              <a:ext cx="7315200" cy="3600177"/>
            </a:xfrm>
            <a:custGeom>
              <a:avLst/>
              <a:gdLst/>
              <a:ahLst/>
              <a:cxnLst/>
              <a:rect r="r" b="b" t="t" l="l"/>
              <a:pathLst>
                <a:path h="3600177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600176"/>
                  </a:lnTo>
                  <a:lnTo>
                    <a:pt x="0" y="3600176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66000" cy="3662680"/>
            </a:xfrm>
            <a:custGeom>
              <a:avLst/>
              <a:gdLst/>
              <a:ahLst/>
              <a:cxnLst/>
              <a:rect r="r" b="b" t="t" l="l"/>
              <a:pathLst>
                <a:path h="3662680" w="7366000">
                  <a:moveTo>
                    <a:pt x="25400" y="0"/>
                  </a:moveTo>
                  <a:lnTo>
                    <a:pt x="7340600" y="0"/>
                  </a:lnTo>
                  <a:cubicBezTo>
                    <a:pt x="7354570" y="0"/>
                    <a:pt x="7366000" y="14063"/>
                    <a:pt x="7366000" y="31252"/>
                  </a:cubicBezTo>
                  <a:lnTo>
                    <a:pt x="7366000" y="3631428"/>
                  </a:lnTo>
                  <a:cubicBezTo>
                    <a:pt x="7366000" y="3648617"/>
                    <a:pt x="7354570" y="3662680"/>
                    <a:pt x="7340600" y="3662680"/>
                  </a:cubicBezTo>
                  <a:lnTo>
                    <a:pt x="25400" y="3662680"/>
                  </a:lnTo>
                  <a:cubicBezTo>
                    <a:pt x="11430" y="3662680"/>
                    <a:pt x="0" y="3648617"/>
                    <a:pt x="0" y="3631428"/>
                  </a:cubicBezTo>
                  <a:lnTo>
                    <a:pt x="0" y="31252"/>
                  </a:lnTo>
                  <a:cubicBezTo>
                    <a:pt x="0" y="14063"/>
                    <a:pt x="11430" y="0"/>
                    <a:pt x="25400" y="0"/>
                  </a:cubicBezTo>
                  <a:moveTo>
                    <a:pt x="25400" y="62503"/>
                  </a:moveTo>
                  <a:lnTo>
                    <a:pt x="25400" y="31252"/>
                  </a:lnTo>
                  <a:lnTo>
                    <a:pt x="50800" y="31252"/>
                  </a:lnTo>
                  <a:lnTo>
                    <a:pt x="50800" y="3631428"/>
                  </a:lnTo>
                  <a:lnTo>
                    <a:pt x="25400" y="3631428"/>
                  </a:lnTo>
                  <a:lnTo>
                    <a:pt x="25400" y="3600177"/>
                  </a:lnTo>
                  <a:lnTo>
                    <a:pt x="7340600" y="3600177"/>
                  </a:lnTo>
                  <a:lnTo>
                    <a:pt x="7340600" y="3631428"/>
                  </a:lnTo>
                  <a:lnTo>
                    <a:pt x="7315200" y="3631428"/>
                  </a:lnTo>
                  <a:lnTo>
                    <a:pt x="7315200" y="31252"/>
                  </a:lnTo>
                  <a:lnTo>
                    <a:pt x="7340600" y="31252"/>
                  </a:lnTo>
                  <a:lnTo>
                    <a:pt x="7340600" y="62503"/>
                  </a:lnTo>
                  <a:lnTo>
                    <a:pt x="25400" y="62503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6092" y="1658812"/>
            <a:ext cx="185428" cy="2683126"/>
            <a:chOff x="0" y="0"/>
            <a:chExt cx="204559" cy="29599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737360"/>
            <a:ext cx="5120640" cy="512064"/>
            <a:chOff x="0" y="0"/>
            <a:chExt cx="682752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827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8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ACR?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38806" y="2211324"/>
            <a:ext cx="5415284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Azure's private Docker image registry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Like Docker Hub but private to our Azure account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Azure App Service pulls images directly from ACR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access credentials and admin login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388103" y="1633223"/>
            <a:ext cx="11181083" cy="8011792"/>
            <a:chOff x="0" y="0"/>
            <a:chExt cx="14908111" cy="106823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8435"/>
              <a:ext cx="14874239" cy="10645421"/>
            </a:xfrm>
            <a:custGeom>
              <a:avLst/>
              <a:gdLst/>
              <a:ahLst/>
              <a:cxnLst/>
              <a:rect r="r" b="b" t="t" l="l"/>
              <a:pathLst>
                <a:path h="10645421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10645422"/>
                  </a:lnTo>
                  <a:lnTo>
                    <a:pt x="0" y="10645422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08022" cy="10682291"/>
            </a:xfrm>
            <a:custGeom>
              <a:avLst/>
              <a:gdLst/>
              <a:ahLst/>
              <a:cxnLst/>
              <a:rect r="r" b="b" t="t" l="l"/>
              <a:pathLst>
                <a:path h="10682291" w="14908022">
                  <a:moveTo>
                    <a:pt x="16891" y="0"/>
                  </a:moveTo>
                  <a:lnTo>
                    <a:pt x="14891130" y="0"/>
                  </a:lnTo>
                  <a:cubicBezTo>
                    <a:pt x="14900529" y="0"/>
                    <a:pt x="14908022" y="8317"/>
                    <a:pt x="14908022" y="18435"/>
                  </a:cubicBezTo>
                  <a:lnTo>
                    <a:pt x="14908022" y="10663857"/>
                  </a:lnTo>
                  <a:cubicBezTo>
                    <a:pt x="14908022" y="10674114"/>
                    <a:pt x="14900402" y="10682291"/>
                    <a:pt x="14891130" y="10682291"/>
                  </a:cubicBezTo>
                  <a:lnTo>
                    <a:pt x="16891" y="10682291"/>
                  </a:lnTo>
                  <a:cubicBezTo>
                    <a:pt x="7493" y="10682291"/>
                    <a:pt x="0" y="10673976"/>
                    <a:pt x="0" y="10663857"/>
                  </a:cubicBezTo>
                  <a:lnTo>
                    <a:pt x="0" y="18435"/>
                  </a:lnTo>
                  <a:cubicBezTo>
                    <a:pt x="0" y="8317"/>
                    <a:pt x="7620" y="0"/>
                    <a:pt x="16891" y="0"/>
                  </a:cubicBezTo>
                  <a:moveTo>
                    <a:pt x="16891" y="37009"/>
                  </a:moveTo>
                  <a:lnTo>
                    <a:pt x="16891" y="18435"/>
                  </a:lnTo>
                  <a:lnTo>
                    <a:pt x="33909" y="18435"/>
                  </a:lnTo>
                  <a:lnTo>
                    <a:pt x="33909" y="10663857"/>
                  </a:lnTo>
                  <a:lnTo>
                    <a:pt x="16891" y="10663857"/>
                  </a:lnTo>
                  <a:lnTo>
                    <a:pt x="16891" y="10645422"/>
                  </a:lnTo>
                  <a:lnTo>
                    <a:pt x="14891130" y="10645422"/>
                  </a:lnTo>
                  <a:lnTo>
                    <a:pt x="14891130" y="10663857"/>
                  </a:lnTo>
                  <a:lnTo>
                    <a:pt x="14874239" y="10663857"/>
                  </a:lnTo>
                  <a:lnTo>
                    <a:pt x="14874239" y="18435"/>
                  </a:lnTo>
                  <a:lnTo>
                    <a:pt x="14891130" y="18435"/>
                  </a:lnTo>
                  <a:lnTo>
                    <a:pt x="14891130" y="37009"/>
                  </a:lnTo>
                  <a:lnTo>
                    <a:pt x="16891" y="370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388103" y="1633223"/>
            <a:ext cx="11181083" cy="427739"/>
            <a:chOff x="0" y="0"/>
            <a:chExt cx="14908111" cy="5703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4874239" cy="536448"/>
            </a:xfrm>
            <a:custGeom>
              <a:avLst/>
              <a:gdLst/>
              <a:ahLst/>
              <a:cxnLst/>
              <a:rect r="r" b="b" t="t" l="l"/>
              <a:pathLst>
                <a:path h="536448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C212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908022" cy="570232"/>
            </a:xfrm>
            <a:custGeom>
              <a:avLst/>
              <a:gdLst/>
              <a:ahLst/>
              <a:cxnLst/>
              <a:rect r="r" b="b" t="t" l="l"/>
              <a:pathLst>
                <a:path h="570232" w="14908022">
                  <a:moveTo>
                    <a:pt x="16891" y="0"/>
                  </a:moveTo>
                  <a:lnTo>
                    <a:pt x="14891130" y="0"/>
                  </a:lnTo>
                  <a:cubicBezTo>
                    <a:pt x="14900529" y="0"/>
                    <a:pt x="14908022" y="7620"/>
                    <a:pt x="14908022" y="16891"/>
                  </a:cubicBezTo>
                  <a:lnTo>
                    <a:pt x="14908022" y="553339"/>
                  </a:lnTo>
                  <a:cubicBezTo>
                    <a:pt x="14908022" y="562737"/>
                    <a:pt x="14900402" y="570230"/>
                    <a:pt x="14891130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4891130" y="536448"/>
                  </a:lnTo>
                  <a:lnTo>
                    <a:pt x="14891130" y="553339"/>
                  </a:lnTo>
                  <a:lnTo>
                    <a:pt x="14874239" y="553339"/>
                  </a:lnTo>
                  <a:lnTo>
                    <a:pt x="14874239" y="16891"/>
                  </a:lnTo>
                  <a:lnTo>
                    <a:pt x="14891130" y="16891"/>
                  </a:lnTo>
                  <a:lnTo>
                    <a:pt x="148911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12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83680" y="1682496"/>
            <a:ext cx="10789920" cy="329184"/>
            <a:chOff x="0" y="0"/>
            <a:chExt cx="14386560" cy="4389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386561" cy="438912"/>
            </a:xfrm>
            <a:custGeom>
              <a:avLst/>
              <a:gdLst/>
              <a:ahLst/>
              <a:cxnLst/>
              <a:rect r="r" b="b" t="t" l="l"/>
              <a:pathLst>
                <a:path h="438912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8676" r="0" b="-58867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43865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$ terminal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620256" y="2046732"/>
            <a:ext cx="10753344" cy="68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STEP 1: Create Container Registry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az acr create --resource-group neuro-rg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--name neuroregistry123 --sku Basic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STEP 2: Enable admin credentials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az acr update -n neuroregistry123 --admin-enabled true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STEP 3: Login to ACR from local machine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az acr login --name neuroregistry123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STEP 4: Tag image with full ACR path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docker tag neurofuzzy-app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neuroregistry123.azurecr.io/neurofuzzy-app:v1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STEP 5: Push image to ACR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docker push neuroregistry123.azurecr.io/neurofuzzy-app:v1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Expected output: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v1: digest: sha256:cdb3bf33... size: 856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✅ Push complete</a:t>
            </a: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529590" y="4592955"/>
            <a:ext cx="5524500" cy="2506980"/>
            <a:chOff x="0" y="0"/>
            <a:chExt cx="7366000" cy="334264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7366000" cy="3342640"/>
              <a:chOff x="0" y="0"/>
              <a:chExt cx="7366000" cy="334264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25400" y="25400"/>
                <a:ext cx="7315200" cy="3291840"/>
              </a:xfrm>
              <a:custGeom>
                <a:avLst/>
                <a:gdLst/>
                <a:ahLst/>
                <a:cxnLst/>
                <a:rect r="r" b="b" t="t" l="l"/>
                <a:pathLst>
                  <a:path h="329184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3291840"/>
                    </a:lnTo>
                    <a:lnTo>
                      <a:pt x="0" y="3291840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7366000" cy="3342640"/>
              </a:xfrm>
              <a:custGeom>
                <a:avLst/>
                <a:gdLst/>
                <a:ahLst/>
                <a:cxnLst/>
                <a:rect r="r" b="b" t="t" l="l"/>
                <a:pathLst>
                  <a:path h="3342640" w="7366000">
                    <a:moveTo>
                      <a:pt x="25400" y="0"/>
                    </a:moveTo>
                    <a:lnTo>
                      <a:pt x="7340600" y="0"/>
                    </a:lnTo>
                    <a:cubicBezTo>
                      <a:pt x="7354570" y="0"/>
                      <a:pt x="7366000" y="11430"/>
                      <a:pt x="7366000" y="25400"/>
                    </a:cubicBezTo>
                    <a:lnTo>
                      <a:pt x="7366000" y="3317240"/>
                    </a:lnTo>
                    <a:cubicBezTo>
                      <a:pt x="7366000" y="3331210"/>
                      <a:pt x="7354570" y="3342640"/>
                      <a:pt x="7340600" y="3342640"/>
                    </a:cubicBezTo>
                    <a:lnTo>
                      <a:pt x="25400" y="3342640"/>
                    </a:lnTo>
                    <a:cubicBezTo>
                      <a:pt x="11430" y="3342640"/>
                      <a:pt x="0" y="3331210"/>
                      <a:pt x="0" y="331724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3317240"/>
                    </a:lnTo>
                    <a:lnTo>
                      <a:pt x="25400" y="3317240"/>
                    </a:lnTo>
                    <a:lnTo>
                      <a:pt x="25400" y="3291840"/>
                    </a:lnTo>
                    <a:lnTo>
                      <a:pt x="7340600" y="3291840"/>
                    </a:lnTo>
                    <a:lnTo>
                      <a:pt x="7340600" y="3317240"/>
                    </a:lnTo>
                    <a:lnTo>
                      <a:pt x="7315200" y="3317240"/>
                    </a:lnTo>
                    <a:lnTo>
                      <a:pt x="7315200" y="25400"/>
                    </a:lnTo>
                    <a:lnTo>
                      <a:pt x="7340600" y="25400"/>
                    </a:lnTo>
                    <a:lnTo>
                      <a:pt x="734060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F0883E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8471" y="8471"/>
              <a:ext cx="204559" cy="3325711"/>
              <a:chOff x="0" y="0"/>
              <a:chExt cx="204559" cy="332571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16891" y="16891"/>
                <a:ext cx="170688" cy="3291840"/>
              </a:xfrm>
              <a:custGeom>
                <a:avLst/>
                <a:gdLst/>
                <a:ahLst/>
                <a:cxnLst/>
                <a:rect r="r" b="b" t="t" l="l"/>
                <a:pathLst>
                  <a:path h="3291840" w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3291840"/>
                    </a:lnTo>
                    <a:lnTo>
                      <a:pt x="0" y="3291840"/>
                    </a:lnTo>
                    <a:close/>
                  </a:path>
                </a:pathLst>
              </a:custGeom>
              <a:solidFill>
                <a:srgbClr val="F0883E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04470" cy="3325622"/>
              </a:xfrm>
              <a:custGeom>
                <a:avLst/>
                <a:gdLst/>
                <a:ahLst/>
                <a:cxnLst/>
                <a:rect r="r" b="b" t="t" l="l"/>
                <a:pathLst>
                  <a:path h="3325622" w="204470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3308731"/>
                    </a:lnTo>
                    <a:cubicBezTo>
                      <a:pt x="204470" y="3318129"/>
                      <a:pt x="196850" y="3325622"/>
                      <a:pt x="187579" y="3325622"/>
                    </a:cubicBezTo>
                    <a:lnTo>
                      <a:pt x="16891" y="3325622"/>
                    </a:lnTo>
                    <a:cubicBezTo>
                      <a:pt x="7493" y="3325622"/>
                      <a:pt x="0" y="3318002"/>
                      <a:pt x="0" y="330873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3308731"/>
                    </a:lnTo>
                    <a:lnTo>
                      <a:pt x="16891" y="3308731"/>
                    </a:lnTo>
                    <a:lnTo>
                      <a:pt x="16891" y="3291840"/>
                    </a:lnTo>
                    <a:lnTo>
                      <a:pt x="187579" y="3291840"/>
                    </a:lnTo>
                    <a:lnTo>
                      <a:pt x="187579" y="3308731"/>
                    </a:lnTo>
                    <a:lnTo>
                      <a:pt x="170688" y="3308731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0883E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391160" y="147320"/>
              <a:ext cx="6827520" cy="682752"/>
              <a:chOff x="0" y="0"/>
              <a:chExt cx="6827520" cy="68275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68275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44850" r="0" b="-144850"/>
                </a:stretch>
              </a:blip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47625"/>
                <a:ext cx="6827520" cy="7303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0883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ACR Admin Credentials</a:t>
                </a: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77895" y="842772"/>
              <a:ext cx="7210209" cy="2006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passwords generated (primary + secondary)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Password 1: primary usage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Password 2: backup for rotation (zero-downtime key change)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Used by Azure Web App to pull images securely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29590" y="7320915"/>
            <a:ext cx="5524500" cy="2324100"/>
            <a:chOff x="0" y="0"/>
            <a:chExt cx="7366000" cy="30988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7366000" cy="3098800"/>
              <a:chOff x="0" y="0"/>
              <a:chExt cx="7366000" cy="3098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25400" y="25400"/>
                <a:ext cx="73152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366000" cy="3098800"/>
              </a:xfrm>
              <a:custGeom>
                <a:avLst/>
                <a:gdLst/>
                <a:ahLst/>
                <a:cxnLst/>
                <a:rect r="r" b="b" t="t" l="l"/>
                <a:pathLst>
                  <a:path h="3098800" w="7366000">
                    <a:moveTo>
                      <a:pt x="25400" y="0"/>
                    </a:moveTo>
                    <a:lnTo>
                      <a:pt x="7340600" y="0"/>
                    </a:lnTo>
                    <a:cubicBezTo>
                      <a:pt x="7354570" y="0"/>
                      <a:pt x="7366000" y="11430"/>
                      <a:pt x="7366000" y="25400"/>
                    </a:cubicBezTo>
                    <a:lnTo>
                      <a:pt x="7366000" y="3073400"/>
                    </a:lnTo>
                    <a:cubicBezTo>
                      <a:pt x="7366000" y="3087370"/>
                      <a:pt x="7354570" y="3098800"/>
                      <a:pt x="7340600" y="3098800"/>
                    </a:cubicBezTo>
                    <a:lnTo>
                      <a:pt x="25400" y="3098800"/>
                    </a:lnTo>
                    <a:cubicBezTo>
                      <a:pt x="11430" y="3098800"/>
                      <a:pt x="0" y="3087370"/>
                      <a:pt x="0" y="307340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3073400"/>
                    </a:lnTo>
                    <a:lnTo>
                      <a:pt x="25400" y="3073400"/>
                    </a:lnTo>
                    <a:lnTo>
                      <a:pt x="25400" y="3048000"/>
                    </a:lnTo>
                    <a:lnTo>
                      <a:pt x="7340600" y="3048000"/>
                    </a:lnTo>
                    <a:lnTo>
                      <a:pt x="7340600" y="3073400"/>
                    </a:lnTo>
                    <a:lnTo>
                      <a:pt x="7315200" y="3073400"/>
                    </a:lnTo>
                    <a:lnTo>
                      <a:pt x="7315200" y="25400"/>
                    </a:lnTo>
                    <a:lnTo>
                      <a:pt x="7340600" y="25400"/>
                    </a:lnTo>
                    <a:lnTo>
                      <a:pt x="734060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3FB950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8471" y="8471"/>
              <a:ext cx="204559" cy="3081871"/>
              <a:chOff x="0" y="0"/>
              <a:chExt cx="204559" cy="3081871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16891" y="16891"/>
                <a:ext cx="170688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3FB950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04470" cy="3081782"/>
              </a:xfrm>
              <a:custGeom>
                <a:avLst/>
                <a:gdLst/>
                <a:ahLst/>
                <a:cxnLst/>
                <a:rect r="r" b="b" t="t" l="l"/>
                <a:pathLst>
                  <a:path h="3081782" w="204470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3064891"/>
                    </a:lnTo>
                    <a:cubicBezTo>
                      <a:pt x="204470" y="3074289"/>
                      <a:pt x="196850" y="3081782"/>
                      <a:pt x="187579" y="3081782"/>
                    </a:cubicBezTo>
                    <a:lnTo>
                      <a:pt x="16891" y="3081782"/>
                    </a:lnTo>
                    <a:cubicBezTo>
                      <a:pt x="7493" y="3081782"/>
                      <a:pt x="0" y="3074162"/>
                      <a:pt x="0" y="30648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3064891"/>
                    </a:lnTo>
                    <a:lnTo>
                      <a:pt x="16891" y="3064891"/>
                    </a:lnTo>
                    <a:lnTo>
                      <a:pt x="16891" y="3048000"/>
                    </a:lnTo>
                    <a:lnTo>
                      <a:pt x="187579" y="3048000"/>
                    </a:lnTo>
                    <a:lnTo>
                      <a:pt x="187579" y="3064891"/>
                    </a:lnTo>
                    <a:lnTo>
                      <a:pt x="170688" y="3064891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3FB950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391160" y="147320"/>
              <a:ext cx="6827520" cy="682752"/>
              <a:chOff x="0" y="0"/>
              <a:chExt cx="6827520" cy="68275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68275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44850" r="0" b="-144850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6827520" cy="7303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3FB95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Push Success Confirmation</a:t>
                </a:r>
              </a:p>
            </p:txBody>
          </p:sp>
        </p:grpSp>
      </p:grpSp>
      <p:sp>
        <p:nvSpPr>
          <p:cNvPr name="TextBox 52" id="52"/>
          <p:cNvSpPr txBox="true"/>
          <p:nvPr/>
        </p:nvSpPr>
        <p:spPr>
          <a:xfrm rot="0">
            <a:off x="689362" y="7757160"/>
            <a:ext cx="4974336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digest: sha256:... confirms image integrity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Layer already exists = efficient incremental push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Only changed layers are re-uploaded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Registry URL: neuroregistry123.azurecr.io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 Cloud Setup (Resource Group &amp; App Service)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Setting up the cloud infrastructure for deployment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633223"/>
            <a:ext cx="9718043" cy="6713637"/>
            <a:chOff x="0" y="0"/>
            <a:chExt cx="12957391" cy="89515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7647"/>
              <a:ext cx="12923520" cy="8916131"/>
            </a:xfrm>
            <a:custGeom>
              <a:avLst/>
              <a:gdLst/>
              <a:ahLst/>
              <a:cxnLst/>
              <a:rect r="r" b="b" t="t" l="l"/>
              <a:pathLst>
                <a:path h="8916131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8916130"/>
                  </a:lnTo>
                  <a:lnTo>
                    <a:pt x="0" y="8916130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57302" cy="8951423"/>
            </a:xfrm>
            <a:custGeom>
              <a:avLst/>
              <a:gdLst/>
              <a:ahLst/>
              <a:cxnLst/>
              <a:rect r="r" b="b" t="t" l="l"/>
              <a:pathLst>
                <a:path h="8951423" w="12957302">
                  <a:moveTo>
                    <a:pt x="16891" y="0"/>
                  </a:moveTo>
                  <a:lnTo>
                    <a:pt x="12940411" y="0"/>
                  </a:lnTo>
                  <a:cubicBezTo>
                    <a:pt x="12949809" y="0"/>
                    <a:pt x="12957302" y="7961"/>
                    <a:pt x="12957302" y="17647"/>
                  </a:cubicBezTo>
                  <a:lnTo>
                    <a:pt x="12957302" y="8933777"/>
                  </a:lnTo>
                  <a:cubicBezTo>
                    <a:pt x="12957302" y="8943595"/>
                    <a:pt x="12949682" y="8951423"/>
                    <a:pt x="12940411" y="8951423"/>
                  </a:cubicBezTo>
                  <a:lnTo>
                    <a:pt x="16891" y="8951423"/>
                  </a:lnTo>
                  <a:cubicBezTo>
                    <a:pt x="7493" y="8951423"/>
                    <a:pt x="0" y="8943463"/>
                    <a:pt x="0" y="8933777"/>
                  </a:cubicBezTo>
                  <a:lnTo>
                    <a:pt x="0" y="17647"/>
                  </a:lnTo>
                  <a:cubicBezTo>
                    <a:pt x="0" y="7961"/>
                    <a:pt x="7620" y="0"/>
                    <a:pt x="16891" y="0"/>
                  </a:cubicBezTo>
                  <a:moveTo>
                    <a:pt x="16891" y="35426"/>
                  </a:moveTo>
                  <a:lnTo>
                    <a:pt x="16891" y="17647"/>
                  </a:lnTo>
                  <a:lnTo>
                    <a:pt x="33909" y="17647"/>
                  </a:lnTo>
                  <a:lnTo>
                    <a:pt x="33909" y="8933777"/>
                  </a:lnTo>
                  <a:lnTo>
                    <a:pt x="16891" y="8933777"/>
                  </a:lnTo>
                  <a:lnTo>
                    <a:pt x="16891" y="8916131"/>
                  </a:lnTo>
                  <a:lnTo>
                    <a:pt x="12940411" y="8916131"/>
                  </a:lnTo>
                  <a:lnTo>
                    <a:pt x="12940411" y="8933777"/>
                  </a:lnTo>
                  <a:lnTo>
                    <a:pt x="12923520" y="8933777"/>
                  </a:lnTo>
                  <a:lnTo>
                    <a:pt x="12923520" y="17647"/>
                  </a:lnTo>
                  <a:lnTo>
                    <a:pt x="12940411" y="17647"/>
                  </a:lnTo>
                  <a:lnTo>
                    <a:pt x="12940411" y="35426"/>
                  </a:lnTo>
                  <a:lnTo>
                    <a:pt x="16891" y="35426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633223"/>
            <a:ext cx="9718043" cy="427739"/>
            <a:chOff x="0" y="0"/>
            <a:chExt cx="12957391" cy="5703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2923520" cy="536448"/>
            </a:xfrm>
            <a:custGeom>
              <a:avLst/>
              <a:gdLst/>
              <a:ahLst/>
              <a:cxnLst/>
              <a:rect r="r" b="b" t="t" l="l"/>
              <a:pathLst>
                <a:path h="53644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C212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957302" cy="570232"/>
            </a:xfrm>
            <a:custGeom>
              <a:avLst/>
              <a:gdLst/>
              <a:ahLst/>
              <a:cxnLst/>
              <a:rect r="r" b="b" t="t" l="l"/>
              <a:pathLst>
                <a:path h="570232" w="12957302">
                  <a:moveTo>
                    <a:pt x="16891" y="0"/>
                  </a:moveTo>
                  <a:lnTo>
                    <a:pt x="12940411" y="0"/>
                  </a:lnTo>
                  <a:cubicBezTo>
                    <a:pt x="12949809" y="0"/>
                    <a:pt x="12957302" y="7620"/>
                    <a:pt x="12957302" y="16891"/>
                  </a:cubicBezTo>
                  <a:lnTo>
                    <a:pt x="12957302" y="553339"/>
                  </a:lnTo>
                  <a:cubicBezTo>
                    <a:pt x="12957302" y="562737"/>
                    <a:pt x="12949682" y="570230"/>
                    <a:pt x="1294041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2940411" y="536448"/>
                  </a:lnTo>
                  <a:lnTo>
                    <a:pt x="12940411" y="553339"/>
                  </a:lnTo>
                  <a:lnTo>
                    <a:pt x="12923520" y="553339"/>
                  </a:lnTo>
                  <a:lnTo>
                    <a:pt x="12923520" y="16891"/>
                  </a:lnTo>
                  <a:lnTo>
                    <a:pt x="12940411" y="16891"/>
                  </a:lnTo>
                  <a:lnTo>
                    <a:pt x="12940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12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682496"/>
            <a:ext cx="9326880" cy="329184"/>
            <a:chOff x="0" y="0"/>
            <a:chExt cx="12435840" cy="4389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435840" cy="438912"/>
            </a:xfrm>
            <a:custGeom>
              <a:avLst/>
              <a:gdLst/>
              <a:ahLst/>
              <a:cxnLst/>
              <a:rect r="r" b="b" t="t" l="l"/>
              <a:pathLst>
                <a:path h="43891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435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$ terminal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68096" y="2046732"/>
            <a:ext cx="9290304" cy="643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STEP 1: Login to Azure CLI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az login --use-device-code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Visit https://microsoft.com/devicelogin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Enter code → authenticate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STEP 2: Create Resource Group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az group create --name neuro-rg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--location centralindia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Groups all project resources together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STEP 3: Create App Service Plan (Linux B1)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az appservice plan create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--name neuro-plan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--resource-group neuro-rg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--sku B1 --is-linux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STEP 4: Create Web App (container-based)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az webapp create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--resource-group neuro-rg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--plan neuro-plan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--name neurofuzzy-depression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--deployment-container-image-name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neuroregistry123.azurecr.io/neurofuzzy-app:v1</a:t>
            </a: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10587990" y="1626870"/>
            <a:ext cx="6987540" cy="2506980"/>
            <a:chOff x="0" y="0"/>
            <a:chExt cx="9316720" cy="3342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92659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16720" cy="3342640"/>
            </a:xfrm>
            <a:custGeom>
              <a:avLst/>
              <a:gdLst/>
              <a:ahLst/>
              <a:cxnLst/>
              <a:rect r="r" b="b" t="t" l="l"/>
              <a:pathLst>
                <a:path h="3342640" w="9316720">
                  <a:moveTo>
                    <a:pt x="25400" y="0"/>
                  </a:moveTo>
                  <a:lnTo>
                    <a:pt x="9291320" y="0"/>
                  </a:lnTo>
                  <a:cubicBezTo>
                    <a:pt x="9305289" y="0"/>
                    <a:pt x="9316720" y="11430"/>
                    <a:pt x="9316720" y="25400"/>
                  </a:cubicBezTo>
                  <a:lnTo>
                    <a:pt x="9316720" y="3317240"/>
                  </a:lnTo>
                  <a:cubicBezTo>
                    <a:pt x="9316720" y="3331210"/>
                    <a:pt x="9305289" y="3342640"/>
                    <a:pt x="929132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9291320" y="3291840"/>
                  </a:lnTo>
                  <a:lnTo>
                    <a:pt x="9291320" y="3317240"/>
                  </a:lnTo>
                  <a:lnTo>
                    <a:pt x="9265920" y="3317240"/>
                  </a:lnTo>
                  <a:lnTo>
                    <a:pt x="9265920" y="25400"/>
                  </a:lnTo>
                  <a:lnTo>
                    <a:pt x="9291320" y="25400"/>
                  </a:lnTo>
                  <a:lnTo>
                    <a:pt x="92913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594343" y="1633223"/>
            <a:ext cx="153419" cy="2494283"/>
            <a:chOff x="0" y="0"/>
            <a:chExt cx="204559" cy="33257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881360" y="1737360"/>
            <a:ext cx="6583680" cy="512064"/>
            <a:chOff x="0" y="0"/>
            <a:chExt cx="877824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78240" cy="682752"/>
            </a:xfrm>
            <a:custGeom>
              <a:avLst/>
              <a:gdLst/>
              <a:ahLst/>
              <a:cxnLst/>
              <a:rect r="r" b="b" t="t" l="l"/>
              <a:pathLst>
                <a:path h="682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7782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8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Resource Group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972800" y="2247900"/>
            <a:ext cx="6437376" cy="168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Logical container for all Azure resources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Name: neuro-rg | Region: Central India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Contains: ACR + App Service Plan + Web App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Delete group → deletes all resources at once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587990" y="4278630"/>
            <a:ext cx="6987540" cy="2506980"/>
            <a:chOff x="0" y="0"/>
            <a:chExt cx="9316720" cy="3342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25400"/>
              <a:ext cx="92659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316720" cy="3342640"/>
            </a:xfrm>
            <a:custGeom>
              <a:avLst/>
              <a:gdLst/>
              <a:ahLst/>
              <a:cxnLst/>
              <a:rect r="r" b="b" t="t" l="l"/>
              <a:pathLst>
                <a:path h="3342640" w="9316720">
                  <a:moveTo>
                    <a:pt x="25400" y="0"/>
                  </a:moveTo>
                  <a:lnTo>
                    <a:pt x="9291320" y="0"/>
                  </a:lnTo>
                  <a:cubicBezTo>
                    <a:pt x="9305289" y="0"/>
                    <a:pt x="9316720" y="11430"/>
                    <a:pt x="9316720" y="25400"/>
                  </a:cubicBezTo>
                  <a:lnTo>
                    <a:pt x="9316720" y="3317240"/>
                  </a:lnTo>
                  <a:cubicBezTo>
                    <a:pt x="9316720" y="3331210"/>
                    <a:pt x="9305289" y="3342640"/>
                    <a:pt x="929132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9291320" y="3291840"/>
                  </a:lnTo>
                  <a:lnTo>
                    <a:pt x="9291320" y="3317240"/>
                  </a:lnTo>
                  <a:lnTo>
                    <a:pt x="9265920" y="3317240"/>
                  </a:lnTo>
                  <a:lnTo>
                    <a:pt x="9265920" y="25400"/>
                  </a:lnTo>
                  <a:lnTo>
                    <a:pt x="9291320" y="25400"/>
                  </a:lnTo>
                  <a:lnTo>
                    <a:pt x="92913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594343" y="4284983"/>
            <a:ext cx="153419" cy="2494283"/>
            <a:chOff x="0" y="0"/>
            <a:chExt cx="204559" cy="33257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881360" y="4389120"/>
            <a:ext cx="6583680" cy="512064"/>
            <a:chOff x="0" y="0"/>
            <a:chExt cx="877824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778240" cy="682752"/>
            </a:xfrm>
            <a:custGeom>
              <a:avLst/>
              <a:gdLst/>
              <a:ahLst/>
              <a:cxnLst/>
              <a:rect r="r" b="b" t="t" l="l"/>
              <a:pathLst>
                <a:path h="682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7782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F81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Service Plan (B1)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972800" y="4899660"/>
            <a:ext cx="6437376" cy="168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Defines compute power: 1 core, 1.75GB RAM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B1 = Basic tier — supports custom containers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--is-linux required for Docker containers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Shared by all Web Apps under the plan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587990" y="6930390"/>
            <a:ext cx="6987540" cy="2049780"/>
            <a:chOff x="0" y="0"/>
            <a:chExt cx="9316720" cy="273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5400"/>
              <a:ext cx="92659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316720" cy="2733040"/>
            </a:xfrm>
            <a:custGeom>
              <a:avLst/>
              <a:gdLst/>
              <a:ahLst/>
              <a:cxnLst/>
              <a:rect r="r" b="b" t="t" l="l"/>
              <a:pathLst>
                <a:path h="2733040" w="9316720">
                  <a:moveTo>
                    <a:pt x="25400" y="0"/>
                  </a:moveTo>
                  <a:lnTo>
                    <a:pt x="9291320" y="0"/>
                  </a:lnTo>
                  <a:cubicBezTo>
                    <a:pt x="9305289" y="0"/>
                    <a:pt x="9316720" y="11430"/>
                    <a:pt x="9316720" y="25400"/>
                  </a:cubicBezTo>
                  <a:lnTo>
                    <a:pt x="9316720" y="2707640"/>
                  </a:lnTo>
                  <a:cubicBezTo>
                    <a:pt x="9316720" y="2721610"/>
                    <a:pt x="9305289" y="2733040"/>
                    <a:pt x="9291320" y="2733040"/>
                  </a:cubicBezTo>
                  <a:lnTo>
                    <a:pt x="25400" y="2733040"/>
                  </a:lnTo>
                  <a:cubicBezTo>
                    <a:pt x="11430" y="2733040"/>
                    <a:pt x="0" y="2721610"/>
                    <a:pt x="0" y="27076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707640"/>
                  </a:lnTo>
                  <a:lnTo>
                    <a:pt x="25400" y="2707640"/>
                  </a:lnTo>
                  <a:lnTo>
                    <a:pt x="25400" y="2682240"/>
                  </a:lnTo>
                  <a:lnTo>
                    <a:pt x="9291320" y="2682240"/>
                  </a:lnTo>
                  <a:lnTo>
                    <a:pt x="9291320" y="2707640"/>
                  </a:lnTo>
                  <a:lnTo>
                    <a:pt x="9265920" y="2707640"/>
                  </a:lnTo>
                  <a:lnTo>
                    <a:pt x="9265920" y="25400"/>
                  </a:lnTo>
                  <a:lnTo>
                    <a:pt x="9291320" y="25400"/>
                  </a:lnTo>
                  <a:lnTo>
                    <a:pt x="92913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594343" y="6936743"/>
            <a:ext cx="153419" cy="2037083"/>
            <a:chOff x="0" y="0"/>
            <a:chExt cx="204559" cy="27161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2716022"/>
            </a:xfrm>
            <a:custGeom>
              <a:avLst/>
              <a:gdLst/>
              <a:ahLst/>
              <a:cxnLst/>
              <a:rect r="r" b="b" t="t" l="l"/>
              <a:pathLst>
                <a:path h="27160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699131"/>
                  </a:lnTo>
                  <a:cubicBezTo>
                    <a:pt x="204470" y="2708529"/>
                    <a:pt x="196850" y="2716022"/>
                    <a:pt x="18757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87579" y="2682240"/>
                  </a:lnTo>
                  <a:lnTo>
                    <a:pt x="187579" y="2699131"/>
                  </a:lnTo>
                  <a:lnTo>
                    <a:pt x="170688" y="26991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881360" y="7040880"/>
            <a:ext cx="6583680" cy="512064"/>
            <a:chOff x="0" y="0"/>
            <a:chExt cx="877824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778240" cy="682752"/>
            </a:xfrm>
            <a:custGeom>
              <a:avLst/>
              <a:gdLst/>
              <a:ahLst/>
              <a:cxnLst/>
              <a:rect r="r" b="b" t="t" l="l"/>
              <a:pathLst>
                <a:path h="682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87782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 CLI Note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972800" y="7551420"/>
            <a:ext cx="6437376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Use single-line commands in PowerShell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Line continuation: backtick (`) not backslash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az --version to verify CLI installation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az account show to confirm subscription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Deploying Container to Azure Web App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Connecting the Docker image to Azure App Service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9590" y="1626870"/>
            <a:ext cx="5890260" cy="4061460"/>
            <a:chOff x="0" y="0"/>
            <a:chExt cx="7853680" cy="5415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78028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53680" cy="5415280"/>
            </a:xfrm>
            <a:custGeom>
              <a:avLst/>
              <a:gdLst/>
              <a:ahLst/>
              <a:cxnLst/>
              <a:rect r="r" b="b" t="t" l="l"/>
              <a:pathLst>
                <a:path h="5415280" w="7853680">
                  <a:moveTo>
                    <a:pt x="25400" y="0"/>
                  </a:moveTo>
                  <a:lnTo>
                    <a:pt x="7828280" y="0"/>
                  </a:lnTo>
                  <a:cubicBezTo>
                    <a:pt x="7842250" y="0"/>
                    <a:pt x="7853680" y="11430"/>
                    <a:pt x="7853680" y="25400"/>
                  </a:cubicBezTo>
                  <a:lnTo>
                    <a:pt x="7853680" y="5389880"/>
                  </a:lnTo>
                  <a:cubicBezTo>
                    <a:pt x="7853680" y="5403850"/>
                    <a:pt x="7842250" y="5415280"/>
                    <a:pt x="7828280" y="5415280"/>
                  </a:cubicBezTo>
                  <a:lnTo>
                    <a:pt x="25400" y="5415280"/>
                  </a:lnTo>
                  <a:cubicBezTo>
                    <a:pt x="11430" y="5415280"/>
                    <a:pt x="0" y="5403850"/>
                    <a:pt x="0" y="5389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389880"/>
                  </a:lnTo>
                  <a:lnTo>
                    <a:pt x="25400" y="5389880"/>
                  </a:lnTo>
                  <a:lnTo>
                    <a:pt x="25400" y="5364480"/>
                  </a:lnTo>
                  <a:lnTo>
                    <a:pt x="7828280" y="5364480"/>
                  </a:lnTo>
                  <a:lnTo>
                    <a:pt x="7828280" y="5389880"/>
                  </a:lnTo>
                  <a:lnTo>
                    <a:pt x="7802880" y="5389880"/>
                  </a:lnTo>
                  <a:lnTo>
                    <a:pt x="7802880" y="25400"/>
                  </a:lnTo>
                  <a:lnTo>
                    <a:pt x="7828280" y="25400"/>
                  </a:lnTo>
                  <a:lnTo>
                    <a:pt x="78282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633223"/>
            <a:ext cx="153419" cy="4048763"/>
            <a:chOff x="0" y="0"/>
            <a:chExt cx="204559" cy="539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5364480"/>
            </a:xfrm>
            <a:custGeom>
              <a:avLst/>
              <a:gdLst/>
              <a:ahLst/>
              <a:cxnLst/>
              <a:rect r="r" b="b" t="t" l="l"/>
              <a:pathLst>
                <a:path h="53644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5398262"/>
            </a:xfrm>
            <a:custGeom>
              <a:avLst/>
              <a:gdLst/>
              <a:ahLst/>
              <a:cxnLst/>
              <a:rect r="r" b="b" t="t" l="l"/>
              <a:pathLst>
                <a:path h="53982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381371"/>
                  </a:lnTo>
                  <a:cubicBezTo>
                    <a:pt x="204470" y="5390769"/>
                    <a:pt x="196850" y="5398262"/>
                    <a:pt x="187579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187579" y="5364480"/>
                  </a:lnTo>
                  <a:lnTo>
                    <a:pt x="187579" y="5381371"/>
                  </a:lnTo>
                  <a:lnTo>
                    <a:pt x="170688" y="53813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737360"/>
            <a:ext cx="5486400" cy="512064"/>
            <a:chOff x="0" y="0"/>
            <a:chExt cx="731520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315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8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 Center Setup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8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(Azure Portal)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247900"/>
            <a:ext cx="5340096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App Service → Deployment Center → Containers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Source: Azure Container Registry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Registry: neuroregistry123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Image: neurofuzzy-app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Tag: v8 (or latest for CI/CD)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Auth: Admin Credentials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Click Save → Azure pulls image automatically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736918" y="1633223"/>
            <a:ext cx="10832269" cy="4055107"/>
            <a:chOff x="0" y="0"/>
            <a:chExt cx="14420431" cy="53983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43865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14386560">
                  <a:moveTo>
                    <a:pt x="0" y="0"/>
                  </a:moveTo>
                  <a:lnTo>
                    <a:pt x="14386560" y="0"/>
                  </a:lnTo>
                  <a:lnTo>
                    <a:pt x="143865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420343" cy="5398262"/>
            </a:xfrm>
            <a:custGeom>
              <a:avLst/>
              <a:gdLst/>
              <a:ahLst/>
              <a:cxnLst/>
              <a:rect r="r" b="b" t="t" l="l"/>
              <a:pathLst>
                <a:path h="5398262" w="14420343">
                  <a:moveTo>
                    <a:pt x="16891" y="0"/>
                  </a:moveTo>
                  <a:lnTo>
                    <a:pt x="14403451" y="0"/>
                  </a:lnTo>
                  <a:cubicBezTo>
                    <a:pt x="14412849" y="0"/>
                    <a:pt x="14420343" y="7620"/>
                    <a:pt x="14420343" y="16891"/>
                  </a:cubicBezTo>
                  <a:lnTo>
                    <a:pt x="14420343" y="5381371"/>
                  </a:lnTo>
                  <a:cubicBezTo>
                    <a:pt x="14420343" y="5390769"/>
                    <a:pt x="14412723" y="5398262"/>
                    <a:pt x="14403451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14403451" y="5364480"/>
                  </a:lnTo>
                  <a:lnTo>
                    <a:pt x="14403451" y="5381371"/>
                  </a:lnTo>
                  <a:lnTo>
                    <a:pt x="14386561" y="5381371"/>
                  </a:lnTo>
                  <a:lnTo>
                    <a:pt x="14386561" y="16891"/>
                  </a:lnTo>
                  <a:lnTo>
                    <a:pt x="14403451" y="16891"/>
                  </a:lnTo>
                  <a:lnTo>
                    <a:pt x="14403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753863" y="1633223"/>
            <a:ext cx="10815323" cy="427739"/>
            <a:chOff x="0" y="0"/>
            <a:chExt cx="14420431" cy="5703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4386560" cy="536448"/>
            </a:xfrm>
            <a:custGeom>
              <a:avLst/>
              <a:gdLst/>
              <a:ahLst/>
              <a:cxnLst/>
              <a:rect r="r" b="b" t="t" l="l"/>
              <a:pathLst>
                <a:path h="536448" w="14386560">
                  <a:moveTo>
                    <a:pt x="0" y="0"/>
                  </a:moveTo>
                  <a:lnTo>
                    <a:pt x="14386560" y="0"/>
                  </a:lnTo>
                  <a:lnTo>
                    <a:pt x="1438656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C212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420343" cy="570232"/>
            </a:xfrm>
            <a:custGeom>
              <a:avLst/>
              <a:gdLst/>
              <a:ahLst/>
              <a:cxnLst/>
              <a:rect r="r" b="b" t="t" l="l"/>
              <a:pathLst>
                <a:path h="570232" w="14420343">
                  <a:moveTo>
                    <a:pt x="16891" y="0"/>
                  </a:moveTo>
                  <a:lnTo>
                    <a:pt x="14403451" y="0"/>
                  </a:lnTo>
                  <a:cubicBezTo>
                    <a:pt x="14412849" y="0"/>
                    <a:pt x="14420343" y="7620"/>
                    <a:pt x="14420343" y="16891"/>
                  </a:cubicBezTo>
                  <a:lnTo>
                    <a:pt x="14420343" y="553339"/>
                  </a:lnTo>
                  <a:cubicBezTo>
                    <a:pt x="14420343" y="562737"/>
                    <a:pt x="14412723" y="570230"/>
                    <a:pt x="1440345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4403451" y="536448"/>
                  </a:lnTo>
                  <a:lnTo>
                    <a:pt x="14403451" y="553339"/>
                  </a:lnTo>
                  <a:lnTo>
                    <a:pt x="14386561" y="553339"/>
                  </a:lnTo>
                  <a:lnTo>
                    <a:pt x="14386561" y="16891"/>
                  </a:lnTo>
                  <a:lnTo>
                    <a:pt x="14403451" y="16891"/>
                  </a:lnTo>
                  <a:lnTo>
                    <a:pt x="14403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12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949440" y="1682496"/>
            <a:ext cx="10424160" cy="329184"/>
            <a:chOff x="0" y="0"/>
            <a:chExt cx="13898880" cy="4389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898880" cy="438912"/>
            </a:xfrm>
            <a:custGeom>
              <a:avLst/>
              <a:gdLst/>
              <a:ahLst/>
              <a:cxnLst/>
              <a:rect r="r" b="b" t="t" l="l"/>
              <a:pathLst>
                <a:path h="43891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8988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$ terminal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949440" y="2046732"/>
            <a:ext cx="9523139" cy="382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5"/>
              </a:lnSpc>
            </a:pPr>
            <a:r>
              <a:rPr lang="en-US" sz="1595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Configure container source via CLI</a:t>
            </a:r>
          </a:p>
          <a:p>
            <a:pPr algn="l">
              <a:lnSpc>
                <a:spcPts val="1915"/>
              </a:lnSpc>
            </a:pPr>
            <a:r>
              <a:rPr lang="en-US" sz="1595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az webapp config container set \</a:t>
            </a:r>
          </a:p>
          <a:p>
            <a:pPr algn="l">
              <a:lnSpc>
                <a:spcPts val="1915"/>
              </a:lnSpc>
            </a:pPr>
            <a:r>
              <a:rPr lang="en-US" sz="1595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--name neurofuzzy-depression \</a:t>
            </a:r>
          </a:p>
          <a:p>
            <a:pPr algn="l">
              <a:lnSpc>
                <a:spcPts val="1915"/>
              </a:lnSpc>
            </a:pPr>
            <a:r>
              <a:rPr lang="en-US" sz="1595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--resource-group neuro-rg \</a:t>
            </a:r>
          </a:p>
          <a:p>
            <a:pPr algn="l">
              <a:lnSpc>
                <a:spcPts val="1915"/>
              </a:lnSpc>
            </a:pPr>
            <a:r>
              <a:rPr lang="en-US" sz="1595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--container-image-name \</a:t>
            </a:r>
          </a:p>
          <a:p>
            <a:pPr algn="l">
              <a:lnSpc>
                <a:spcPts val="1915"/>
              </a:lnSpc>
            </a:pPr>
            <a:r>
              <a:rPr lang="en-US" sz="1595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  neuroregistry123.azurecr.io/neurofuzzy-app:v1 \</a:t>
            </a:r>
          </a:p>
          <a:p>
            <a:pPr algn="l">
              <a:lnSpc>
                <a:spcPts val="1915"/>
              </a:lnSpc>
            </a:pPr>
            <a:r>
              <a:rPr lang="en-US" sz="1595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--container-registry-url \</a:t>
            </a:r>
          </a:p>
          <a:p>
            <a:pPr algn="l">
              <a:lnSpc>
                <a:spcPts val="1915"/>
              </a:lnSpc>
            </a:pPr>
            <a:r>
              <a:rPr lang="en-US" sz="1595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  https://neuroregistry123.azurecr.io \</a:t>
            </a:r>
          </a:p>
          <a:p>
            <a:pPr algn="l">
              <a:lnSpc>
                <a:spcPts val="1915"/>
              </a:lnSpc>
            </a:pPr>
            <a:r>
              <a:rPr lang="en-US" sz="1595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--container-registry-user neuroregistry123 \</a:t>
            </a:r>
          </a:p>
          <a:p>
            <a:pPr algn="l">
              <a:lnSpc>
                <a:spcPts val="1915"/>
              </a:lnSpc>
            </a:pPr>
            <a:r>
              <a:rPr lang="en-US" sz="1595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--container-registry-password &lt;PASSWORD&gt;</a:t>
            </a:r>
          </a:p>
          <a:p>
            <a:pPr algn="l">
              <a:lnSpc>
                <a:spcPts val="1915"/>
              </a:lnSpc>
            </a:pPr>
          </a:p>
          <a:p>
            <a:pPr algn="l">
              <a:lnSpc>
                <a:spcPts val="1915"/>
              </a:lnSpc>
            </a:pPr>
            <a:r>
              <a:rPr lang="en-US" sz="1595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Restart to apply changes</a:t>
            </a:r>
          </a:p>
          <a:p>
            <a:pPr algn="l">
              <a:lnSpc>
                <a:spcPts val="1915"/>
              </a:lnSpc>
            </a:pPr>
            <a:r>
              <a:rPr lang="en-US" sz="1595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az webapp restart \</a:t>
            </a:r>
          </a:p>
          <a:p>
            <a:pPr algn="l">
              <a:lnSpc>
                <a:spcPts val="1915"/>
              </a:lnSpc>
            </a:pPr>
            <a:r>
              <a:rPr lang="en-US" sz="1595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--name neurofuzzy-depression \</a:t>
            </a:r>
          </a:p>
          <a:p>
            <a:pPr algn="l">
              <a:lnSpc>
                <a:spcPts val="1915"/>
              </a:lnSpc>
            </a:pPr>
            <a:r>
              <a:rPr lang="en-US" sz="1595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--resource-group neuro-rg</a:t>
            </a:r>
          </a:p>
          <a:p>
            <a:pPr algn="l">
              <a:lnSpc>
                <a:spcPts val="1915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535943" y="6153150"/>
            <a:ext cx="8237018" cy="2740615"/>
            <a:chOff x="0" y="0"/>
            <a:chExt cx="11023600" cy="36677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20422"/>
              <a:ext cx="10972800" cy="3626921"/>
            </a:xfrm>
            <a:custGeom>
              <a:avLst/>
              <a:gdLst/>
              <a:ahLst/>
              <a:cxnLst/>
              <a:rect r="r" b="b" t="t" l="l"/>
              <a:pathLst>
                <a:path h="362692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626920"/>
                  </a:lnTo>
                  <a:lnTo>
                    <a:pt x="0" y="362692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23600" cy="3667764"/>
            </a:xfrm>
            <a:custGeom>
              <a:avLst/>
              <a:gdLst/>
              <a:ahLst/>
              <a:cxnLst/>
              <a:rect r="r" b="b" t="t" l="l"/>
              <a:pathLst>
                <a:path h="3667764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9190"/>
                    <a:pt x="11023600" y="20422"/>
                  </a:cubicBezTo>
                  <a:lnTo>
                    <a:pt x="11023600" y="3647342"/>
                  </a:lnTo>
                  <a:cubicBezTo>
                    <a:pt x="11023600" y="3658575"/>
                    <a:pt x="11012170" y="3667764"/>
                    <a:pt x="10998200" y="3667764"/>
                  </a:cubicBezTo>
                  <a:lnTo>
                    <a:pt x="25400" y="3667764"/>
                  </a:lnTo>
                  <a:cubicBezTo>
                    <a:pt x="11430" y="3667764"/>
                    <a:pt x="0" y="3658575"/>
                    <a:pt x="0" y="3647342"/>
                  </a:cubicBezTo>
                  <a:lnTo>
                    <a:pt x="0" y="20422"/>
                  </a:lnTo>
                  <a:cubicBezTo>
                    <a:pt x="0" y="9190"/>
                    <a:pt x="11430" y="0"/>
                    <a:pt x="25400" y="0"/>
                  </a:cubicBezTo>
                  <a:moveTo>
                    <a:pt x="25400" y="40844"/>
                  </a:moveTo>
                  <a:lnTo>
                    <a:pt x="25400" y="20422"/>
                  </a:lnTo>
                  <a:lnTo>
                    <a:pt x="50800" y="20422"/>
                  </a:lnTo>
                  <a:lnTo>
                    <a:pt x="50800" y="3647342"/>
                  </a:lnTo>
                  <a:lnTo>
                    <a:pt x="25400" y="3647342"/>
                  </a:lnTo>
                  <a:lnTo>
                    <a:pt x="25400" y="3626921"/>
                  </a:lnTo>
                  <a:lnTo>
                    <a:pt x="10998200" y="3626921"/>
                  </a:lnTo>
                  <a:lnTo>
                    <a:pt x="10998200" y="3647342"/>
                  </a:lnTo>
                  <a:lnTo>
                    <a:pt x="10972800" y="3647342"/>
                  </a:lnTo>
                  <a:lnTo>
                    <a:pt x="10972800" y="20422"/>
                  </a:lnTo>
                  <a:lnTo>
                    <a:pt x="10998200" y="20422"/>
                  </a:lnTo>
                  <a:lnTo>
                    <a:pt x="10998200" y="40844"/>
                  </a:lnTo>
                  <a:lnTo>
                    <a:pt x="25400" y="40844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66012" y="6153150"/>
            <a:ext cx="123351" cy="2740615"/>
            <a:chOff x="0" y="0"/>
            <a:chExt cx="204559" cy="45449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70688" cy="4511040"/>
            </a:xfrm>
            <a:custGeom>
              <a:avLst/>
              <a:gdLst/>
              <a:ahLst/>
              <a:cxnLst/>
              <a:rect r="r" b="b" t="t" l="l"/>
              <a:pathLst>
                <a:path h="45110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4470" cy="4544822"/>
            </a:xfrm>
            <a:custGeom>
              <a:avLst/>
              <a:gdLst/>
              <a:ahLst/>
              <a:cxnLst/>
              <a:rect r="r" b="b" t="t" l="l"/>
              <a:pathLst>
                <a:path h="45448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6159498"/>
            <a:ext cx="7863840" cy="512064"/>
            <a:chOff x="0" y="0"/>
            <a:chExt cx="1048512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BC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 Flow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89362" y="6709662"/>
            <a:ext cx="7717536" cy="259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1. Azure pulls image from ACR using credentials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2. Container is started on Linux B1 instance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3. Uvicorn serves FastAPI on port 8000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4. Azure proxies port 80/443 → port 8000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5. Public URL becomes accessible globally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URL: https://neurofuzzy-depression.azurewebsites.net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131303" y="6153150"/>
            <a:ext cx="8450580" cy="2740615"/>
            <a:chOff x="0" y="0"/>
            <a:chExt cx="11267440" cy="365415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0346"/>
              <a:ext cx="11216640" cy="3613461"/>
            </a:xfrm>
            <a:custGeom>
              <a:avLst/>
              <a:gdLst/>
              <a:ahLst/>
              <a:cxnLst/>
              <a:rect r="r" b="b" t="t" l="l"/>
              <a:pathLst>
                <a:path h="3613461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613461"/>
                  </a:lnTo>
                  <a:lnTo>
                    <a:pt x="0" y="3613461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67440" cy="3654153"/>
            </a:xfrm>
            <a:custGeom>
              <a:avLst/>
              <a:gdLst/>
              <a:ahLst/>
              <a:cxnLst/>
              <a:rect r="r" b="b" t="t" l="l"/>
              <a:pathLst>
                <a:path h="3654153" w="11267440">
                  <a:moveTo>
                    <a:pt x="25400" y="0"/>
                  </a:moveTo>
                  <a:lnTo>
                    <a:pt x="11242040" y="0"/>
                  </a:lnTo>
                  <a:cubicBezTo>
                    <a:pt x="11256010" y="0"/>
                    <a:pt x="11267440" y="9156"/>
                    <a:pt x="11267440" y="20346"/>
                  </a:cubicBezTo>
                  <a:lnTo>
                    <a:pt x="11267440" y="3633807"/>
                  </a:lnTo>
                  <a:cubicBezTo>
                    <a:pt x="11267440" y="3644998"/>
                    <a:pt x="11256010" y="3654153"/>
                    <a:pt x="11242040" y="3654153"/>
                  </a:cubicBezTo>
                  <a:lnTo>
                    <a:pt x="25400" y="3654153"/>
                  </a:lnTo>
                  <a:cubicBezTo>
                    <a:pt x="11430" y="3654153"/>
                    <a:pt x="0" y="3644998"/>
                    <a:pt x="0" y="3633807"/>
                  </a:cubicBezTo>
                  <a:lnTo>
                    <a:pt x="0" y="20346"/>
                  </a:lnTo>
                  <a:cubicBezTo>
                    <a:pt x="0" y="9156"/>
                    <a:pt x="11430" y="0"/>
                    <a:pt x="25400" y="0"/>
                  </a:cubicBezTo>
                  <a:moveTo>
                    <a:pt x="25400" y="40692"/>
                  </a:moveTo>
                  <a:lnTo>
                    <a:pt x="25400" y="20346"/>
                  </a:lnTo>
                  <a:lnTo>
                    <a:pt x="50800" y="20346"/>
                  </a:lnTo>
                  <a:lnTo>
                    <a:pt x="50800" y="3633807"/>
                  </a:lnTo>
                  <a:lnTo>
                    <a:pt x="25400" y="3633807"/>
                  </a:lnTo>
                  <a:lnTo>
                    <a:pt x="25400" y="3613461"/>
                  </a:lnTo>
                  <a:lnTo>
                    <a:pt x="11242040" y="3613461"/>
                  </a:lnTo>
                  <a:lnTo>
                    <a:pt x="11242040" y="3633807"/>
                  </a:lnTo>
                  <a:lnTo>
                    <a:pt x="11216640" y="3633807"/>
                  </a:lnTo>
                  <a:lnTo>
                    <a:pt x="11216640" y="20346"/>
                  </a:lnTo>
                  <a:lnTo>
                    <a:pt x="11242040" y="20346"/>
                  </a:lnTo>
                  <a:lnTo>
                    <a:pt x="11242040" y="40692"/>
                  </a:lnTo>
                  <a:lnTo>
                    <a:pt x="25400" y="40692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161658" y="6159498"/>
            <a:ext cx="123065" cy="2734266"/>
            <a:chOff x="0" y="0"/>
            <a:chExt cx="204559" cy="45449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4511040"/>
            </a:xfrm>
            <a:custGeom>
              <a:avLst/>
              <a:gdLst/>
              <a:ahLst/>
              <a:cxnLst/>
              <a:rect r="r" b="b" t="t" l="l"/>
              <a:pathLst>
                <a:path h="45110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4544822"/>
            </a:xfrm>
            <a:custGeom>
              <a:avLst/>
              <a:gdLst/>
              <a:ahLst/>
              <a:cxnLst/>
              <a:rect r="r" b="b" t="t" l="l"/>
              <a:pathLst>
                <a:path h="45448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358884" y="6159498"/>
            <a:ext cx="8046720" cy="512064"/>
            <a:chOff x="0" y="0"/>
            <a:chExt cx="1072896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728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Container Status States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223190" y="6662037"/>
            <a:ext cx="7900416" cy="259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Starting → container boot in progress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Running → app serving requests ✅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Unknown → timeout or crash during boot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Blocked → SiteStartupCancelled (timeout hit)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Stopped → app crashed after startup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Fix: check Log Stream for exact error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Configuring Port &amp; Environment Variables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Critical Azure settings for container to work correctly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41280" y="1737360"/>
            <a:ext cx="7132320" cy="475488"/>
            <a:chOff x="0" y="0"/>
            <a:chExt cx="9509760" cy="633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It's Needed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20051" y="1554480"/>
            <a:ext cx="17447908" cy="5692380"/>
          </a:xfrm>
          <a:custGeom>
            <a:avLst/>
            <a:gdLst/>
            <a:ahLst/>
            <a:cxnLst/>
            <a:rect r="r" b="b" t="t" l="l"/>
            <a:pathLst>
              <a:path h="5692380" w="17447908">
                <a:moveTo>
                  <a:pt x="0" y="0"/>
                </a:moveTo>
                <a:lnTo>
                  <a:pt x="17447908" y="0"/>
                </a:lnTo>
                <a:lnTo>
                  <a:pt x="17447908" y="5692380"/>
                </a:lnTo>
                <a:lnTo>
                  <a:pt x="0" y="5692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502390" y="6545580"/>
            <a:ext cx="6054090" cy="548640"/>
            <a:chOff x="0" y="0"/>
            <a:chExt cx="80721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72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72120">
                  <a:moveTo>
                    <a:pt x="0" y="0"/>
                  </a:moveTo>
                  <a:lnTo>
                    <a:pt x="8072120" y="0"/>
                  </a:lnTo>
                  <a:lnTo>
                    <a:pt x="8072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-17809" b="-20330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72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Tells Azure which port the container listens on (default is 80)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502390" y="5143500"/>
            <a:ext cx="7132320" cy="548640"/>
            <a:chOff x="0" y="0"/>
            <a:chExt cx="950976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Extends startup timeout to 30min for heavy ML model loading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502390" y="3619500"/>
            <a:ext cx="7132320" cy="548640"/>
            <a:chOff x="0" y="0"/>
            <a:chExt cx="950976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ACR server URL for image pull authentication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508743" y="4400670"/>
            <a:ext cx="7132320" cy="548640"/>
            <a:chOff x="0" y="0"/>
            <a:chExt cx="950976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ACR admin username for authentication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502390" y="2842260"/>
            <a:ext cx="7132320" cy="548640"/>
            <a:chOff x="0" y="0"/>
            <a:chExt cx="95097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ACR admin password (sensitive credential)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20051" y="7427835"/>
            <a:ext cx="10777533" cy="2075809"/>
            <a:chOff x="0" y="0"/>
            <a:chExt cx="14370044" cy="2767745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4370044" cy="2767745"/>
              <a:chOff x="0" y="0"/>
              <a:chExt cx="14176591" cy="273048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16891" y="18655"/>
                <a:ext cx="14142719" cy="2693077"/>
              </a:xfrm>
              <a:custGeom>
                <a:avLst/>
                <a:gdLst/>
                <a:ahLst/>
                <a:cxnLst/>
                <a:rect r="r" b="b" t="t" l="l"/>
                <a:pathLst>
                  <a:path h="2693077" w="14142719">
                    <a:moveTo>
                      <a:pt x="0" y="0"/>
                    </a:moveTo>
                    <a:lnTo>
                      <a:pt x="14142719" y="0"/>
                    </a:lnTo>
                    <a:lnTo>
                      <a:pt x="14142719" y="2693077"/>
                    </a:lnTo>
                    <a:lnTo>
                      <a:pt x="0" y="2693077"/>
                    </a:lnTo>
                    <a:close/>
                  </a:path>
                </a:pathLst>
              </a:custGeom>
              <a:solidFill>
                <a:srgbClr val="0D1117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4176502" cy="2730387"/>
              </a:xfrm>
              <a:custGeom>
                <a:avLst/>
                <a:gdLst/>
                <a:ahLst/>
                <a:cxnLst/>
                <a:rect r="r" b="b" t="t" l="l"/>
                <a:pathLst>
                  <a:path h="2730387" w="14176502">
                    <a:moveTo>
                      <a:pt x="16891" y="0"/>
                    </a:moveTo>
                    <a:lnTo>
                      <a:pt x="14159610" y="0"/>
                    </a:lnTo>
                    <a:cubicBezTo>
                      <a:pt x="14169008" y="0"/>
                      <a:pt x="14176502" y="8416"/>
                      <a:pt x="14176502" y="18655"/>
                    </a:cubicBezTo>
                    <a:lnTo>
                      <a:pt x="14176502" y="2711732"/>
                    </a:lnTo>
                    <a:cubicBezTo>
                      <a:pt x="14176502" y="2722111"/>
                      <a:pt x="14168882" y="2730387"/>
                      <a:pt x="14159610" y="2730387"/>
                    </a:cubicBezTo>
                    <a:lnTo>
                      <a:pt x="16891" y="2730387"/>
                    </a:lnTo>
                    <a:cubicBezTo>
                      <a:pt x="7493" y="2730387"/>
                      <a:pt x="0" y="2721971"/>
                      <a:pt x="0" y="2711732"/>
                    </a:cubicBezTo>
                    <a:lnTo>
                      <a:pt x="0" y="18655"/>
                    </a:lnTo>
                    <a:cubicBezTo>
                      <a:pt x="0" y="8416"/>
                      <a:pt x="7620" y="0"/>
                      <a:pt x="16891" y="0"/>
                    </a:cubicBezTo>
                    <a:moveTo>
                      <a:pt x="16891" y="37451"/>
                    </a:moveTo>
                    <a:lnTo>
                      <a:pt x="16891" y="18655"/>
                    </a:lnTo>
                    <a:lnTo>
                      <a:pt x="33909" y="18655"/>
                    </a:lnTo>
                    <a:lnTo>
                      <a:pt x="33909" y="2711732"/>
                    </a:lnTo>
                    <a:lnTo>
                      <a:pt x="16891" y="2711732"/>
                    </a:lnTo>
                    <a:lnTo>
                      <a:pt x="16891" y="2693077"/>
                    </a:lnTo>
                    <a:lnTo>
                      <a:pt x="14159610" y="2693077"/>
                    </a:lnTo>
                    <a:lnTo>
                      <a:pt x="14159610" y="2711732"/>
                    </a:lnTo>
                    <a:lnTo>
                      <a:pt x="14142720" y="2711732"/>
                    </a:lnTo>
                    <a:lnTo>
                      <a:pt x="14142720" y="18655"/>
                    </a:lnTo>
                    <a:lnTo>
                      <a:pt x="14159610" y="18655"/>
                    </a:lnTo>
                    <a:lnTo>
                      <a:pt x="14159610" y="37451"/>
                    </a:lnTo>
                    <a:lnTo>
                      <a:pt x="16891" y="37451"/>
                    </a:lnTo>
                    <a:close/>
                  </a:path>
                </a:pathLst>
              </a:custGeom>
              <a:solidFill>
                <a:srgbClr val="2F81F7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14370044" cy="578101"/>
              <a:chOff x="0" y="0"/>
              <a:chExt cx="14176591" cy="57031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6891" y="16891"/>
                <a:ext cx="14142719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14142719">
                    <a:moveTo>
                      <a:pt x="0" y="0"/>
                    </a:moveTo>
                    <a:lnTo>
                      <a:pt x="14142719" y="0"/>
                    </a:lnTo>
                    <a:lnTo>
                      <a:pt x="14142719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solidFill>
                <a:srgbClr val="1C2128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4176502" cy="570232"/>
              </a:xfrm>
              <a:custGeom>
                <a:avLst/>
                <a:gdLst/>
                <a:ahLst/>
                <a:cxnLst/>
                <a:rect r="r" b="b" t="t" l="l"/>
                <a:pathLst>
                  <a:path h="570232" w="14176502">
                    <a:moveTo>
                      <a:pt x="16891" y="0"/>
                    </a:moveTo>
                    <a:lnTo>
                      <a:pt x="14159610" y="0"/>
                    </a:lnTo>
                    <a:cubicBezTo>
                      <a:pt x="14169008" y="0"/>
                      <a:pt x="14176502" y="7620"/>
                      <a:pt x="14176502" y="16891"/>
                    </a:cubicBezTo>
                    <a:lnTo>
                      <a:pt x="14176502" y="553339"/>
                    </a:lnTo>
                    <a:cubicBezTo>
                      <a:pt x="14176502" y="562737"/>
                      <a:pt x="14168882" y="570230"/>
                      <a:pt x="14159610" y="570230"/>
                    </a:cubicBezTo>
                    <a:lnTo>
                      <a:pt x="16891" y="570230"/>
                    </a:lnTo>
                    <a:cubicBezTo>
                      <a:pt x="7620" y="570357"/>
                      <a:pt x="0" y="562737"/>
                      <a:pt x="0" y="5533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553339"/>
                    </a:lnTo>
                    <a:lnTo>
                      <a:pt x="16891" y="553339"/>
                    </a:lnTo>
                    <a:lnTo>
                      <a:pt x="16891" y="536448"/>
                    </a:lnTo>
                    <a:lnTo>
                      <a:pt x="14159610" y="536448"/>
                    </a:lnTo>
                    <a:lnTo>
                      <a:pt x="14159610" y="553339"/>
                    </a:lnTo>
                    <a:lnTo>
                      <a:pt x="14142720" y="553339"/>
                    </a:lnTo>
                    <a:lnTo>
                      <a:pt x="14142720" y="16891"/>
                    </a:lnTo>
                    <a:lnTo>
                      <a:pt x="14159610" y="16891"/>
                    </a:lnTo>
                    <a:lnTo>
                      <a:pt x="14159610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C2128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264328" y="66594"/>
              <a:ext cx="13841376" cy="444901"/>
              <a:chOff x="0" y="0"/>
              <a:chExt cx="13655040" cy="438912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3655039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13655039">
                    <a:moveTo>
                      <a:pt x="0" y="0"/>
                    </a:moveTo>
                    <a:lnTo>
                      <a:pt x="13655039" y="0"/>
                    </a:lnTo>
                    <a:lnTo>
                      <a:pt x="13655039" y="438912"/>
                    </a:lnTo>
                    <a:lnTo>
                      <a:pt x="0" y="43891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556201" r="0" b="-556201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3655040" cy="47701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19"/>
                  </a:lnSpc>
                </a:pPr>
                <a:r>
                  <a:rPr lang="en-US" sz="1599">
                    <a:solidFill>
                      <a:srgbClr val="8B949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$ terminal</a:t>
                </a: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13761" y="572262"/>
              <a:ext cx="13791942" cy="1768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az webapp config appsettings set --name neurofuzzy-depression \</a:t>
              </a:r>
            </a:p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--resource-group neuro-rg \</a:t>
              </a:r>
            </a:p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--settings WEBSITES_PORT=8000 WEBSITES_CONTAINER_START_TIME_LIMIT=1800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502390" y="7391400"/>
            <a:ext cx="6073140" cy="2167642"/>
            <a:chOff x="0" y="0"/>
            <a:chExt cx="8097520" cy="289019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8097520" cy="2890190"/>
              <a:chOff x="0" y="0"/>
              <a:chExt cx="8097520" cy="289019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25400" y="29492"/>
                <a:ext cx="8046720" cy="2831206"/>
              </a:xfrm>
              <a:custGeom>
                <a:avLst/>
                <a:gdLst/>
                <a:ahLst/>
                <a:cxnLst/>
                <a:rect r="r" b="b" t="t" l="l"/>
                <a:pathLst>
                  <a:path h="2831206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2831206"/>
                    </a:lnTo>
                    <a:lnTo>
                      <a:pt x="0" y="2831206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097520" cy="2890190"/>
              </a:xfrm>
              <a:custGeom>
                <a:avLst/>
                <a:gdLst/>
                <a:ahLst/>
                <a:cxnLst/>
                <a:rect r="r" b="b" t="t" l="l"/>
                <a:pathLst>
                  <a:path h="2890190" w="8097520">
                    <a:moveTo>
                      <a:pt x="25400" y="0"/>
                    </a:moveTo>
                    <a:lnTo>
                      <a:pt x="8072120" y="0"/>
                    </a:lnTo>
                    <a:cubicBezTo>
                      <a:pt x="8086089" y="0"/>
                      <a:pt x="8097520" y="13271"/>
                      <a:pt x="8097520" y="29492"/>
                    </a:cubicBezTo>
                    <a:lnTo>
                      <a:pt x="8097520" y="2860698"/>
                    </a:lnTo>
                    <a:cubicBezTo>
                      <a:pt x="8097520" y="2876919"/>
                      <a:pt x="8086089" y="2890190"/>
                      <a:pt x="8072120" y="2890190"/>
                    </a:cubicBezTo>
                    <a:lnTo>
                      <a:pt x="25400" y="2890190"/>
                    </a:lnTo>
                    <a:cubicBezTo>
                      <a:pt x="11430" y="2890190"/>
                      <a:pt x="0" y="2876919"/>
                      <a:pt x="0" y="2860698"/>
                    </a:cubicBezTo>
                    <a:lnTo>
                      <a:pt x="0" y="29492"/>
                    </a:lnTo>
                    <a:cubicBezTo>
                      <a:pt x="0" y="13271"/>
                      <a:pt x="11430" y="0"/>
                      <a:pt x="25400" y="0"/>
                    </a:cubicBezTo>
                    <a:moveTo>
                      <a:pt x="25400" y="58983"/>
                    </a:moveTo>
                    <a:lnTo>
                      <a:pt x="25400" y="29492"/>
                    </a:lnTo>
                    <a:lnTo>
                      <a:pt x="50800" y="29492"/>
                    </a:lnTo>
                    <a:lnTo>
                      <a:pt x="50800" y="2860698"/>
                    </a:lnTo>
                    <a:lnTo>
                      <a:pt x="25400" y="2860698"/>
                    </a:lnTo>
                    <a:lnTo>
                      <a:pt x="25400" y="2831206"/>
                    </a:lnTo>
                    <a:lnTo>
                      <a:pt x="8072120" y="2831206"/>
                    </a:lnTo>
                    <a:lnTo>
                      <a:pt x="8072120" y="2860698"/>
                    </a:lnTo>
                    <a:lnTo>
                      <a:pt x="8046720" y="2860698"/>
                    </a:lnTo>
                    <a:lnTo>
                      <a:pt x="8046720" y="29492"/>
                    </a:lnTo>
                    <a:lnTo>
                      <a:pt x="8072120" y="29492"/>
                    </a:lnTo>
                    <a:lnTo>
                      <a:pt x="8072120" y="58983"/>
                    </a:lnTo>
                    <a:lnTo>
                      <a:pt x="25400" y="58983"/>
                    </a:lnTo>
                    <a:close/>
                  </a:path>
                </a:pathLst>
              </a:custGeom>
              <a:solidFill>
                <a:srgbClr val="F0883E"/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8471" y="9835"/>
              <a:ext cx="204559" cy="2870534"/>
              <a:chOff x="0" y="0"/>
              <a:chExt cx="204559" cy="2870534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6891" y="19612"/>
                <a:ext cx="170688" cy="2831206"/>
              </a:xfrm>
              <a:custGeom>
                <a:avLst/>
                <a:gdLst/>
                <a:ahLst/>
                <a:cxnLst/>
                <a:rect r="r" b="b" t="t" l="l"/>
                <a:pathLst>
                  <a:path h="2831206" w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2831206"/>
                    </a:lnTo>
                    <a:lnTo>
                      <a:pt x="0" y="2831206"/>
                    </a:lnTo>
                    <a:close/>
                  </a:path>
                </a:pathLst>
              </a:custGeom>
              <a:solidFill>
                <a:srgbClr val="F0883E"/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04470" cy="2870430"/>
              </a:xfrm>
              <a:custGeom>
                <a:avLst/>
                <a:gdLst/>
                <a:ahLst/>
                <a:cxnLst/>
                <a:rect r="r" b="b" t="t" l="l"/>
                <a:pathLst>
                  <a:path h="2870430" w="204470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8848"/>
                      <a:pt x="204470" y="19612"/>
                    </a:cubicBezTo>
                    <a:lnTo>
                      <a:pt x="204470" y="2850818"/>
                    </a:lnTo>
                    <a:cubicBezTo>
                      <a:pt x="204470" y="2861730"/>
                      <a:pt x="196850" y="2870430"/>
                      <a:pt x="187579" y="2870430"/>
                    </a:cubicBezTo>
                    <a:lnTo>
                      <a:pt x="16891" y="2870430"/>
                    </a:lnTo>
                    <a:cubicBezTo>
                      <a:pt x="7493" y="2870430"/>
                      <a:pt x="0" y="2861583"/>
                      <a:pt x="0" y="2850818"/>
                    </a:cubicBezTo>
                    <a:lnTo>
                      <a:pt x="0" y="19612"/>
                    </a:lnTo>
                    <a:cubicBezTo>
                      <a:pt x="0" y="8848"/>
                      <a:pt x="7620" y="0"/>
                      <a:pt x="16891" y="0"/>
                    </a:cubicBezTo>
                    <a:moveTo>
                      <a:pt x="16891" y="39371"/>
                    </a:moveTo>
                    <a:lnTo>
                      <a:pt x="16891" y="19612"/>
                    </a:lnTo>
                    <a:lnTo>
                      <a:pt x="33909" y="19612"/>
                    </a:lnTo>
                    <a:lnTo>
                      <a:pt x="33909" y="2850818"/>
                    </a:lnTo>
                    <a:lnTo>
                      <a:pt x="16891" y="2850818"/>
                    </a:lnTo>
                    <a:lnTo>
                      <a:pt x="16891" y="2831206"/>
                    </a:lnTo>
                    <a:lnTo>
                      <a:pt x="187579" y="2831206"/>
                    </a:lnTo>
                    <a:lnTo>
                      <a:pt x="187579" y="2850818"/>
                    </a:lnTo>
                    <a:lnTo>
                      <a:pt x="170688" y="2850818"/>
                    </a:lnTo>
                    <a:lnTo>
                      <a:pt x="170688" y="19612"/>
                    </a:lnTo>
                    <a:lnTo>
                      <a:pt x="187579" y="19612"/>
                    </a:lnTo>
                    <a:lnTo>
                      <a:pt x="187579" y="39371"/>
                    </a:lnTo>
                    <a:lnTo>
                      <a:pt x="16891" y="39371"/>
                    </a:lnTo>
                    <a:close/>
                  </a:path>
                </a:pathLst>
              </a:custGeom>
              <a:solidFill>
                <a:srgbClr val="F0883E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391160" y="171052"/>
              <a:ext cx="7559040" cy="792738"/>
              <a:chOff x="0" y="0"/>
              <a:chExt cx="7559040" cy="792738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7559040" cy="792738"/>
              </a:xfrm>
              <a:custGeom>
                <a:avLst/>
                <a:gdLst/>
                <a:ahLst/>
                <a:cxnLst/>
                <a:rect r="r" b="b" t="t" l="l"/>
                <a:pathLst>
                  <a:path h="792738" w="7559040">
                    <a:moveTo>
                      <a:pt x="0" y="0"/>
                    </a:moveTo>
                    <a:lnTo>
                      <a:pt x="7559040" y="0"/>
                    </a:lnTo>
                    <a:lnTo>
                      <a:pt x="7559040" y="792738"/>
                    </a:lnTo>
                    <a:lnTo>
                      <a:pt x="0" y="79273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42733" r="0" b="-128859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7559040" cy="84036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39"/>
                  </a:lnSpc>
                </a:pPr>
                <a:r>
                  <a:rPr lang="en-US" sz="2199" b="true">
                    <a:solidFill>
                      <a:srgbClr val="F0883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Key Lesson</a:t>
                </a:r>
              </a:p>
            </p:txBody>
          </p:sp>
        </p:grpSp>
      </p:grpSp>
      <p:sp>
        <p:nvSpPr>
          <p:cNvPr name="TextBox 51" id="51"/>
          <p:cNvSpPr txBox="true"/>
          <p:nvPr/>
        </p:nvSpPr>
        <p:spPr>
          <a:xfrm rot="0">
            <a:off x="11887200" y="8012430"/>
            <a:ext cx="552297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Azure proxies port 80→8000 via WEBSITES_PORT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Without this: 'Application Error' on every request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Startup timeout fix essential for ML models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1502390" y="1960626"/>
            <a:ext cx="1905743" cy="475488"/>
            <a:chOff x="0" y="0"/>
            <a:chExt cx="2540991" cy="6339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40991" cy="633984"/>
            </a:xfrm>
            <a:custGeom>
              <a:avLst/>
              <a:gdLst/>
              <a:ahLst/>
              <a:cxnLst/>
              <a:rect r="r" b="b" t="t" l="l"/>
              <a:pathLst>
                <a:path h="633984" w="2540991">
                  <a:moveTo>
                    <a:pt x="0" y="0"/>
                  </a:moveTo>
                  <a:lnTo>
                    <a:pt x="2540991" y="0"/>
                  </a:lnTo>
                  <a:lnTo>
                    <a:pt x="254099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-274253" b="-2422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540991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It's Needed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Debugging with Azure Log Stream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Reading real-time logs to diagnose deployment issues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9590" y="1626870"/>
            <a:ext cx="6438900" cy="2598420"/>
            <a:chOff x="0" y="0"/>
            <a:chExt cx="8585200" cy="3464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85344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85200" cy="3464560"/>
            </a:xfrm>
            <a:custGeom>
              <a:avLst/>
              <a:gdLst/>
              <a:ahLst/>
              <a:cxnLst/>
              <a:rect r="r" b="b" t="t" l="l"/>
              <a:pathLst>
                <a:path h="3464560" w="8585200">
                  <a:moveTo>
                    <a:pt x="25400" y="0"/>
                  </a:moveTo>
                  <a:lnTo>
                    <a:pt x="8559800" y="0"/>
                  </a:lnTo>
                  <a:cubicBezTo>
                    <a:pt x="8573770" y="0"/>
                    <a:pt x="8585200" y="11430"/>
                    <a:pt x="8585200" y="25400"/>
                  </a:cubicBezTo>
                  <a:lnTo>
                    <a:pt x="8585200" y="3439160"/>
                  </a:lnTo>
                  <a:cubicBezTo>
                    <a:pt x="8585200" y="3453130"/>
                    <a:pt x="8573770" y="3464560"/>
                    <a:pt x="8559800" y="3464560"/>
                  </a:cubicBezTo>
                  <a:lnTo>
                    <a:pt x="25400" y="3464560"/>
                  </a:lnTo>
                  <a:cubicBezTo>
                    <a:pt x="11430" y="3464560"/>
                    <a:pt x="0" y="3453130"/>
                    <a:pt x="0" y="3439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439160"/>
                  </a:lnTo>
                  <a:lnTo>
                    <a:pt x="25400" y="3439160"/>
                  </a:lnTo>
                  <a:lnTo>
                    <a:pt x="25400" y="3413760"/>
                  </a:lnTo>
                  <a:lnTo>
                    <a:pt x="8559800" y="3413760"/>
                  </a:lnTo>
                  <a:lnTo>
                    <a:pt x="8559800" y="3439160"/>
                  </a:lnTo>
                  <a:lnTo>
                    <a:pt x="8534400" y="3439160"/>
                  </a:lnTo>
                  <a:lnTo>
                    <a:pt x="8534400" y="25400"/>
                  </a:lnTo>
                  <a:lnTo>
                    <a:pt x="8559800" y="25400"/>
                  </a:lnTo>
                  <a:lnTo>
                    <a:pt x="85598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633223"/>
            <a:ext cx="153419" cy="2585723"/>
            <a:chOff x="0" y="0"/>
            <a:chExt cx="204559" cy="34476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737360"/>
            <a:ext cx="6035040" cy="512064"/>
            <a:chOff x="0" y="0"/>
            <a:chExt cx="804672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46720" cy="682752"/>
            </a:xfrm>
            <a:custGeom>
              <a:avLst/>
              <a:gdLst/>
              <a:ahLst/>
              <a:cxnLst/>
              <a:rect r="r" b="b" t="t" l="l"/>
              <a:pathLst>
                <a:path h="68275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0467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Log Stream?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247900"/>
            <a:ext cx="5888736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live log viewer inside Azure Portal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Shows container stdout/stderr in browser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Path: App Service → Log stream (left sidebar)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Also accessible via Azure CLI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Essential for diagnosing container crashes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35943" y="4412999"/>
            <a:ext cx="6426203" cy="5002228"/>
            <a:chOff x="0" y="0"/>
            <a:chExt cx="8568271" cy="66696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7343"/>
              <a:ext cx="8534400" cy="6634858"/>
            </a:xfrm>
            <a:custGeom>
              <a:avLst/>
              <a:gdLst/>
              <a:ahLst/>
              <a:cxnLst/>
              <a:rect r="r" b="b" t="t" l="l"/>
              <a:pathLst>
                <a:path h="663485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634859"/>
                  </a:lnTo>
                  <a:lnTo>
                    <a:pt x="0" y="6634859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68182" cy="6669546"/>
            </a:xfrm>
            <a:custGeom>
              <a:avLst/>
              <a:gdLst/>
              <a:ahLst/>
              <a:cxnLst/>
              <a:rect r="r" b="b" t="t" l="l"/>
              <a:pathLst>
                <a:path h="6669546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824"/>
                    <a:pt x="8568182" y="17343"/>
                  </a:cubicBezTo>
                  <a:lnTo>
                    <a:pt x="8568182" y="6652202"/>
                  </a:lnTo>
                  <a:cubicBezTo>
                    <a:pt x="8568182" y="6661852"/>
                    <a:pt x="8560562" y="6669546"/>
                    <a:pt x="8551291" y="6669546"/>
                  </a:cubicBezTo>
                  <a:lnTo>
                    <a:pt x="16891" y="6669546"/>
                  </a:lnTo>
                  <a:cubicBezTo>
                    <a:pt x="7493" y="6669546"/>
                    <a:pt x="0" y="6661721"/>
                    <a:pt x="0" y="6652202"/>
                  </a:cubicBezTo>
                  <a:lnTo>
                    <a:pt x="0" y="17343"/>
                  </a:lnTo>
                  <a:cubicBezTo>
                    <a:pt x="0" y="7824"/>
                    <a:pt x="7620" y="0"/>
                    <a:pt x="16891" y="0"/>
                  </a:cubicBezTo>
                  <a:moveTo>
                    <a:pt x="16891" y="34817"/>
                  </a:moveTo>
                  <a:lnTo>
                    <a:pt x="16891" y="17343"/>
                  </a:lnTo>
                  <a:lnTo>
                    <a:pt x="33909" y="17343"/>
                  </a:lnTo>
                  <a:lnTo>
                    <a:pt x="33909" y="6652202"/>
                  </a:lnTo>
                  <a:lnTo>
                    <a:pt x="16891" y="6652202"/>
                  </a:lnTo>
                  <a:lnTo>
                    <a:pt x="16891" y="6634859"/>
                  </a:lnTo>
                  <a:lnTo>
                    <a:pt x="8551291" y="6634859"/>
                  </a:lnTo>
                  <a:lnTo>
                    <a:pt x="8551291" y="6652202"/>
                  </a:lnTo>
                  <a:lnTo>
                    <a:pt x="8534400" y="6652202"/>
                  </a:lnTo>
                  <a:lnTo>
                    <a:pt x="8534400" y="17343"/>
                  </a:lnTo>
                  <a:lnTo>
                    <a:pt x="8551291" y="17343"/>
                  </a:lnTo>
                  <a:lnTo>
                    <a:pt x="8551291" y="34817"/>
                  </a:lnTo>
                  <a:lnTo>
                    <a:pt x="16891" y="34817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5943" y="4412999"/>
            <a:ext cx="6426203" cy="427739"/>
            <a:chOff x="0" y="0"/>
            <a:chExt cx="8568271" cy="5703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C212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68182" cy="570232"/>
            </a:xfrm>
            <a:custGeom>
              <a:avLst/>
              <a:gdLst/>
              <a:ahLst/>
              <a:cxnLst/>
              <a:rect r="r" b="b" t="t" l="l"/>
              <a:pathLst>
                <a:path h="57023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553339"/>
                  </a:lnTo>
                  <a:cubicBezTo>
                    <a:pt x="8568182" y="562737"/>
                    <a:pt x="8560562" y="570230"/>
                    <a:pt x="855129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8551291" y="536448"/>
                  </a:lnTo>
                  <a:lnTo>
                    <a:pt x="8551291" y="553339"/>
                  </a:lnTo>
                  <a:lnTo>
                    <a:pt x="8534400" y="55333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12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31520" y="4462272"/>
            <a:ext cx="6035040" cy="329184"/>
            <a:chOff x="0" y="0"/>
            <a:chExt cx="8046720" cy="4389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46720" cy="438912"/>
            </a:xfrm>
            <a:custGeom>
              <a:avLst/>
              <a:gdLst/>
              <a:ahLst/>
              <a:cxnLst/>
              <a:rect r="r" b="b" t="t" l="l"/>
              <a:pathLst>
                <a:path h="43891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046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$ terminal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68096" y="4826508"/>
            <a:ext cx="5998464" cy="433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View live logs from CLI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az webapp log tail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--name neurofuzzy-depression \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--resource-group neuro-rg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Common success messages: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INFO: Application startup complete.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INFO: Uvicorn running on http://0.0.0.0:8000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# Common failure messages: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ContainerTimeout → startup &gt; 230s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'Killed' → Out of memory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ModuleNotFoundError → missing package</a:t>
            </a: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7302503" y="1633223"/>
            <a:ext cx="10266683" cy="7782004"/>
            <a:chOff x="0" y="0"/>
            <a:chExt cx="13688911" cy="103760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7057"/>
              <a:ext cx="13655039" cy="10341802"/>
            </a:xfrm>
            <a:custGeom>
              <a:avLst/>
              <a:gdLst/>
              <a:ahLst/>
              <a:cxnLst/>
              <a:rect r="r" b="b" t="t" l="l"/>
              <a:pathLst>
                <a:path h="10341802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10341802"/>
                  </a:lnTo>
                  <a:lnTo>
                    <a:pt x="0" y="1034180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688822" cy="10375916"/>
            </a:xfrm>
            <a:custGeom>
              <a:avLst/>
              <a:gdLst/>
              <a:ahLst/>
              <a:cxnLst/>
              <a:rect r="r" b="b" t="t" l="l"/>
              <a:pathLst>
                <a:path h="10375916" w="13688822">
                  <a:moveTo>
                    <a:pt x="16891" y="0"/>
                  </a:moveTo>
                  <a:lnTo>
                    <a:pt x="13671930" y="0"/>
                  </a:lnTo>
                  <a:cubicBezTo>
                    <a:pt x="13681329" y="0"/>
                    <a:pt x="13688822" y="7695"/>
                    <a:pt x="13688822" y="17057"/>
                  </a:cubicBezTo>
                  <a:lnTo>
                    <a:pt x="13688822" y="10358859"/>
                  </a:lnTo>
                  <a:cubicBezTo>
                    <a:pt x="13688822" y="10368349"/>
                    <a:pt x="13681202" y="10375916"/>
                    <a:pt x="13671930" y="10375916"/>
                  </a:cubicBezTo>
                  <a:lnTo>
                    <a:pt x="16891" y="10375916"/>
                  </a:lnTo>
                  <a:cubicBezTo>
                    <a:pt x="7493" y="10375916"/>
                    <a:pt x="0" y="10368221"/>
                    <a:pt x="0" y="10358859"/>
                  </a:cubicBezTo>
                  <a:lnTo>
                    <a:pt x="0" y="17057"/>
                  </a:lnTo>
                  <a:cubicBezTo>
                    <a:pt x="0" y="7695"/>
                    <a:pt x="7620" y="0"/>
                    <a:pt x="16891" y="0"/>
                  </a:cubicBezTo>
                  <a:moveTo>
                    <a:pt x="16891" y="34242"/>
                  </a:moveTo>
                  <a:lnTo>
                    <a:pt x="16891" y="17057"/>
                  </a:lnTo>
                  <a:lnTo>
                    <a:pt x="33909" y="17057"/>
                  </a:lnTo>
                  <a:lnTo>
                    <a:pt x="33909" y="10358859"/>
                  </a:lnTo>
                  <a:lnTo>
                    <a:pt x="16891" y="10358859"/>
                  </a:lnTo>
                  <a:lnTo>
                    <a:pt x="16891" y="10341802"/>
                  </a:lnTo>
                  <a:lnTo>
                    <a:pt x="13671930" y="10341802"/>
                  </a:lnTo>
                  <a:lnTo>
                    <a:pt x="13671930" y="10358859"/>
                  </a:lnTo>
                  <a:lnTo>
                    <a:pt x="13655039" y="10358859"/>
                  </a:lnTo>
                  <a:lnTo>
                    <a:pt x="13655039" y="17057"/>
                  </a:lnTo>
                  <a:lnTo>
                    <a:pt x="13671930" y="17057"/>
                  </a:lnTo>
                  <a:lnTo>
                    <a:pt x="13671930" y="34242"/>
                  </a:lnTo>
                  <a:lnTo>
                    <a:pt x="16891" y="34242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589520" y="1792224"/>
            <a:ext cx="9509760" cy="512064"/>
            <a:chOff x="0" y="0"/>
            <a:chExt cx="1267968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679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65" r="0" b="-31186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2679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 Messages We Encountered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451341" y="2458717"/>
            <a:ext cx="9932413" cy="898141"/>
            <a:chOff x="0" y="0"/>
            <a:chExt cx="13243217" cy="119752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3589" y="13589"/>
              <a:ext cx="13216128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216128">
                  <a:moveTo>
                    <a:pt x="0" y="0"/>
                  </a:moveTo>
                  <a:lnTo>
                    <a:pt x="13216128" y="0"/>
                  </a:lnTo>
                  <a:lnTo>
                    <a:pt x="1321612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243306" cy="1197610"/>
            </a:xfrm>
            <a:custGeom>
              <a:avLst/>
              <a:gdLst/>
              <a:ahLst/>
              <a:cxnLst/>
              <a:rect r="r" b="b" t="t" l="l"/>
              <a:pathLst>
                <a:path h="1197610" w="13243306">
                  <a:moveTo>
                    <a:pt x="13589" y="0"/>
                  </a:moveTo>
                  <a:lnTo>
                    <a:pt x="13229717" y="0"/>
                  </a:lnTo>
                  <a:cubicBezTo>
                    <a:pt x="13237209" y="0"/>
                    <a:pt x="13243306" y="6096"/>
                    <a:pt x="13243306" y="13589"/>
                  </a:cubicBezTo>
                  <a:lnTo>
                    <a:pt x="13243306" y="1184021"/>
                  </a:lnTo>
                  <a:cubicBezTo>
                    <a:pt x="13243306" y="1191514"/>
                    <a:pt x="13237209" y="1197610"/>
                    <a:pt x="13229717" y="1197610"/>
                  </a:cubicBezTo>
                  <a:lnTo>
                    <a:pt x="13589" y="1197610"/>
                  </a:lnTo>
                  <a:cubicBezTo>
                    <a:pt x="6096" y="1197483"/>
                    <a:pt x="0" y="1191514"/>
                    <a:pt x="0" y="118402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184021"/>
                  </a:lnTo>
                  <a:lnTo>
                    <a:pt x="13589" y="1184021"/>
                  </a:lnTo>
                  <a:lnTo>
                    <a:pt x="13589" y="1170432"/>
                  </a:lnTo>
                  <a:lnTo>
                    <a:pt x="13229717" y="1170432"/>
                  </a:lnTo>
                  <a:lnTo>
                    <a:pt x="13229717" y="1184021"/>
                  </a:lnTo>
                  <a:lnTo>
                    <a:pt x="13216128" y="1184021"/>
                  </a:lnTo>
                  <a:lnTo>
                    <a:pt x="13216128" y="13589"/>
                  </a:lnTo>
                  <a:lnTo>
                    <a:pt x="13229717" y="13589"/>
                  </a:lnTo>
                  <a:lnTo>
                    <a:pt x="1322971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644384" y="2523744"/>
            <a:ext cx="9509760" cy="402336"/>
            <a:chOff x="0" y="0"/>
            <a:chExt cx="12679680" cy="5364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679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0555" r="0" b="-41055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2679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6B6B"/>
                  </a:solidFill>
                  <a:latin typeface="Consolas"/>
                  <a:ea typeface="Consolas"/>
                  <a:cs typeface="Consolas"/>
                  <a:sym typeface="Consolas"/>
                </a:rPr>
                <a:t>ContainerTimeout (230 sec expired)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644384" y="2944368"/>
            <a:ext cx="9509760" cy="329184"/>
            <a:chOff x="0" y="0"/>
            <a:chExt cx="12679680" cy="43891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679680" cy="438912"/>
            </a:xfrm>
            <a:custGeom>
              <a:avLst/>
              <a:gdLst/>
              <a:ahLst/>
              <a:cxnLst/>
              <a:rect r="r" b="b" t="t" l="l"/>
              <a:pathLst>
                <a:path h="43891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2901" r="0" b="-51290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26796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Increased start limit to 1800s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451341" y="3446269"/>
            <a:ext cx="9932413" cy="898141"/>
            <a:chOff x="0" y="0"/>
            <a:chExt cx="13243217" cy="11975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3589" y="13589"/>
              <a:ext cx="13216128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216128">
                  <a:moveTo>
                    <a:pt x="0" y="0"/>
                  </a:moveTo>
                  <a:lnTo>
                    <a:pt x="13216128" y="0"/>
                  </a:lnTo>
                  <a:lnTo>
                    <a:pt x="1321612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243306" cy="1197610"/>
            </a:xfrm>
            <a:custGeom>
              <a:avLst/>
              <a:gdLst/>
              <a:ahLst/>
              <a:cxnLst/>
              <a:rect r="r" b="b" t="t" l="l"/>
              <a:pathLst>
                <a:path h="1197610" w="13243306">
                  <a:moveTo>
                    <a:pt x="13589" y="0"/>
                  </a:moveTo>
                  <a:lnTo>
                    <a:pt x="13229717" y="0"/>
                  </a:lnTo>
                  <a:cubicBezTo>
                    <a:pt x="13237209" y="0"/>
                    <a:pt x="13243306" y="6096"/>
                    <a:pt x="13243306" y="13589"/>
                  </a:cubicBezTo>
                  <a:lnTo>
                    <a:pt x="13243306" y="1184021"/>
                  </a:lnTo>
                  <a:cubicBezTo>
                    <a:pt x="13243306" y="1191514"/>
                    <a:pt x="13237209" y="1197610"/>
                    <a:pt x="13229717" y="1197610"/>
                  </a:cubicBezTo>
                  <a:lnTo>
                    <a:pt x="13589" y="1197610"/>
                  </a:lnTo>
                  <a:cubicBezTo>
                    <a:pt x="6096" y="1197483"/>
                    <a:pt x="0" y="1191514"/>
                    <a:pt x="0" y="118402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184021"/>
                  </a:lnTo>
                  <a:lnTo>
                    <a:pt x="13589" y="1184021"/>
                  </a:lnTo>
                  <a:lnTo>
                    <a:pt x="13589" y="1170432"/>
                  </a:lnTo>
                  <a:lnTo>
                    <a:pt x="13229717" y="1170432"/>
                  </a:lnTo>
                  <a:lnTo>
                    <a:pt x="13229717" y="1184021"/>
                  </a:lnTo>
                  <a:lnTo>
                    <a:pt x="13216128" y="1184021"/>
                  </a:lnTo>
                  <a:lnTo>
                    <a:pt x="13216128" y="13589"/>
                  </a:lnTo>
                  <a:lnTo>
                    <a:pt x="13229717" y="13589"/>
                  </a:lnTo>
                  <a:lnTo>
                    <a:pt x="1322971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644384" y="3511296"/>
            <a:ext cx="9509760" cy="402336"/>
            <a:chOff x="0" y="0"/>
            <a:chExt cx="12679680" cy="5364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679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0555" r="0" b="-41055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2679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Uvicorn running on http://0.0.0.0:8000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644384" y="3931920"/>
            <a:ext cx="9509760" cy="329184"/>
            <a:chOff x="0" y="0"/>
            <a:chExt cx="12679680" cy="43891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679680" cy="438912"/>
            </a:xfrm>
            <a:custGeom>
              <a:avLst/>
              <a:gdLst/>
              <a:ahLst/>
              <a:cxnLst/>
              <a:rect r="r" b="b" t="t" l="l"/>
              <a:pathLst>
                <a:path h="43891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2901" r="0" b="-51290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26796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App started successfully ✅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451341" y="4433821"/>
            <a:ext cx="9932413" cy="898141"/>
            <a:chOff x="0" y="0"/>
            <a:chExt cx="13243217" cy="119752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3589" y="13589"/>
              <a:ext cx="13216128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216128">
                  <a:moveTo>
                    <a:pt x="0" y="0"/>
                  </a:moveTo>
                  <a:lnTo>
                    <a:pt x="13216128" y="0"/>
                  </a:lnTo>
                  <a:lnTo>
                    <a:pt x="1321612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243306" cy="1197610"/>
            </a:xfrm>
            <a:custGeom>
              <a:avLst/>
              <a:gdLst/>
              <a:ahLst/>
              <a:cxnLst/>
              <a:rect r="r" b="b" t="t" l="l"/>
              <a:pathLst>
                <a:path h="1197610" w="13243306">
                  <a:moveTo>
                    <a:pt x="13589" y="0"/>
                  </a:moveTo>
                  <a:lnTo>
                    <a:pt x="13229717" y="0"/>
                  </a:lnTo>
                  <a:cubicBezTo>
                    <a:pt x="13237209" y="0"/>
                    <a:pt x="13243306" y="6096"/>
                    <a:pt x="13243306" y="13589"/>
                  </a:cubicBezTo>
                  <a:lnTo>
                    <a:pt x="13243306" y="1184021"/>
                  </a:lnTo>
                  <a:cubicBezTo>
                    <a:pt x="13243306" y="1191514"/>
                    <a:pt x="13237209" y="1197610"/>
                    <a:pt x="13229717" y="1197610"/>
                  </a:cubicBezTo>
                  <a:lnTo>
                    <a:pt x="13589" y="1197610"/>
                  </a:lnTo>
                  <a:cubicBezTo>
                    <a:pt x="6096" y="1197483"/>
                    <a:pt x="0" y="1191514"/>
                    <a:pt x="0" y="118402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184021"/>
                  </a:lnTo>
                  <a:lnTo>
                    <a:pt x="13589" y="1184021"/>
                  </a:lnTo>
                  <a:lnTo>
                    <a:pt x="13589" y="1170432"/>
                  </a:lnTo>
                  <a:lnTo>
                    <a:pt x="13229717" y="1170432"/>
                  </a:lnTo>
                  <a:lnTo>
                    <a:pt x="13229717" y="1184021"/>
                  </a:lnTo>
                  <a:lnTo>
                    <a:pt x="13216128" y="1184021"/>
                  </a:lnTo>
                  <a:lnTo>
                    <a:pt x="13216128" y="13589"/>
                  </a:lnTo>
                  <a:lnTo>
                    <a:pt x="13229717" y="13589"/>
                  </a:lnTo>
                  <a:lnTo>
                    <a:pt x="1322971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644384" y="4498848"/>
            <a:ext cx="9509760" cy="402336"/>
            <a:chOff x="0" y="0"/>
            <a:chExt cx="12679680" cy="5364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679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0555" r="0" b="-41055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2679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Application startup complete.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644384" y="4919472"/>
            <a:ext cx="9509760" cy="329184"/>
            <a:chOff x="0" y="0"/>
            <a:chExt cx="12679680" cy="43891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679680" cy="438912"/>
            </a:xfrm>
            <a:custGeom>
              <a:avLst/>
              <a:gdLst/>
              <a:ahLst/>
              <a:cxnLst/>
              <a:rect r="r" b="b" t="t" l="l"/>
              <a:pathLst>
                <a:path h="43891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2901" r="0" b="-51290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6796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All models loaded ✅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451341" y="5421373"/>
            <a:ext cx="9932413" cy="898141"/>
            <a:chOff x="0" y="0"/>
            <a:chExt cx="13243217" cy="119752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3589" y="13589"/>
              <a:ext cx="13216128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216128">
                  <a:moveTo>
                    <a:pt x="0" y="0"/>
                  </a:moveTo>
                  <a:lnTo>
                    <a:pt x="13216128" y="0"/>
                  </a:lnTo>
                  <a:lnTo>
                    <a:pt x="1321612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243306" cy="1197610"/>
            </a:xfrm>
            <a:custGeom>
              <a:avLst/>
              <a:gdLst/>
              <a:ahLst/>
              <a:cxnLst/>
              <a:rect r="r" b="b" t="t" l="l"/>
              <a:pathLst>
                <a:path h="1197610" w="13243306">
                  <a:moveTo>
                    <a:pt x="13589" y="0"/>
                  </a:moveTo>
                  <a:lnTo>
                    <a:pt x="13229717" y="0"/>
                  </a:lnTo>
                  <a:cubicBezTo>
                    <a:pt x="13237209" y="0"/>
                    <a:pt x="13243306" y="6096"/>
                    <a:pt x="13243306" y="13589"/>
                  </a:cubicBezTo>
                  <a:lnTo>
                    <a:pt x="13243306" y="1184021"/>
                  </a:lnTo>
                  <a:cubicBezTo>
                    <a:pt x="13243306" y="1191514"/>
                    <a:pt x="13237209" y="1197610"/>
                    <a:pt x="13229717" y="1197610"/>
                  </a:cubicBezTo>
                  <a:lnTo>
                    <a:pt x="13589" y="1197610"/>
                  </a:lnTo>
                  <a:cubicBezTo>
                    <a:pt x="6096" y="1197483"/>
                    <a:pt x="0" y="1191514"/>
                    <a:pt x="0" y="118402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184021"/>
                  </a:lnTo>
                  <a:lnTo>
                    <a:pt x="13589" y="1184021"/>
                  </a:lnTo>
                  <a:lnTo>
                    <a:pt x="13589" y="1170432"/>
                  </a:lnTo>
                  <a:lnTo>
                    <a:pt x="13229717" y="1170432"/>
                  </a:lnTo>
                  <a:lnTo>
                    <a:pt x="13229717" y="1184021"/>
                  </a:lnTo>
                  <a:lnTo>
                    <a:pt x="13216128" y="1184021"/>
                  </a:lnTo>
                  <a:lnTo>
                    <a:pt x="13216128" y="13589"/>
                  </a:lnTo>
                  <a:lnTo>
                    <a:pt x="13229717" y="13589"/>
                  </a:lnTo>
                  <a:lnTo>
                    <a:pt x="1322971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644384" y="5486400"/>
            <a:ext cx="9509760" cy="402336"/>
            <a:chOff x="0" y="0"/>
            <a:chExt cx="12679680" cy="53644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679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0555" r="0" b="-41055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2679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6B6B"/>
                  </a:solidFill>
                  <a:latin typeface="Consolas"/>
                  <a:ea typeface="Consolas"/>
                  <a:cs typeface="Consolas"/>
                  <a:sym typeface="Consolas"/>
                </a:rPr>
                <a:t>No credential was provided to access ACR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644384" y="5907024"/>
            <a:ext cx="9509760" cy="329184"/>
            <a:chOff x="0" y="0"/>
            <a:chExt cx="12679680" cy="43891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679680" cy="438912"/>
            </a:xfrm>
            <a:custGeom>
              <a:avLst/>
              <a:gdLst/>
              <a:ahLst/>
              <a:cxnLst/>
              <a:rect r="r" b="b" t="t" l="l"/>
              <a:pathLst>
                <a:path h="43891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2901" r="0" b="-51290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26796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Set DOCKER_REGISTRY_SERVER_PASSWORD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451341" y="6408925"/>
            <a:ext cx="9932413" cy="898141"/>
            <a:chOff x="0" y="0"/>
            <a:chExt cx="13243217" cy="119752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3589" y="13589"/>
              <a:ext cx="13216128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216128">
                  <a:moveTo>
                    <a:pt x="0" y="0"/>
                  </a:moveTo>
                  <a:lnTo>
                    <a:pt x="13216128" y="0"/>
                  </a:lnTo>
                  <a:lnTo>
                    <a:pt x="1321612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3243306" cy="1197610"/>
            </a:xfrm>
            <a:custGeom>
              <a:avLst/>
              <a:gdLst/>
              <a:ahLst/>
              <a:cxnLst/>
              <a:rect r="r" b="b" t="t" l="l"/>
              <a:pathLst>
                <a:path h="1197610" w="13243306">
                  <a:moveTo>
                    <a:pt x="13589" y="0"/>
                  </a:moveTo>
                  <a:lnTo>
                    <a:pt x="13229717" y="0"/>
                  </a:lnTo>
                  <a:cubicBezTo>
                    <a:pt x="13237209" y="0"/>
                    <a:pt x="13243306" y="6096"/>
                    <a:pt x="13243306" y="13589"/>
                  </a:cubicBezTo>
                  <a:lnTo>
                    <a:pt x="13243306" y="1184021"/>
                  </a:lnTo>
                  <a:cubicBezTo>
                    <a:pt x="13243306" y="1191514"/>
                    <a:pt x="13237209" y="1197610"/>
                    <a:pt x="13229717" y="1197610"/>
                  </a:cubicBezTo>
                  <a:lnTo>
                    <a:pt x="13589" y="1197610"/>
                  </a:lnTo>
                  <a:cubicBezTo>
                    <a:pt x="6096" y="1197483"/>
                    <a:pt x="0" y="1191514"/>
                    <a:pt x="0" y="118402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184021"/>
                  </a:lnTo>
                  <a:lnTo>
                    <a:pt x="13589" y="1184021"/>
                  </a:lnTo>
                  <a:lnTo>
                    <a:pt x="13589" y="1170432"/>
                  </a:lnTo>
                  <a:lnTo>
                    <a:pt x="13229717" y="1170432"/>
                  </a:lnTo>
                  <a:lnTo>
                    <a:pt x="13229717" y="1184021"/>
                  </a:lnTo>
                  <a:lnTo>
                    <a:pt x="13216128" y="1184021"/>
                  </a:lnTo>
                  <a:lnTo>
                    <a:pt x="13216128" y="13589"/>
                  </a:lnTo>
                  <a:lnTo>
                    <a:pt x="13229717" y="13589"/>
                  </a:lnTo>
                  <a:lnTo>
                    <a:pt x="1322971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644384" y="6473952"/>
            <a:ext cx="9509760" cy="402336"/>
            <a:chOff x="0" y="0"/>
            <a:chExt cx="12679680" cy="5364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679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0555" r="0" b="-41055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2679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D29922"/>
                  </a:solidFill>
                  <a:latin typeface="Consolas"/>
                  <a:ea typeface="Consolas"/>
                  <a:cs typeface="Consolas"/>
                  <a:sym typeface="Consolas"/>
                </a:rPr>
                <a:t>GET / HTTP/1.1 404 Not Found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644384" y="6894576"/>
            <a:ext cx="9509760" cy="329184"/>
            <a:chOff x="0" y="0"/>
            <a:chExt cx="12679680" cy="43891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679680" cy="438912"/>
            </a:xfrm>
            <a:custGeom>
              <a:avLst/>
              <a:gdLst/>
              <a:ahLst/>
              <a:cxnLst/>
              <a:rect r="r" b="b" t="t" l="l"/>
              <a:pathLst>
                <a:path h="43891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2901" r="0" b="-5129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26796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Normal — no route defined at /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451341" y="7396477"/>
            <a:ext cx="9932413" cy="898141"/>
            <a:chOff x="0" y="0"/>
            <a:chExt cx="13243217" cy="119752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3589" y="13589"/>
              <a:ext cx="13216128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216128">
                  <a:moveTo>
                    <a:pt x="0" y="0"/>
                  </a:moveTo>
                  <a:lnTo>
                    <a:pt x="13216128" y="0"/>
                  </a:lnTo>
                  <a:lnTo>
                    <a:pt x="1321612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3243306" cy="1197610"/>
            </a:xfrm>
            <a:custGeom>
              <a:avLst/>
              <a:gdLst/>
              <a:ahLst/>
              <a:cxnLst/>
              <a:rect r="r" b="b" t="t" l="l"/>
              <a:pathLst>
                <a:path h="1197610" w="13243306">
                  <a:moveTo>
                    <a:pt x="13589" y="0"/>
                  </a:moveTo>
                  <a:lnTo>
                    <a:pt x="13229717" y="0"/>
                  </a:lnTo>
                  <a:cubicBezTo>
                    <a:pt x="13237209" y="0"/>
                    <a:pt x="13243306" y="6096"/>
                    <a:pt x="13243306" y="13589"/>
                  </a:cubicBezTo>
                  <a:lnTo>
                    <a:pt x="13243306" y="1184021"/>
                  </a:lnTo>
                  <a:cubicBezTo>
                    <a:pt x="13243306" y="1191514"/>
                    <a:pt x="13237209" y="1197610"/>
                    <a:pt x="13229717" y="1197610"/>
                  </a:cubicBezTo>
                  <a:lnTo>
                    <a:pt x="13589" y="1197610"/>
                  </a:lnTo>
                  <a:cubicBezTo>
                    <a:pt x="6096" y="1197483"/>
                    <a:pt x="0" y="1191514"/>
                    <a:pt x="0" y="118402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184021"/>
                  </a:lnTo>
                  <a:lnTo>
                    <a:pt x="13589" y="1184021"/>
                  </a:lnTo>
                  <a:lnTo>
                    <a:pt x="13589" y="1170432"/>
                  </a:lnTo>
                  <a:lnTo>
                    <a:pt x="13229717" y="1170432"/>
                  </a:lnTo>
                  <a:lnTo>
                    <a:pt x="13229717" y="1184021"/>
                  </a:lnTo>
                  <a:lnTo>
                    <a:pt x="13216128" y="1184021"/>
                  </a:lnTo>
                  <a:lnTo>
                    <a:pt x="13216128" y="13589"/>
                  </a:lnTo>
                  <a:lnTo>
                    <a:pt x="13229717" y="13589"/>
                  </a:lnTo>
                  <a:lnTo>
                    <a:pt x="1322971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7644384" y="7461504"/>
            <a:ext cx="9509760" cy="402336"/>
            <a:chOff x="0" y="0"/>
            <a:chExt cx="12679680" cy="53644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2679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0555" r="0" b="-41055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2679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6B6B"/>
                  </a:solidFill>
                  <a:latin typeface="Consolas"/>
                  <a:ea typeface="Consolas"/>
                  <a:cs typeface="Consolas"/>
                  <a:sym typeface="Consolas"/>
                </a:rPr>
                <a:t>Shutting down / Application shutdown complete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644384" y="7882128"/>
            <a:ext cx="9509760" cy="329184"/>
            <a:chOff x="0" y="0"/>
            <a:chExt cx="12679680" cy="43891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2679680" cy="438912"/>
            </a:xfrm>
            <a:custGeom>
              <a:avLst/>
              <a:gdLst/>
              <a:ahLst/>
              <a:cxnLst/>
              <a:rect r="r" b="b" t="t" l="l"/>
              <a:pathLst>
                <a:path h="43891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2901" r="0" b="-512901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26796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Azure killing slow-start container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451341" y="8384029"/>
            <a:ext cx="9932413" cy="898141"/>
            <a:chOff x="0" y="0"/>
            <a:chExt cx="13243217" cy="119752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3589" y="13589"/>
              <a:ext cx="13216128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216128">
                  <a:moveTo>
                    <a:pt x="0" y="0"/>
                  </a:moveTo>
                  <a:lnTo>
                    <a:pt x="13216128" y="0"/>
                  </a:lnTo>
                  <a:lnTo>
                    <a:pt x="13216128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3243306" cy="1197610"/>
            </a:xfrm>
            <a:custGeom>
              <a:avLst/>
              <a:gdLst/>
              <a:ahLst/>
              <a:cxnLst/>
              <a:rect r="r" b="b" t="t" l="l"/>
              <a:pathLst>
                <a:path h="1197610" w="13243306">
                  <a:moveTo>
                    <a:pt x="13589" y="0"/>
                  </a:moveTo>
                  <a:lnTo>
                    <a:pt x="13229717" y="0"/>
                  </a:lnTo>
                  <a:cubicBezTo>
                    <a:pt x="13237209" y="0"/>
                    <a:pt x="13243306" y="6096"/>
                    <a:pt x="13243306" y="13589"/>
                  </a:cubicBezTo>
                  <a:lnTo>
                    <a:pt x="13243306" y="1184021"/>
                  </a:lnTo>
                  <a:cubicBezTo>
                    <a:pt x="13243306" y="1191514"/>
                    <a:pt x="13237209" y="1197610"/>
                    <a:pt x="13229717" y="1197610"/>
                  </a:cubicBezTo>
                  <a:lnTo>
                    <a:pt x="13589" y="1197610"/>
                  </a:lnTo>
                  <a:cubicBezTo>
                    <a:pt x="6096" y="1197483"/>
                    <a:pt x="0" y="1191514"/>
                    <a:pt x="0" y="118402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184021"/>
                  </a:lnTo>
                  <a:lnTo>
                    <a:pt x="13589" y="1184021"/>
                  </a:lnTo>
                  <a:lnTo>
                    <a:pt x="13589" y="1170432"/>
                  </a:lnTo>
                  <a:lnTo>
                    <a:pt x="13229717" y="1170432"/>
                  </a:lnTo>
                  <a:lnTo>
                    <a:pt x="13229717" y="1184021"/>
                  </a:lnTo>
                  <a:lnTo>
                    <a:pt x="13216128" y="1184021"/>
                  </a:lnTo>
                  <a:lnTo>
                    <a:pt x="13216128" y="13589"/>
                  </a:lnTo>
                  <a:lnTo>
                    <a:pt x="13229717" y="13589"/>
                  </a:lnTo>
                  <a:lnTo>
                    <a:pt x="1322971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7644384" y="8449056"/>
            <a:ext cx="9509760" cy="402336"/>
            <a:chOff x="0" y="0"/>
            <a:chExt cx="12679680" cy="53644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2679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0555" r="0" b="-41055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2679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{"status":"ok","modules":[...]}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7644384" y="8869680"/>
            <a:ext cx="9509760" cy="329184"/>
            <a:chOff x="0" y="0"/>
            <a:chExt cx="12679680" cy="43891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2679680" cy="438912"/>
            </a:xfrm>
            <a:custGeom>
              <a:avLst/>
              <a:gdLst/>
              <a:ahLst/>
              <a:cxnLst/>
              <a:rect r="r" b="b" t="t" l="l"/>
              <a:pathLst>
                <a:path h="43891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2901" r="0" b="-51290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126796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Health check passed ✅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Integration with Backend API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Connecting the HTML/JS UI to our deployed API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633223"/>
            <a:ext cx="9535163" cy="3317243"/>
            <a:chOff x="0" y="0"/>
            <a:chExt cx="12713551" cy="4422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2679681" cy="4389120"/>
            </a:xfrm>
            <a:custGeom>
              <a:avLst/>
              <a:gdLst/>
              <a:ahLst/>
              <a:cxnLst/>
              <a:rect r="r" b="b" t="t" l="l"/>
              <a:pathLst>
                <a:path h="4389120" w="12679681">
                  <a:moveTo>
                    <a:pt x="0" y="0"/>
                  </a:moveTo>
                  <a:lnTo>
                    <a:pt x="12679681" y="0"/>
                  </a:lnTo>
                  <a:lnTo>
                    <a:pt x="12679681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13463" cy="4422902"/>
            </a:xfrm>
            <a:custGeom>
              <a:avLst/>
              <a:gdLst/>
              <a:ahLst/>
              <a:cxnLst/>
              <a:rect r="r" b="b" t="t" l="l"/>
              <a:pathLst>
                <a:path h="4422902" w="12713463">
                  <a:moveTo>
                    <a:pt x="16891" y="0"/>
                  </a:moveTo>
                  <a:lnTo>
                    <a:pt x="12696572" y="0"/>
                  </a:lnTo>
                  <a:cubicBezTo>
                    <a:pt x="12705969" y="0"/>
                    <a:pt x="12713463" y="7620"/>
                    <a:pt x="12713463" y="16891"/>
                  </a:cubicBezTo>
                  <a:lnTo>
                    <a:pt x="12713463" y="4406011"/>
                  </a:lnTo>
                  <a:cubicBezTo>
                    <a:pt x="12713463" y="4415409"/>
                    <a:pt x="12705842" y="4422902"/>
                    <a:pt x="12696572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12696572" y="4389120"/>
                  </a:lnTo>
                  <a:lnTo>
                    <a:pt x="12696572" y="4406011"/>
                  </a:lnTo>
                  <a:lnTo>
                    <a:pt x="12679680" y="4406011"/>
                  </a:lnTo>
                  <a:lnTo>
                    <a:pt x="12679680" y="16891"/>
                  </a:lnTo>
                  <a:lnTo>
                    <a:pt x="12696572" y="16891"/>
                  </a:lnTo>
                  <a:lnTo>
                    <a:pt x="12696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633223"/>
            <a:ext cx="9535163" cy="427739"/>
            <a:chOff x="0" y="0"/>
            <a:chExt cx="12713551" cy="5703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2679681" cy="536448"/>
            </a:xfrm>
            <a:custGeom>
              <a:avLst/>
              <a:gdLst/>
              <a:ahLst/>
              <a:cxnLst/>
              <a:rect r="r" b="b" t="t" l="l"/>
              <a:pathLst>
                <a:path h="536448" w="12679681">
                  <a:moveTo>
                    <a:pt x="0" y="0"/>
                  </a:moveTo>
                  <a:lnTo>
                    <a:pt x="12679681" y="0"/>
                  </a:lnTo>
                  <a:lnTo>
                    <a:pt x="12679681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C212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713463" cy="570232"/>
            </a:xfrm>
            <a:custGeom>
              <a:avLst/>
              <a:gdLst/>
              <a:ahLst/>
              <a:cxnLst/>
              <a:rect r="r" b="b" t="t" l="l"/>
              <a:pathLst>
                <a:path h="570232" w="12713463">
                  <a:moveTo>
                    <a:pt x="16891" y="0"/>
                  </a:moveTo>
                  <a:lnTo>
                    <a:pt x="12696572" y="0"/>
                  </a:lnTo>
                  <a:cubicBezTo>
                    <a:pt x="12705969" y="0"/>
                    <a:pt x="12713463" y="7620"/>
                    <a:pt x="12713463" y="16891"/>
                  </a:cubicBezTo>
                  <a:lnTo>
                    <a:pt x="12713463" y="553339"/>
                  </a:lnTo>
                  <a:cubicBezTo>
                    <a:pt x="12713463" y="562737"/>
                    <a:pt x="12705842" y="570230"/>
                    <a:pt x="12696572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2696572" y="536448"/>
                  </a:lnTo>
                  <a:lnTo>
                    <a:pt x="12696572" y="553339"/>
                  </a:lnTo>
                  <a:lnTo>
                    <a:pt x="12679680" y="553339"/>
                  </a:lnTo>
                  <a:lnTo>
                    <a:pt x="12679680" y="16891"/>
                  </a:lnTo>
                  <a:lnTo>
                    <a:pt x="12696572" y="16891"/>
                  </a:lnTo>
                  <a:lnTo>
                    <a:pt x="12696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12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682496"/>
            <a:ext cx="9144000" cy="329184"/>
            <a:chOff x="0" y="0"/>
            <a:chExt cx="12192000" cy="4389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0" cy="438912"/>
            </a:xfrm>
            <a:custGeom>
              <a:avLst/>
              <a:gdLst/>
              <a:ahLst/>
              <a:cxnLst/>
              <a:rect r="r" b="b" t="t" l="l"/>
              <a:pathLst>
                <a:path h="43891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1251" r="0" b="-49125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1920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$ terminal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49813" y="2145030"/>
            <a:ext cx="9107424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// ❌ WRONG — won't work in production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const API = "http://localhost:8000";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// ✅ CORRECT — points to live Azure URL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const API = "https://neurofuzzy-depression.azurewebsites.net";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// API calls use the variable (no other changes needed)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fetch(`${API}/analyze/phq9`, {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method: "POST",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headers: { "Content-Type": "application/json" },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body: JSON.stringify(phq9Data)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29590" y="5193030"/>
            <a:ext cx="9547860" cy="2506980"/>
            <a:chOff x="0" y="0"/>
            <a:chExt cx="12730480" cy="3342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26796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30480" cy="3342640"/>
            </a:xfrm>
            <a:custGeom>
              <a:avLst/>
              <a:gdLst/>
              <a:ahLst/>
              <a:cxnLst/>
              <a:rect r="r" b="b" t="t" l="l"/>
              <a:pathLst>
                <a:path h="3342640" w="12730480">
                  <a:moveTo>
                    <a:pt x="25400" y="0"/>
                  </a:moveTo>
                  <a:lnTo>
                    <a:pt x="12705080" y="0"/>
                  </a:lnTo>
                  <a:cubicBezTo>
                    <a:pt x="12719050" y="0"/>
                    <a:pt x="12730480" y="11430"/>
                    <a:pt x="12730480" y="25400"/>
                  </a:cubicBezTo>
                  <a:lnTo>
                    <a:pt x="12730480" y="3317240"/>
                  </a:lnTo>
                  <a:cubicBezTo>
                    <a:pt x="12730480" y="3331210"/>
                    <a:pt x="12719050" y="3342640"/>
                    <a:pt x="1270508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12705080" y="3291840"/>
                  </a:lnTo>
                  <a:lnTo>
                    <a:pt x="12705080" y="3317240"/>
                  </a:lnTo>
                  <a:lnTo>
                    <a:pt x="12679680" y="3317240"/>
                  </a:lnTo>
                  <a:lnTo>
                    <a:pt x="12679680" y="25400"/>
                  </a:lnTo>
                  <a:lnTo>
                    <a:pt x="12705080" y="25400"/>
                  </a:lnTo>
                  <a:lnTo>
                    <a:pt x="127050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5943" y="5199383"/>
            <a:ext cx="153419" cy="2494283"/>
            <a:chOff x="0" y="0"/>
            <a:chExt cx="204559" cy="33257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5303520"/>
            <a:ext cx="9144000" cy="512064"/>
            <a:chOff x="0" y="0"/>
            <a:chExt cx="1219200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2192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F81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Serving Frontend from FastAPI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5814060"/>
            <a:ext cx="8997696" cy="168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FastAPI serves index.html at GET / route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os.path.join(os.getcwd(), 'frontend', 'index.html')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FileResponse streams HTML file to browser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Docker COPY . . includes entire frontend/ folder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No separate web server (nginx) needed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405110" y="1626870"/>
            <a:ext cx="7170420" cy="3329940"/>
            <a:chOff x="0" y="0"/>
            <a:chExt cx="9560560" cy="4439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25400"/>
              <a:ext cx="9509760" cy="4389120"/>
            </a:xfrm>
            <a:custGeom>
              <a:avLst/>
              <a:gdLst/>
              <a:ahLst/>
              <a:cxnLst/>
              <a:rect r="r" b="b" t="t" l="l"/>
              <a:pathLst>
                <a:path h="43891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60560" cy="4439920"/>
            </a:xfrm>
            <a:custGeom>
              <a:avLst/>
              <a:gdLst/>
              <a:ahLst/>
              <a:cxnLst/>
              <a:rect r="r" b="b" t="t" l="l"/>
              <a:pathLst>
                <a:path h="4439920" w="9560560">
                  <a:moveTo>
                    <a:pt x="25400" y="0"/>
                  </a:moveTo>
                  <a:lnTo>
                    <a:pt x="9535160" y="0"/>
                  </a:lnTo>
                  <a:cubicBezTo>
                    <a:pt x="9549130" y="0"/>
                    <a:pt x="9560560" y="11430"/>
                    <a:pt x="9560560" y="25400"/>
                  </a:cubicBezTo>
                  <a:lnTo>
                    <a:pt x="9560560" y="4414520"/>
                  </a:lnTo>
                  <a:cubicBezTo>
                    <a:pt x="9560560" y="4428490"/>
                    <a:pt x="9549130" y="4439920"/>
                    <a:pt x="9535160" y="4439920"/>
                  </a:cubicBezTo>
                  <a:lnTo>
                    <a:pt x="25400" y="4439920"/>
                  </a:lnTo>
                  <a:cubicBezTo>
                    <a:pt x="11430" y="4439920"/>
                    <a:pt x="0" y="4428490"/>
                    <a:pt x="0" y="44145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414520"/>
                  </a:lnTo>
                  <a:lnTo>
                    <a:pt x="25400" y="4414520"/>
                  </a:lnTo>
                  <a:lnTo>
                    <a:pt x="25400" y="4389120"/>
                  </a:lnTo>
                  <a:lnTo>
                    <a:pt x="9535160" y="4389120"/>
                  </a:lnTo>
                  <a:lnTo>
                    <a:pt x="9535160" y="4414520"/>
                  </a:lnTo>
                  <a:lnTo>
                    <a:pt x="9509760" y="4414520"/>
                  </a:lnTo>
                  <a:lnTo>
                    <a:pt x="9509760" y="25400"/>
                  </a:lnTo>
                  <a:lnTo>
                    <a:pt x="9535160" y="25400"/>
                  </a:lnTo>
                  <a:lnTo>
                    <a:pt x="95351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411463" y="1633223"/>
            <a:ext cx="153419" cy="3317243"/>
            <a:chOff x="0" y="0"/>
            <a:chExt cx="204559" cy="44229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70688" cy="4389120"/>
            </a:xfrm>
            <a:custGeom>
              <a:avLst/>
              <a:gdLst/>
              <a:ahLst/>
              <a:cxnLst/>
              <a:rect r="r" b="b" t="t" l="l"/>
              <a:pathLst>
                <a:path h="43891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4470" cy="4422902"/>
            </a:xfrm>
            <a:custGeom>
              <a:avLst/>
              <a:gdLst/>
              <a:ahLst/>
              <a:cxnLst/>
              <a:rect r="r" b="b" t="t" l="l"/>
              <a:pathLst>
                <a:path h="442290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406011"/>
                  </a:lnTo>
                  <a:cubicBezTo>
                    <a:pt x="204470" y="4415409"/>
                    <a:pt x="196850" y="4422902"/>
                    <a:pt x="187579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187579" y="4389120"/>
                  </a:lnTo>
                  <a:lnTo>
                    <a:pt x="187579" y="4406011"/>
                  </a:lnTo>
                  <a:lnTo>
                    <a:pt x="170688" y="440601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698480" y="1737360"/>
            <a:ext cx="6766560" cy="512064"/>
            <a:chOff x="0" y="0"/>
            <a:chExt cx="902208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CORS — Why It Matters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789920" y="2247900"/>
            <a:ext cx="6620256" cy="250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Browser blocks cross-origin API requests by default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 on domain A → calls API on domain B = blocked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FastAPI CORSMiddleware allows our frontend to call API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allow_origins=['*'] permits all origins for dev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Without this: 'Failed to fetch' errors in browser console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405110" y="5193030"/>
            <a:ext cx="7170420" cy="2506980"/>
            <a:chOff x="0" y="0"/>
            <a:chExt cx="9560560" cy="3342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5400"/>
              <a:ext cx="95097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60560" cy="3342640"/>
            </a:xfrm>
            <a:custGeom>
              <a:avLst/>
              <a:gdLst/>
              <a:ahLst/>
              <a:cxnLst/>
              <a:rect r="r" b="b" t="t" l="l"/>
              <a:pathLst>
                <a:path h="3342640" w="9560560">
                  <a:moveTo>
                    <a:pt x="25400" y="0"/>
                  </a:moveTo>
                  <a:lnTo>
                    <a:pt x="9535160" y="0"/>
                  </a:lnTo>
                  <a:cubicBezTo>
                    <a:pt x="9549130" y="0"/>
                    <a:pt x="9560560" y="11430"/>
                    <a:pt x="9560560" y="25400"/>
                  </a:cubicBezTo>
                  <a:lnTo>
                    <a:pt x="9560560" y="3317240"/>
                  </a:lnTo>
                  <a:cubicBezTo>
                    <a:pt x="9560560" y="3331210"/>
                    <a:pt x="9549130" y="3342640"/>
                    <a:pt x="953516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9535160" y="3291840"/>
                  </a:lnTo>
                  <a:lnTo>
                    <a:pt x="9535160" y="3317240"/>
                  </a:lnTo>
                  <a:lnTo>
                    <a:pt x="9509760" y="3317240"/>
                  </a:lnTo>
                  <a:lnTo>
                    <a:pt x="9509760" y="25400"/>
                  </a:lnTo>
                  <a:lnTo>
                    <a:pt x="9535160" y="25400"/>
                  </a:lnTo>
                  <a:lnTo>
                    <a:pt x="95351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411463" y="5199383"/>
            <a:ext cx="153419" cy="2494283"/>
            <a:chOff x="0" y="0"/>
            <a:chExt cx="204559" cy="33257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698480" y="5303520"/>
            <a:ext cx="6766560" cy="512064"/>
            <a:chOff x="0" y="0"/>
            <a:chExt cx="902208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BC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Integration Architecture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789920" y="5814060"/>
            <a:ext cx="6620256" cy="168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Browser loads index.html from Azure App URL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JS form submission → fetch(API + /analyze/full)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FastAPI processes → returns JSON result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 renders depression analysis result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Same domain = no CORS issues in our setup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529590" y="7844790"/>
            <a:ext cx="17045940" cy="1592580"/>
            <a:chOff x="0" y="0"/>
            <a:chExt cx="22727920" cy="212344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22727920" cy="2123440"/>
              <a:chOff x="0" y="0"/>
              <a:chExt cx="22727920" cy="212344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25400" y="25400"/>
                <a:ext cx="22677120" cy="2072640"/>
              </a:xfrm>
              <a:custGeom>
                <a:avLst/>
                <a:gdLst/>
                <a:ahLst/>
                <a:cxnLst/>
                <a:rect r="r" b="b" t="t" l="l"/>
                <a:pathLst>
                  <a:path h="2072640" w="22677120">
                    <a:moveTo>
                      <a:pt x="0" y="0"/>
                    </a:moveTo>
                    <a:lnTo>
                      <a:pt x="22677120" y="0"/>
                    </a:lnTo>
                    <a:lnTo>
                      <a:pt x="22677120" y="2072640"/>
                    </a:lnTo>
                    <a:lnTo>
                      <a:pt x="0" y="2072640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2727920" cy="2123440"/>
              </a:xfrm>
              <a:custGeom>
                <a:avLst/>
                <a:gdLst/>
                <a:ahLst/>
                <a:cxnLst/>
                <a:rect r="r" b="b" t="t" l="l"/>
                <a:pathLst>
                  <a:path h="2123440" w="22727920">
                    <a:moveTo>
                      <a:pt x="25400" y="0"/>
                    </a:moveTo>
                    <a:lnTo>
                      <a:pt x="22702520" y="0"/>
                    </a:lnTo>
                    <a:cubicBezTo>
                      <a:pt x="22716489" y="0"/>
                      <a:pt x="22727920" y="11430"/>
                      <a:pt x="22727920" y="25400"/>
                    </a:cubicBezTo>
                    <a:lnTo>
                      <a:pt x="22727920" y="2098040"/>
                    </a:lnTo>
                    <a:cubicBezTo>
                      <a:pt x="22727920" y="2112010"/>
                      <a:pt x="22716489" y="2123440"/>
                      <a:pt x="22702520" y="2123440"/>
                    </a:cubicBezTo>
                    <a:lnTo>
                      <a:pt x="25400" y="2123440"/>
                    </a:lnTo>
                    <a:cubicBezTo>
                      <a:pt x="11430" y="2123440"/>
                      <a:pt x="0" y="2112010"/>
                      <a:pt x="0" y="209804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2098040"/>
                    </a:lnTo>
                    <a:lnTo>
                      <a:pt x="25400" y="2098040"/>
                    </a:lnTo>
                    <a:lnTo>
                      <a:pt x="25400" y="2072640"/>
                    </a:lnTo>
                    <a:lnTo>
                      <a:pt x="22702520" y="2072640"/>
                    </a:lnTo>
                    <a:lnTo>
                      <a:pt x="22702520" y="2098040"/>
                    </a:lnTo>
                    <a:lnTo>
                      <a:pt x="22677120" y="2098040"/>
                    </a:lnTo>
                    <a:lnTo>
                      <a:pt x="22677120" y="25400"/>
                    </a:lnTo>
                    <a:lnTo>
                      <a:pt x="22702520" y="25400"/>
                    </a:lnTo>
                    <a:lnTo>
                      <a:pt x="2270252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8957E5"/>
              </a:solidFill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513080" y="220472"/>
              <a:ext cx="5364480" cy="633984"/>
              <a:chOff x="0" y="0"/>
              <a:chExt cx="5364480" cy="633984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536448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14873" r="0" b="-114873"/>
                </a:stretch>
              </a:blip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536448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8957E5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 Tip for future:</a:t>
                </a: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5389880" y="220472"/>
              <a:ext cx="16824960" cy="1658112"/>
              <a:chOff x="0" y="0"/>
              <a:chExt cx="16824960" cy="1658112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6824961" cy="1658112"/>
              </a:xfrm>
              <a:custGeom>
                <a:avLst/>
                <a:gdLst/>
                <a:ahLst/>
                <a:cxnLst/>
                <a:rect r="r" b="b" t="t" l="l"/>
                <a:pathLst>
                  <a:path h="1658112" w="16824961">
                    <a:moveTo>
                      <a:pt x="0" y="0"/>
                    </a:moveTo>
                    <a:lnTo>
                      <a:pt x="16824961" y="0"/>
                    </a:lnTo>
                    <a:lnTo>
                      <a:pt x="16824961" y="1658112"/>
                    </a:lnTo>
                    <a:lnTo>
                      <a:pt x="0" y="165811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47715" r="0" b="-147715"/>
                </a:stretch>
              </a:blip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16824960" cy="169621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C9D1D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Use  const API = window.location.origin;  — automatically detects localhost OR production Azure URL, making the code work in both environments without changes.</a:t>
                </a: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Fixing API Connectivity Issues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Diagnosing and resolving frontend-backend connection problems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9590" y="1626870"/>
            <a:ext cx="17228820" cy="2561844"/>
            <a:chOff x="0" y="0"/>
            <a:chExt cx="22971760" cy="34157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22920961" cy="3364992"/>
            </a:xfrm>
            <a:custGeom>
              <a:avLst/>
              <a:gdLst/>
              <a:ahLst/>
              <a:cxnLst/>
              <a:rect r="r" b="b" t="t" l="l"/>
              <a:pathLst>
                <a:path h="33649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71761" cy="3415792"/>
            </a:xfrm>
            <a:custGeom>
              <a:avLst/>
              <a:gdLst/>
              <a:ahLst/>
              <a:cxnLst/>
              <a:rect r="r" b="b" t="t" l="l"/>
              <a:pathLst>
                <a:path h="3415792" w="22971761">
                  <a:moveTo>
                    <a:pt x="25400" y="0"/>
                  </a:moveTo>
                  <a:lnTo>
                    <a:pt x="22946361" y="0"/>
                  </a:lnTo>
                  <a:cubicBezTo>
                    <a:pt x="22960330" y="0"/>
                    <a:pt x="22971761" y="11430"/>
                    <a:pt x="22971761" y="25400"/>
                  </a:cubicBezTo>
                  <a:lnTo>
                    <a:pt x="22971761" y="3390392"/>
                  </a:lnTo>
                  <a:cubicBezTo>
                    <a:pt x="22971761" y="3404362"/>
                    <a:pt x="22960330" y="3415792"/>
                    <a:pt x="22946361" y="3415792"/>
                  </a:cubicBezTo>
                  <a:lnTo>
                    <a:pt x="25400" y="3415792"/>
                  </a:lnTo>
                  <a:cubicBezTo>
                    <a:pt x="11430" y="3415792"/>
                    <a:pt x="0" y="3404362"/>
                    <a:pt x="0" y="339039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90392"/>
                  </a:lnTo>
                  <a:lnTo>
                    <a:pt x="25400" y="3390392"/>
                  </a:lnTo>
                  <a:lnTo>
                    <a:pt x="25400" y="3364992"/>
                  </a:lnTo>
                  <a:lnTo>
                    <a:pt x="22946361" y="3364992"/>
                  </a:lnTo>
                  <a:lnTo>
                    <a:pt x="22946361" y="3390392"/>
                  </a:lnTo>
                  <a:lnTo>
                    <a:pt x="22920961" y="3390392"/>
                  </a:lnTo>
                  <a:lnTo>
                    <a:pt x="22920961" y="25400"/>
                  </a:lnTo>
                  <a:lnTo>
                    <a:pt x="22946361" y="25400"/>
                  </a:lnTo>
                  <a:lnTo>
                    <a:pt x="22946361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633223"/>
            <a:ext cx="153419" cy="2549147"/>
            <a:chOff x="0" y="0"/>
            <a:chExt cx="204559" cy="33988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3364992"/>
            </a:xfrm>
            <a:custGeom>
              <a:avLst/>
              <a:gdLst/>
              <a:ahLst/>
              <a:cxnLst/>
              <a:rect r="r" b="b" t="t" l="l"/>
              <a:pathLst>
                <a:path h="33649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3398774"/>
            </a:xfrm>
            <a:custGeom>
              <a:avLst/>
              <a:gdLst/>
              <a:ahLst/>
              <a:cxnLst/>
              <a:rect r="r" b="b" t="t" l="l"/>
              <a:pathLst>
                <a:path h="33987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81883"/>
                  </a:lnTo>
                  <a:cubicBezTo>
                    <a:pt x="204470" y="3391281"/>
                    <a:pt x="196850" y="3398774"/>
                    <a:pt x="187579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87579" y="3364992"/>
                  </a:lnTo>
                  <a:lnTo>
                    <a:pt x="187579" y="3381883"/>
                  </a:lnTo>
                  <a:lnTo>
                    <a:pt x="170688" y="33818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737360"/>
            <a:ext cx="16459200" cy="475488"/>
            <a:chOff x="0" y="0"/>
            <a:chExt cx="21945600" cy="633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945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Error: "Failed to fetch"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2286000"/>
            <a:ext cx="16459200" cy="694944"/>
            <a:chOff x="0" y="0"/>
            <a:chExt cx="2194560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945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Cause: Frontend JavaScript was calling http://localhost:8000 — which doesn't exist on Azure's servers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3035808"/>
            <a:ext cx="16459200" cy="950976"/>
            <a:chOff x="0" y="0"/>
            <a:chExt cx="21945600" cy="12679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94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Fix: Changed: const API = "https://neurofuzzy-depression.azurewebsites.net"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Rebuild Docker image → push v8 → update Azure → restart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29590" y="4370070"/>
            <a:ext cx="17228820" cy="2561844"/>
            <a:chOff x="0" y="0"/>
            <a:chExt cx="22971760" cy="34157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22920961" cy="3364992"/>
            </a:xfrm>
            <a:custGeom>
              <a:avLst/>
              <a:gdLst/>
              <a:ahLst/>
              <a:cxnLst/>
              <a:rect r="r" b="b" t="t" l="l"/>
              <a:pathLst>
                <a:path h="33649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971761" cy="3415792"/>
            </a:xfrm>
            <a:custGeom>
              <a:avLst/>
              <a:gdLst/>
              <a:ahLst/>
              <a:cxnLst/>
              <a:rect r="r" b="b" t="t" l="l"/>
              <a:pathLst>
                <a:path h="3415792" w="22971761">
                  <a:moveTo>
                    <a:pt x="25400" y="0"/>
                  </a:moveTo>
                  <a:lnTo>
                    <a:pt x="22946361" y="0"/>
                  </a:lnTo>
                  <a:cubicBezTo>
                    <a:pt x="22960330" y="0"/>
                    <a:pt x="22971761" y="11430"/>
                    <a:pt x="22971761" y="25400"/>
                  </a:cubicBezTo>
                  <a:lnTo>
                    <a:pt x="22971761" y="3390392"/>
                  </a:lnTo>
                  <a:cubicBezTo>
                    <a:pt x="22971761" y="3404362"/>
                    <a:pt x="22960330" y="3415792"/>
                    <a:pt x="22946361" y="3415792"/>
                  </a:cubicBezTo>
                  <a:lnTo>
                    <a:pt x="25400" y="3415792"/>
                  </a:lnTo>
                  <a:cubicBezTo>
                    <a:pt x="11430" y="3415792"/>
                    <a:pt x="0" y="3404362"/>
                    <a:pt x="0" y="339039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90392"/>
                  </a:lnTo>
                  <a:lnTo>
                    <a:pt x="25400" y="3390392"/>
                  </a:lnTo>
                  <a:lnTo>
                    <a:pt x="25400" y="3364992"/>
                  </a:lnTo>
                  <a:lnTo>
                    <a:pt x="22946361" y="3364992"/>
                  </a:lnTo>
                  <a:lnTo>
                    <a:pt x="22946361" y="3390392"/>
                  </a:lnTo>
                  <a:lnTo>
                    <a:pt x="22920961" y="3390392"/>
                  </a:lnTo>
                  <a:lnTo>
                    <a:pt x="22920961" y="25400"/>
                  </a:lnTo>
                  <a:lnTo>
                    <a:pt x="22946361" y="25400"/>
                  </a:lnTo>
                  <a:lnTo>
                    <a:pt x="22946361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35943" y="4376423"/>
            <a:ext cx="153419" cy="2549147"/>
            <a:chOff x="0" y="0"/>
            <a:chExt cx="204559" cy="339886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70688" cy="3364992"/>
            </a:xfrm>
            <a:custGeom>
              <a:avLst/>
              <a:gdLst/>
              <a:ahLst/>
              <a:cxnLst/>
              <a:rect r="r" b="b" t="t" l="l"/>
              <a:pathLst>
                <a:path h="33649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4470" cy="3398774"/>
            </a:xfrm>
            <a:custGeom>
              <a:avLst/>
              <a:gdLst/>
              <a:ahLst/>
              <a:cxnLst/>
              <a:rect r="r" b="b" t="t" l="l"/>
              <a:pathLst>
                <a:path h="33987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81883"/>
                  </a:lnTo>
                  <a:cubicBezTo>
                    <a:pt x="204470" y="3391281"/>
                    <a:pt x="196850" y="3398774"/>
                    <a:pt x="187579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87579" y="3364992"/>
                  </a:lnTo>
                  <a:lnTo>
                    <a:pt x="187579" y="3381883"/>
                  </a:lnTo>
                  <a:lnTo>
                    <a:pt x="170688" y="33818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4480560"/>
            <a:ext cx="16459200" cy="475488"/>
            <a:chOff x="0" y="0"/>
            <a:chExt cx="21945600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1945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Error: 500 Internal Server Error on GET /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5029200"/>
            <a:ext cx="16459200" cy="694944"/>
            <a:chOff x="0" y="0"/>
            <a:chExt cx="2194560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45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Cause: FileResponse('frontend/index.html') — relative path failed because working directory mismatch inside container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5779008"/>
            <a:ext cx="16459200" cy="950976"/>
            <a:chOff x="0" y="0"/>
            <a:chExt cx="21945600" cy="12679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194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Fix: Used os.path.join(os.getcwd(), 'frontend', 'index.html') for absolute path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Added existence check to return helpful error instead of crash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29590" y="7113270"/>
            <a:ext cx="17228820" cy="2561844"/>
            <a:chOff x="0" y="0"/>
            <a:chExt cx="22971760" cy="34157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5400"/>
              <a:ext cx="22920961" cy="3364992"/>
            </a:xfrm>
            <a:custGeom>
              <a:avLst/>
              <a:gdLst/>
              <a:ahLst/>
              <a:cxnLst/>
              <a:rect r="r" b="b" t="t" l="l"/>
              <a:pathLst>
                <a:path h="33649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971761" cy="3415792"/>
            </a:xfrm>
            <a:custGeom>
              <a:avLst/>
              <a:gdLst/>
              <a:ahLst/>
              <a:cxnLst/>
              <a:rect r="r" b="b" t="t" l="l"/>
              <a:pathLst>
                <a:path h="3415792" w="22971761">
                  <a:moveTo>
                    <a:pt x="25400" y="0"/>
                  </a:moveTo>
                  <a:lnTo>
                    <a:pt x="22946361" y="0"/>
                  </a:lnTo>
                  <a:cubicBezTo>
                    <a:pt x="22960330" y="0"/>
                    <a:pt x="22971761" y="11430"/>
                    <a:pt x="22971761" y="25400"/>
                  </a:cubicBezTo>
                  <a:lnTo>
                    <a:pt x="22971761" y="3390392"/>
                  </a:lnTo>
                  <a:cubicBezTo>
                    <a:pt x="22971761" y="3404362"/>
                    <a:pt x="22960330" y="3415792"/>
                    <a:pt x="22946361" y="3415792"/>
                  </a:cubicBezTo>
                  <a:lnTo>
                    <a:pt x="25400" y="3415792"/>
                  </a:lnTo>
                  <a:cubicBezTo>
                    <a:pt x="11430" y="3415792"/>
                    <a:pt x="0" y="3404362"/>
                    <a:pt x="0" y="339039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90392"/>
                  </a:lnTo>
                  <a:lnTo>
                    <a:pt x="25400" y="3390392"/>
                  </a:lnTo>
                  <a:lnTo>
                    <a:pt x="25400" y="3364992"/>
                  </a:lnTo>
                  <a:lnTo>
                    <a:pt x="22946361" y="3364992"/>
                  </a:lnTo>
                  <a:lnTo>
                    <a:pt x="22946361" y="3390392"/>
                  </a:lnTo>
                  <a:lnTo>
                    <a:pt x="22920961" y="3390392"/>
                  </a:lnTo>
                  <a:lnTo>
                    <a:pt x="22920961" y="25400"/>
                  </a:lnTo>
                  <a:lnTo>
                    <a:pt x="22946361" y="25400"/>
                  </a:lnTo>
                  <a:lnTo>
                    <a:pt x="22946361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35943" y="7119623"/>
            <a:ext cx="153419" cy="2549147"/>
            <a:chOff x="0" y="0"/>
            <a:chExt cx="204559" cy="339886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3364992"/>
            </a:xfrm>
            <a:custGeom>
              <a:avLst/>
              <a:gdLst/>
              <a:ahLst/>
              <a:cxnLst/>
              <a:rect r="r" b="b" t="t" l="l"/>
              <a:pathLst>
                <a:path h="33649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D2992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3398774"/>
            </a:xfrm>
            <a:custGeom>
              <a:avLst/>
              <a:gdLst/>
              <a:ahLst/>
              <a:cxnLst/>
              <a:rect r="r" b="b" t="t" l="l"/>
              <a:pathLst>
                <a:path h="33987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81883"/>
                  </a:lnTo>
                  <a:cubicBezTo>
                    <a:pt x="204470" y="3391281"/>
                    <a:pt x="196850" y="3398774"/>
                    <a:pt x="187579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187579" y="3364992"/>
                  </a:lnTo>
                  <a:lnTo>
                    <a:pt x="187579" y="3381883"/>
                  </a:lnTo>
                  <a:lnTo>
                    <a:pt x="170688" y="33818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7223760"/>
            <a:ext cx="16459200" cy="475488"/>
            <a:chOff x="0" y="0"/>
            <a:chExt cx="21945600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1945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299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404 on /frontend/index.html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4400" y="7772400"/>
            <a:ext cx="16459200" cy="694944"/>
            <a:chOff x="0" y="0"/>
            <a:chExt cx="2194560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1945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Cause: Initially thought frontend folder wasn't in container. Confirmed it was included (COPY . . copies all), but path resolution was wrong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4400" y="8522208"/>
            <a:ext cx="16459200" cy="950976"/>
            <a:chOff x="0" y="0"/>
            <a:chExt cx="21945600" cy="12679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194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Fix: Fixed FileResponse to use absolute path. Static route at / now correctly returns index.html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FB95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Successful Deployment Verification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Confirming the live system works end-to-end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3237" y="1620517"/>
            <a:ext cx="17058637" cy="1422397"/>
            <a:chOff x="0" y="0"/>
            <a:chExt cx="22744849" cy="18965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909" y="33909"/>
              <a:ext cx="22677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F2A1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744937" cy="1896618"/>
            </a:xfrm>
            <a:custGeom>
              <a:avLst/>
              <a:gdLst/>
              <a:ahLst/>
              <a:cxnLst/>
              <a:rect r="r" b="b" t="t" l="l"/>
              <a:pathLst>
                <a:path h="1896618" w="22744937">
                  <a:moveTo>
                    <a:pt x="33909" y="0"/>
                  </a:moveTo>
                  <a:lnTo>
                    <a:pt x="22711029" y="0"/>
                  </a:lnTo>
                  <a:cubicBezTo>
                    <a:pt x="22729698" y="0"/>
                    <a:pt x="22744937" y="15113"/>
                    <a:pt x="22744937" y="33909"/>
                  </a:cubicBezTo>
                  <a:lnTo>
                    <a:pt x="22744937" y="1862709"/>
                  </a:lnTo>
                  <a:cubicBezTo>
                    <a:pt x="22744937" y="1881378"/>
                    <a:pt x="22729825" y="1896618"/>
                    <a:pt x="22711029" y="1896618"/>
                  </a:cubicBezTo>
                  <a:lnTo>
                    <a:pt x="33909" y="1896618"/>
                  </a:lnTo>
                  <a:cubicBezTo>
                    <a:pt x="15240" y="1896618"/>
                    <a:pt x="0" y="1881505"/>
                    <a:pt x="0" y="18627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862709"/>
                  </a:lnTo>
                  <a:lnTo>
                    <a:pt x="33909" y="1862709"/>
                  </a:lnTo>
                  <a:lnTo>
                    <a:pt x="33909" y="1828800"/>
                  </a:lnTo>
                  <a:lnTo>
                    <a:pt x="22711029" y="1828800"/>
                  </a:lnTo>
                  <a:lnTo>
                    <a:pt x="22711029" y="1862709"/>
                  </a:lnTo>
                  <a:lnTo>
                    <a:pt x="22677120" y="1862709"/>
                  </a:lnTo>
                  <a:lnTo>
                    <a:pt x="22677120" y="33909"/>
                  </a:lnTo>
                  <a:lnTo>
                    <a:pt x="22711029" y="33909"/>
                  </a:lnTo>
                  <a:lnTo>
                    <a:pt x="2271102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1792224"/>
            <a:ext cx="16459200" cy="914400"/>
            <a:chOff x="0" y="0"/>
            <a:chExt cx="219456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19456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3FB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🚀  App Live at: https://neurofuzzy-depression.azurewebsites.net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3187703"/>
            <a:ext cx="17033243" cy="720347"/>
            <a:chOff x="0" y="0"/>
            <a:chExt cx="22710991" cy="9604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677119" cy="926592"/>
            </a:xfrm>
            <a:custGeom>
              <a:avLst/>
              <a:gdLst/>
              <a:ahLst/>
              <a:cxnLst/>
              <a:rect r="r" b="b" t="t" l="l"/>
              <a:pathLst>
                <a:path h="926592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0902" cy="960376"/>
            </a:xfrm>
            <a:custGeom>
              <a:avLst/>
              <a:gdLst/>
              <a:ahLst/>
              <a:cxnLst/>
              <a:rect r="r" b="b" t="t" l="l"/>
              <a:pathLst>
                <a:path h="960376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943483"/>
                  </a:lnTo>
                  <a:cubicBezTo>
                    <a:pt x="22710902" y="952881"/>
                    <a:pt x="22703282" y="960374"/>
                    <a:pt x="22694010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2694010" y="926592"/>
                  </a:lnTo>
                  <a:lnTo>
                    <a:pt x="22694010" y="943483"/>
                  </a:lnTo>
                  <a:lnTo>
                    <a:pt x="22677120" y="943483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3328416"/>
            <a:ext cx="3291840" cy="457200"/>
            <a:chOff x="0" y="0"/>
            <a:chExt cx="438912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0" cy="609600"/>
            </a:xfrm>
            <a:custGeom>
              <a:avLst/>
              <a:gdLst/>
              <a:ahLst/>
              <a:cxnLst/>
              <a:rect r="r" b="b" t="t" l="l"/>
              <a:pathLst>
                <a:path h="609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3891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Endpoint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89120" y="3328416"/>
            <a:ext cx="12435840" cy="457200"/>
            <a:chOff x="0" y="0"/>
            <a:chExt cx="1658112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581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9993" r="0" b="-47999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65811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Verification Result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5943" y="3955799"/>
            <a:ext cx="17033243" cy="939803"/>
            <a:chOff x="0" y="0"/>
            <a:chExt cx="22710991" cy="12530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2267711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7109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236091"/>
                  </a:lnTo>
                  <a:cubicBezTo>
                    <a:pt x="22710902" y="1245489"/>
                    <a:pt x="22703282" y="1252982"/>
                    <a:pt x="2269401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694010" y="1219200"/>
                  </a:lnTo>
                  <a:lnTo>
                    <a:pt x="22694010" y="1236091"/>
                  </a:lnTo>
                  <a:lnTo>
                    <a:pt x="22677120" y="123609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31520" y="4151376"/>
            <a:ext cx="3474720" cy="512064"/>
            <a:chOff x="0" y="0"/>
            <a:chExt cx="463296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632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✅ /health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389120" y="4151376"/>
            <a:ext cx="12801600" cy="512064"/>
            <a:chOff x="0" y="0"/>
            <a:chExt cx="1706880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706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{"status":"ok","modules":["phq9_scorer","sentiment_analyzer","classifier"]}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35943" y="4943351"/>
            <a:ext cx="17033243" cy="939803"/>
            <a:chOff x="0" y="0"/>
            <a:chExt cx="22710991" cy="12530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2267711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7109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236091"/>
                  </a:lnTo>
                  <a:cubicBezTo>
                    <a:pt x="22710902" y="1245489"/>
                    <a:pt x="22703282" y="1252982"/>
                    <a:pt x="2269401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694010" y="1219200"/>
                  </a:lnTo>
                  <a:lnTo>
                    <a:pt x="22694010" y="1236091"/>
                  </a:lnTo>
                  <a:lnTo>
                    <a:pt x="22677120" y="123609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1520" y="5138928"/>
            <a:ext cx="3474720" cy="512064"/>
            <a:chOff x="0" y="0"/>
            <a:chExt cx="463296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632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✅ /docs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389120" y="5138928"/>
            <a:ext cx="12801600" cy="512064"/>
            <a:chOff x="0" y="0"/>
            <a:chExt cx="1706880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706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Swagger UI loaded — all 5 API endpoints listed and testable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35943" y="5930903"/>
            <a:ext cx="17033243" cy="939803"/>
            <a:chOff x="0" y="0"/>
            <a:chExt cx="22710991" cy="12530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2267711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7109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236091"/>
                  </a:lnTo>
                  <a:cubicBezTo>
                    <a:pt x="22710902" y="1245489"/>
                    <a:pt x="22703282" y="1252982"/>
                    <a:pt x="2269401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694010" y="1219200"/>
                  </a:lnTo>
                  <a:lnTo>
                    <a:pt x="22694010" y="1236091"/>
                  </a:lnTo>
                  <a:lnTo>
                    <a:pt x="22677120" y="123609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31520" y="6126480"/>
            <a:ext cx="3474720" cy="512064"/>
            <a:chOff x="0" y="0"/>
            <a:chExt cx="463296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632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✅ /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389120" y="6126480"/>
            <a:ext cx="12801600" cy="512064"/>
            <a:chOff x="0" y="0"/>
            <a:chExt cx="1706880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706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HTML page loads correctly in browser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35943" y="6918455"/>
            <a:ext cx="17033243" cy="939803"/>
            <a:chOff x="0" y="0"/>
            <a:chExt cx="22710991" cy="12530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267711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7109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236091"/>
                  </a:lnTo>
                  <a:cubicBezTo>
                    <a:pt x="22710902" y="1245489"/>
                    <a:pt x="22703282" y="1252982"/>
                    <a:pt x="2269401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694010" y="1219200"/>
                  </a:lnTo>
                  <a:lnTo>
                    <a:pt x="22694010" y="1236091"/>
                  </a:lnTo>
                  <a:lnTo>
                    <a:pt x="22677120" y="123609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31520" y="7114032"/>
            <a:ext cx="3474720" cy="512064"/>
            <a:chOff x="0" y="0"/>
            <a:chExt cx="463296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632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✅ /analyze/full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389120" y="7114032"/>
            <a:ext cx="12801600" cy="512064"/>
            <a:chOff x="0" y="0"/>
            <a:chExt cx="1706880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706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with PHQ-9 data returns depression classification JSON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7906007"/>
            <a:ext cx="17033243" cy="939803"/>
            <a:chOff x="0" y="0"/>
            <a:chExt cx="22710991" cy="12530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2267711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7109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236091"/>
                  </a:lnTo>
                  <a:cubicBezTo>
                    <a:pt x="22710902" y="1245489"/>
                    <a:pt x="22703282" y="1252982"/>
                    <a:pt x="2269401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694010" y="1219200"/>
                  </a:lnTo>
                  <a:lnTo>
                    <a:pt x="22694010" y="1236091"/>
                  </a:lnTo>
                  <a:lnTo>
                    <a:pt x="22677120" y="123609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31520" y="8101584"/>
            <a:ext cx="3474720" cy="512064"/>
            <a:chOff x="0" y="0"/>
            <a:chExt cx="463296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632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✅ /analyze/chat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389120" y="8101584"/>
            <a:ext cx="12801600" cy="512064"/>
            <a:chOff x="0" y="0"/>
            <a:chExt cx="1706880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706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with chat text returns sentiment + depression score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29590" y="8905494"/>
            <a:ext cx="17045940" cy="952500"/>
            <a:chOff x="0" y="0"/>
            <a:chExt cx="22727920" cy="1270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5400" y="25400"/>
              <a:ext cx="22677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72792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2727920">
                  <a:moveTo>
                    <a:pt x="25400" y="0"/>
                  </a:moveTo>
                  <a:lnTo>
                    <a:pt x="22702520" y="0"/>
                  </a:lnTo>
                  <a:cubicBezTo>
                    <a:pt x="22716489" y="0"/>
                    <a:pt x="22727920" y="11430"/>
                    <a:pt x="22727920" y="25400"/>
                  </a:cubicBezTo>
                  <a:lnTo>
                    <a:pt x="22727920" y="1244600"/>
                  </a:lnTo>
                  <a:cubicBezTo>
                    <a:pt x="22727920" y="1258570"/>
                    <a:pt x="22716489" y="1270000"/>
                    <a:pt x="22702520" y="1270000"/>
                  </a:cubicBezTo>
                  <a:lnTo>
                    <a:pt x="25400" y="1270000"/>
                  </a:lnTo>
                  <a:cubicBezTo>
                    <a:pt x="11430" y="1270000"/>
                    <a:pt x="0" y="1258570"/>
                    <a:pt x="0" y="1244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44600"/>
                  </a:lnTo>
                  <a:lnTo>
                    <a:pt x="25400" y="1244600"/>
                  </a:lnTo>
                  <a:lnTo>
                    <a:pt x="25400" y="1219200"/>
                  </a:lnTo>
                  <a:lnTo>
                    <a:pt x="22702520" y="1219200"/>
                  </a:lnTo>
                  <a:lnTo>
                    <a:pt x="22702520" y="1244600"/>
                  </a:lnTo>
                  <a:lnTo>
                    <a:pt x="22677120" y="1244600"/>
                  </a:lnTo>
                  <a:lnTo>
                    <a:pt x="22677120" y="25400"/>
                  </a:lnTo>
                  <a:lnTo>
                    <a:pt x="22702520" y="25400"/>
                  </a:lnTo>
                  <a:lnTo>
                    <a:pt x="2270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535943" y="8911847"/>
            <a:ext cx="153419" cy="939803"/>
            <a:chOff x="0" y="0"/>
            <a:chExt cx="204559" cy="125307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70688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FB95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4470" cy="1252984"/>
            </a:xfrm>
            <a:custGeom>
              <a:avLst/>
              <a:gdLst/>
              <a:ahLst/>
              <a:cxnLst/>
              <a:rect r="r" b="b" t="t" l="l"/>
              <a:pathLst>
                <a:path h="125298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236091"/>
                  </a:lnTo>
                  <a:cubicBezTo>
                    <a:pt x="204470" y="1245489"/>
                    <a:pt x="196850" y="1252982"/>
                    <a:pt x="187579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87579" y="1219200"/>
                  </a:lnTo>
                  <a:lnTo>
                    <a:pt x="187579" y="1236091"/>
                  </a:lnTo>
                  <a:lnTo>
                    <a:pt x="170688" y="12360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914400" y="9069324"/>
            <a:ext cx="16495776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Runtime Status: Healthy  •  Container: v8 running  •  API modules: 3 loaded  •  First response time: ~30s (model loading)  •  Subsequent: &lt;2s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Faced During Deployment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Real-world obstacles encountered on the path to production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633223"/>
            <a:ext cx="8346443" cy="3591563"/>
            <a:chOff x="0" y="0"/>
            <a:chExt cx="11128591" cy="47887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947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5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771771"/>
                  </a:lnTo>
                  <a:cubicBezTo>
                    <a:pt x="11128501" y="4781169"/>
                    <a:pt x="11120882" y="4788662"/>
                    <a:pt x="111116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11111611" y="4754880"/>
                  </a:lnTo>
                  <a:lnTo>
                    <a:pt x="11111611" y="4771771"/>
                  </a:lnTo>
                  <a:lnTo>
                    <a:pt x="11094720" y="47717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633223"/>
            <a:ext cx="8346443" cy="574043"/>
            <a:chOff x="0" y="0"/>
            <a:chExt cx="11128591" cy="7653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2A1A0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28501" cy="765304"/>
            </a:xfrm>
            <a:custGeom>
              <a:avLst/>
              <a:gdLst/>
              <a:ahLst/>
              <a:cxnLst/>
              <a:rect r="r" b="b" t="t" l="l"/>
              <a:pathLst>
                <a:path h="76530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48411"/>
                  </a:lnTo>
                  <a:cubicBezTo>
                    <a:pt x="11128501" y="757809"/>
                    <a:pt x="11120882" y="765302"/>
                    <a:pt x="111116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1111611" y="731520"/>
                  </a:lnTo>
                  <a:lnTo>
                    <a:pt x="11111611" y="748411"/>
                  </a:lnTo>
                  <a:lnTo>
                    <a:pt x="11094720" y="7484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682496"/>
            <a:ext cx="7955280" cy="475488"/>
            <a:chOff x="0" y="0"/>
            <a:chExt cx="10607040" cy="633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07040" cy="633984"/>
            </a:xfrm>
            <a:custGeom>
              <a:avLst/>
              <a:gdLst/>
              <a:ahLst/>
              <a:cxnLst/>
              <a:rect r="r" b="b" t="t" l="l"/>
              <a:pathLst>
                <a:path h="63398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999" r="0" b="-27599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6070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🐳  Docker Build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31520" y="2266188"/>
            <a:ext cx="7991856" cy="283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pyaudio requires gcc compiler not present in slim image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torch default pulls 2GB CUDA — container too heavy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Docker Desktop not running: daemon connection error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CMD specified twice in Dockerfile — last one silently wins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35943" y="5473703"/>
            <a:ext cx="8346443" cy="3591563"/>
            <a:chOff x="0" y="0"/>
            <a:chExt cx="11128591" cy="47887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10947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285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771771"/>
                  </a:lnTo>
                  <a:cubicBezTo>
                    <a:pt x="11128501" y="4781169"/>
                    <a:pt x="11120882" y="4788662"/>
                    <a:pt x="111116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11111611" y="4754880"/>
                  </a:lnTo>
                  <a:lnTo>
                    <a:pt x="11111611" y="4771771"/>
                  </a:lnTo>
                  <a:lnTo>
                    <a:pt x="11094720" y="47717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5943" y="5473703"/>
            <a:ext cx="8346443" cy="574043"/>
            <a:chOff x="0" y="0"/>
            <a:chExt cx="11128591" cy="7653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2A1A0A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128501" cy="765304"/>
            </a:xfrm>
            <a:custGeom>
              <a:avLst/>
              <a:gdLst/>
              <a:ahLst/>
              <a:cxnLst/>
              <a:rect r="r" b="b" t="t" l="l"/>
              <a:pathLst>
                <a:path h="76530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48411"/>
                  </a:lnTo>
                  <a:cubicBezTo>
                    <a:pt x="11128501" y="757809"/>
                    <a:pt x="11120882" y="765302"/>
                    <a:pt x="111116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1111611" y="731520"/>
                  </a:lnTo>
                  <a:lnTo>
                    <a:pt x="11111611" y="748411"/>
                  </a:lnTo>
                  <a:lnTo>
                    <a:pt x="11094720" y="7484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31520" y="5522976"/>
            <a:ext cx="7955280" cy="475488"/>
            <a:chOff x="0" y="0"/>
            <a:chExt cx="10607040" cy="6339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07040" cy="633984"/>
            </a:xfrm>
            <a:custGeom>
              <a:avLst/>
              <a:gdLst/>
              <a:ahLst/>
              <a:cxnLst/>
              <a:rect r="r" b="b" t="t" l="l"/>
              <a:pathLst>
                <a:path h="63398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999" r="0" b="-27599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6070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☁️  Azure Setup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31520" y="6106668"/>
            <a:ext cx="7991856" cy="283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az CLI not recognized (not installed on Windows)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az login browser sync failed — needed --use-device-code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ACR admin password was null — container couldn't pull image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PowerShell: ^ multiline doesn't work, need backtick or single line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22743" y="1633223"/>
            <a:ext cx="8346443" cy="3591563"/>
            <a:chOff x="0" y="0"/>
            <a:chExt cx="11128591" cy="47887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10947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285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771771"/>
                  </a:lnTo>
                  <a:cubicBezTo>
                    <a:pt x="11128501" y="4781169"/>
                    <a:pt x="11120882" y="4788662"/>
                    <a:pt x="111116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11111611" y="4754880"/>
                  </a:lnTo>
                  <a:lnTo>
                    <a:pt x="11111611" y="4771771"/>
                  </a:lnTo>
                  <a:lnTo>
                    <a:pt x="11094720" y="47717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222743" y="1633223"/>
            <a:ext cx="8346443" cy="574043"/>
            <a:chOff x="0" y="0"/>
            <a:chExt cx="11128591" cy="7653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2A1A0A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128501" cy="765304"/>
            </a:xfrm>
            <a:custGeom>
              <a:avLst/>
              <a:gdLst/>
              <a:ahLst/>
              <a:cxnLst/>
              <a:rect r="r" b="b" t="t" l="l"/>
              <a:pathLst>
                <a:path h="76530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48411"/>
                  </a:lnTo>
                  <a:cubicBezTo>
                    <a:pt x="11128501" y="757809"/>
                    <a:pt x="11120882" y="765302"/>
                    <a:pt x="111116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1111611" y="731520"/>
                  </a:lnTo>
                  <a:lnTo>
                    <a:pt x="11111611" y="748411"/>
                  </a:lnTo>
                  <a:lnTo>
                    <a:pt x="11094720" y="7484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418320" y="1682496"/>
            <a:ext cx="7955280" cy="475488"/>
            <a:chOff x="0" y="0"/>
            <a:chExt cx="10607040" cy="6339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07040" cy="633984"/>
            </a:xfrm>
            <a:custGeom>
              <a:avLst/>
              <a:gdLst/>
              <a:ahLst/>
              <a:cxnLst/>
              <a:rect r="r" b="b" t="t" l="l"/>
              <a:pathLst>
                <a:path h="63398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999" r="0" b="-27599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6070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⚙️  Container Startup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418320" y="2266188"/>
            <a:ext cx="7991856" cy="283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ContainerTimeout after 230 seconds — ML models load too slowly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Status: Unknown — Azure couldn't confirm app started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Startup command location changed in new Azure UI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WEBSITES_PORT not set — Azure tried wrong port (80 vs 8000)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222743" y="5473703"/>
            <a:ext cx="8346443" cy="3591563"/>
            <a:chOff x="0" y="0"/>
            <a:chExt cx="11128591" cy="47887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10947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1285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771771"/>
                  </a:lnTo>
                  <a:cubicBezTo>
                    <a:pt x="11128501" y="4781169"/>
                    <a:pt x="11120882" y="4788662"/>
                    <a:pt x="111116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11111611" y="4754880"/>
                  </a:lnTo>
                  <a:lnTo>
                    <a:pt x="11111611" y="4771771"/>
                  </a:lnTo>
                  <a:lnTo>
                    <a:pt x="11094720" y="47717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222743" y="5473703"/>
            <a:ext cx="8346443" cy="574043"/>
            <a:chOff x="0" y="0"/>
            <a:chExt cx="11128591" cy="7653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2A1A0A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128501" cy="765304"/>
            </a:xfrm>
            <a:custGeom>
              <a:avLst/>
              <a:gdLst/>
              <a:ahLst/>
              <a:cxnLst/>
              <a:rect r="r" b="b" t="t" l="l"/>
              <a:pathLst>
                <a:path h="76530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48411"/>
                  </a:lnTo>
                  <a:cubicBezTo>
                    <a:pt x="11128501" y="757809"/>
                    <a:pt x="11120882" y="765302"/>
                    <a:pt x="111116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1111611" y="731520"/>
                  </a:lnTo>
                  <a:lnTo>
                    <a:pt x="11111611" y="748411"/>
                  </a:lnTo>
                  <a:lnTo>
                    <a:pt x="11094720" y="7484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18320" y="5522976"/>
            <a:ext cx="7955280" cy="475488"/>
            <a:chOff x="0" y="0"/>
            <a:chExt cx="10607040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07040" cy="633984"/>
            </a:xfrm>
            <a:custGeom>
              <a:avLst/>
              <a:gdLst/>
              <a:ahLst/>
              <a:cxnLst/>
              <a:rect r="r" b="b" t="t" l="l"/>
              <a:pathLst>
                <a:path h="63398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999" r="0" b="-27599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6070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🌐  Frontend-Backend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418320" y="6106668"/>
            <a:ext cx="7991856" cy="283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localhost:8000 hardcoded — failed in production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 folder not served (FileResponse path issue)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CORS errors when calling API from browser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Browser cache serving old JS with old localhost URL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FB95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Solutions &amp; Fixes Implemented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every challenge was diagnosed and resolved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633223"/>
            <a:ext cx="17033243" cy="1140971"/>
            <a:chOff x="0" y="0"/>
            <a:chExt cx="22710991" cy="15212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677119" cy="1487424"/>
            </a:xfrm>
            <a:custGeom>
              <a:avLst/>
              <a:gdLst/>
              <a:ahLst/>
              <a:cxnLst/>
              <a:rect r="r" b="b" t="t" l="l"/>
              <a:pathLst>
                <a:path h="1487424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487424"/>
                  </a:lnTo>
                  <a:lnTo>
                    <a:pt x="0" y="1487424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710902" cy="1521206"/>
            </a:xfrm>
            <a:custGeom>
              <a:avLst/>
              <a:gdLst/>
              <a:ahLst/>
              <a:cxnLst/>
              <a:rect r="r" b="b" t="t" l="l"/>
              <a:pathLst>
                <a:path h="1521206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504315"/>
                  </a:lnTo>
                  <a:cubicBezTo>
                    <a:pt x="22710902" y="1513713"/>
                    <a:pt x="22703282" y="1521206"/>
                    <a:pt x="22694010" y="1521206"/>
                  </a:cubicBezTo>
                  <a:lnTo>
                    <a:pt x="16891" y="1521206"/>
                  </a:lnTo>
                  <a:cubicBezTo>
                    <a:pt x="7493" y="1521206"/>
                    <a:pt x="0" y="1513586"/>
                    <a:pt x="0" y="1504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04315"/>
                  </a:lnTo>
                  <a:lnTo>
                    <a:pt x="16891" y="1504315"/>
                  </a:lnTo>
                  <a:lnTo>
                    <a:pt x="16891" y="1487424"/>
                  </a:lnTo>
                  <a:lnTo>
                    <a:pt x="22694010" y="1487424"/>
                  </a:lnTo>
                  <a:lnTo>
                    <a:pt x="22694010" y="1504315"/>
                  </a:lnTo>
                  <a:lnTo>
                    <a:pt x="22677120" y="1504315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633223"/>
            <a:ext cx="153419" cy="1140971"/>
            <a:chOff x="0" y="0"/>
            <a:chExt cx="204559" cy="15212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1487424"/>
            </a:xfrm>
            <a:custGeom>
              <a:avLst/>
              <a:gdLst/>
              <a:ahLst/>
              <a:cxnLst/>
              <a:rect r="r" b="b" t="t" l="l"/>
              <a:pathLst>
                <a:path h="148742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487424"/>
                  </a:lnTo>
                  <a:lnTo>
                    <a:pt x="0" y="1487424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1521206"/>
            </a:xfrm>
            <a:custGeom>
              <a:avLst/>
              <a:gdLst/>
              <a:ahLst/>
              <a:cxnLst/>
              <a:rect r="r" b="b" t="t" l="l"/>
              <a:pathLst>
                <a:path h="152120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04315"/>
                  </a:lnTo>
                  <a:cubicBezTo>
                    <a:pt x="204470" y="1513713"/>
                    <a:pt x="196850" y="1521206"/>
                    <a:pt x="187579" y="1521206"/>
                  </a:cubicBezTo>
                  <a:lnTo>
                    <a:pt x="16891" y="1521206"/>
                  </a:lnTo>
                  <a:cubicBezTo>
                    <a:pt x="7493" y="1521206"/>
                    <a:pt x="0" y="1513586"/>
                    <a:pt x="0" y="1504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04315"/>
                  </a:lnTo>
                  <a:lnTo>
                    <a:pt x="16891" y="1504315"/>
                  </a:lnTo>
                  <a:lnTo>
                    <a:pt x="16891" y="1487424"/>
                  </a:lnTo>
                  <a:lnTo>
                    <a:pt x="187579" y="1487424"/>
                  </a:lnTo>
                  <a:lnTo>
                    <a:pt x="187579" y="1504315"/>
                  </a:lnTo>
                  <a:lnTo>
                    <a:pt x="170688" y="1504315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737360"/>
            <a:ext cx="7315200" cy="438912"/>
            <a:chOff x="0" y="0"/>
            <a:chExt cx="975360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pyaudio build fail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2212848"/>
            <a:ext cx="16459200" cy="475488"/>
            <a:chOff x="0" y="0"/>
            <a:chExt cx="21945600" cy="633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 Removed pyaudio from requirements.txt — cloud has no microphone hardware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5943" y="2858519"/>
            <a:ext cx="17033243" cy="1140971"/>
            <a:chOff x="0" y="0"/>
            <a:chExt cx="22710991" cy="15212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2677119" cy="1487424"/>
            </a:xfrm>
            <a:custGeom>
              <a:avLst/>
              <a:gdLst/>
              <a:ahLst/>
              <a:cxnLst/>
              <a:rect r="r" b="b" t="t" l="l"/>
              <a:pathLst>
                <a:path h="1487424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487424"/>
                  </a:lnTo>
                  <a:lnTo>
                    <a:pt x="0" y="1487424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710902" cy="1521206"/>
            </a:xfrm>
            <a:custGeom>
              <a:avLst/>
              <a:gdLst/>
              <a:ahLst/>
              <a:cxnLst/>
              <a:rect r="r" b="b" t="t" l="l"/>
              <a:pathLst>
                <a:path h="1521206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504315"/>
                  </a:lnTo>
                  <a:cubicBezTo>
                    <a:pt x="22710902" y="1513713"/>
                    <a:pt x="22703282" y="1521206"/>
                    <a:pt x="22694010" y="1521206"/>
                  </a:cubicBezTo>
                  <a:lnTo>
                    <a:pt x="16891" y="1521206"/>
                  </a:lnTo>
                  <a:cubicBezTo>
                    <a:pt x="7493" y="1521206"/>
                    <a:pt x="0" y="1513586"/>
                    <a:pt x="0" y="1504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04315"/>
                  </a:lnTo>
                  <a:lnTo>
                    <a:pt x="16891" y="1504315"/>
                  </a:lnTo>
                  <a:lnTo>
                    <a:pt x="16891" y="1487424"/>
                  </a:lnTo>
                  <a:lnTo>
                    <a:pt x="22694010" y="1487424"/>
                  </a:lnTo>
                  <a:lnTo>
                    <a:pt x="22694010" y="1504315"/>
                  </a:lnTo>
                  <a:lnTo>
                    <a:pt x="22677120" y="1504315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35943" y="2858519"/>
            <a:ext cx="153419" cy="1140971"/>
            <a:chOff x="0" y="0"/>
            <a:chExt cx="204559" cy="15212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70688" cy="1487424"/>
            </a:xfrm>
            <a:custGeom>
              <a:avLst/>
              <a:gdLst/>
              <a:ahLst/>
              <a:cxnLst/>
              <a:rect r="r" b="b" t="t" l="l"/>
              <a:pathLst>
                <a:path h="148742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487424"/>
                  </a:lnTo>
                  <a:lnTo>
                    <a:pt x="0" y="1487424"/>
                  </a:lnTo>
                  <a:close/>
                </a:path>
              </a:pathLst>
            </a:custGeom>
            <a:solidFill>
              <a:srgbClr val="3FB95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470" cy="1521206"/>
            </a:xfrm>
            <a:custGeom>
              <a:avLst/>
              <a:gdLst/>
              <a:ahLst/>
              <a:cxnLst/>
              <a:rect r="r" b="b" t="t" l="l"/>
              <a:pathLst>
                <a:path h="152120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04315"/>
                  </a:lnTo>
                  <a:cubicBezTo>
                    <a:pt x="204470" y="1513713"/>
                    <a:pt x="196850" y="1521206"/>
                    <a:pt x="187579" y="1521206"/>
                  </a:cubicBezTo>
                  <a:lnTo>
                    <a:pt x="16891" y="1521206"/>
                  </a:lnTo>
                  <a:cubicBezTo>
                    <a:pt x="7493" y="1521206"/>
                    <a:pt x="0" y="1513586"/>
                    <a:pt x="0" y="1504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04315"/>
                  </a:lnTo>
                  <a:lnTo>
                    <a:pt x="16891" y="1504315"/>
                  </a:lnTo>
                  <a:lnTo>
                    <a:pt x="16891" y="1487424"/>
                  </a:lnTo>
                  <a:lnTo>
                    <a:pt x="187579" y="1487424"/>
                  </a:lnTo>
                  <a:lnTo>
                    <a:pt x="187579" y="1504315"/>
                  </a:lnTo>
                  <a:lnTo>
                    <a:pt x="170688" y="1504315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2962656"/>
            <a:ext cx="7315200" cy="438912"/>
            <a:chOff x="0" y="0"/>
            <a:chExt cx="975360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Oversized Docker image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3438144"/>
            <a:ext cx="16459200" cy="475488"/>
            <a:chOff x="0" y="0"/>
            <a:chExt cx="21945600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 Used torch==2.3.0+cpu with --extra-index-url → image from 5GB to 1.85GB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35943" y="4083815"/>
            <a:ext cx="17033243" cy="1140971"/>
            <a:chOff x="0" y="0"/>
            <a:chExt cx="22710991" cy="15212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22677119" cy="1487424"/>
            </a:xfrm>
            <a:custGeom>
              <a:avLst/>
              <a:gdLst/>
              <a:ahLst/>
              <a:cxnLst/>
              <a:rect r="r" b="b" t="t" l="l"/>
              <a:pathLst>
                <a:path h="1487424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487424"/>
                  </a:lnTo>
                  <a:lnTo>
                    <a:pt x="0" y="1487424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710902" cy="1521206"/>
            </a:xfrm>
            <a:custGeom>
              <a:avLst/>
              <a:gdLst/>
              <a:ahLst/>
              <a:cxnLst/>
              <a:rect r="r" b="b" t="t" l="l"/>
              <a:pathLst>
                <a:path h="1521206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504315"/>
                  </a:lnTo>
                  <a:cubicBezTo>
                    <a:pt x="22710902" y="1513713"/>
                    <a:pt x="22703282" y="1521206"/>
                    <a:pt x="22694010" y="1521206"/>
                  </a:cubicBezTo>
                  <a:lnTo>
                    <a:pt x="16891" y="1521206"/>
                  </a:lnTo>
                  <a:cubicBezTo>
                    <a:pt x="7493" y="1521206"/>
                    <a:pt x="0" y="1513586"/>
                    <a:pt x="0" y="1504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04315"/>
                  </a:lnTo>
                  <a:lnTo>
                    <a:pt x="16891" y="1504315"/>
                  </a:lnTo>
                  <a:lnTo>
                    <a:pt x="16891" y="1487424"/>
                  </a:lnTo>
                  <a:lnTo>
                    <a:pt x="22694010" y="1487424"/>
                  </a:lnTo>
                  <a:lnTo>
                    <a:pt x="22694010" y="1504315"/>
                  </a:lnTo>
                  <a:lnTo>
                    <a:pt x="22677120" y="1504315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35943" y="4083815"/>
            <a:ext cx="153419" cy="1140971"/>
            <a:chOff x="0" y="0"/>
            <a:chExt cx="204559" cy="152129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70688" cy="1487424"/>
            </a:xfrm>
            <a:custGeom>
              <a:avLst/>
              <a:gdLst/>
              <a:ahLst/>
              <a:cxnLst/>
              <a:rect r="r" b="b" t="t" l="l"/>
              <a:pathLst>
                <a:path h="148742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487424"/>
                  </a:lnTo>
                  <a:lnTo>
                    <a:pt x="0" y="1487424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470" cy="1521206"/>
            </a:xfrm>
            <a:custGeom>
              <a:avLst/>
              <a:gdLst/>
              <a:ahLst/>
              <a:cxnLst/>
              <a:rect r="r" b="b" t="t" l="l"/>
              <a:pathLst>
                <a:path h="152120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04315"/>
                  </a:lnTo>
                  <a:cubicBezTo>
                    <a:pt x="204470" y="1513713"/>
                    <a:pt x="196850" y="1521206"/>
                    <a:pt x="187579" y="1521206"/>
                  </a:cubicBezTo>
                  <a:lnTo>
                    <a:pt x="16891" y="1521206"/>
                  </a:lnTo>
                  <a:cubicBezTo>
                    <a:pt x="7493" y="1521206"/>
                    <a:pt x="0" y="1513586"/>
                    <a:pt x="0" y="1504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04315"/>
                  </a:lnTo>
                  <a:lnTo>
                    <a:pt x="16891" y="1504315"/>
                  </a:lnTo>
                  <a:lnTo>
                    <a:pt x="16891" y="1487424"/>
                  </a:lnTo>
                  <a:lnTo>
                    <a:pt x="187579" y="1487424"/>
                  </a:lnTo>
                  <a:lnTo>
                    <a:pt x="187579" y="1504315"/>
                  </a:lnTo>
                  <a:lnTo>
                    <a:pt x="170688" y="1504315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4187952"/>
            <a:ext cx="7315200" cy="438912"/>
            <a:chOff x="0" y="0"/>
            <a:chExt cx="9753600" cy="5852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Container startup timeout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4400" y="4663440"/>
            <a:ext cx="16459200" cy="475488"/>
            <a:chOff x="0" y="0"/>
            <a:chExt cx="21945600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 Set WEBSITES_CONTAINER_START_TIME_LIMIT=1800 (30 minutes for ML models)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5943" y="5309111"/>
            <a:ext cx="17033243" cy="1140971"/>
            <a:chOff x="0" y="0"/>
            <a:chExt cx="22710991" cy="152129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2677119" cy="1487424"/>
            </a:xfrm>
            <a:custGeom>
              <a:avLst/>
              <a:gdLst/>
              <a:ahLst/>
              <a:cxnLst/>
              <a:rect r="r" b="b" t="t" l="l"/>
              <a:pathLst>
                <a:path h="1487424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487424"/>
                  </a:lnTo>
                  <a:lnTo>
                    <a:pt x="0" y="1487424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710902" cy="1521206"/>
            </a:xfrm>
            <a:custGeom>
              <a:avLst/>
              <a:gdLst/>
              <a:ahLst/>
              <a:cxnLst/>
              <a:rect r="r" b="b" t="t" l="l"/>
              <a:pathLst>
                <a:path h="1521206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504315"/>
                  </a:lnTo>
                  <a:cubicBezTo>
                    <a:pt x="22710902" y="1513713"/>
                    <a:pt x="22703282" y="1521206"/>
                    <a:pt x="22694010" y="1521206"/>
                  </a:cubicBezTo>
                  <a:lnTo>
                    <a:pt x="16891" y="1521206"/>
                  </a:lnTo>
                  <a:cubicBezTo>
                    <a:pt x="7493" y="1521206"/>
                    <a:pt x="0" y="1513586"/>
                    <a:pt x="0" y="1504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04315"/>
                  </a:lnTo>
                  <a:lnTo>
                    <a:pt x="16891" y="1504315"/>
                  </a:lnTo>
                  <a:lnTo>
                    <a:pt x="16891" y="1487424"/>
                  </a:lnTo>
                  <a:lnTo>
                    <a:pt x="22694010" y="1487424"/>
                  </a:lnTo>
                  <a:lnTo>
                    <a:pt x="22694010" y="1504315"/>
                  </a:lnTo>
                  <a:lnTo>
                    <a:pt x="22677120" y="1504315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35943" y="5309111"/>
            <a:ext cx="153419" cy="1140971"/>
            <a:chOff x="0" y="0"/>
            <a:chExt cx="204559" cy="152129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0688" cy="1487424"/>
            </a:xfrm>
            <a:custGeom>
              <a:avLst/>
              <a:gdLst/>
              <a:ahLst/>
              <a:cxnLst/>
              <a:rect r="r" b="b" t="t" l="l"/>
              <a:pathLst>
                <a:path h="148742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487424"/>
                  </a:lnTo>
                  <a:lnTo>
                    <a:pt x="0" y="1487424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470" cy="1521206"/>
            </a:xfrm>
            <a:custGeom>
              <a:avLst/>
              <a:gdLst/>
              <a:ahLst/>
              <a:cxnLst/>
              <a:rect r="r" b="b" t="t" l="l"/>
              <a:pathLst>
                <a:path h="152120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04315"/>
                  </a:lnTo>
                  <a:cubicBezTo>
                    <a:pt x="204470" y="1513713"/>
                    <a:pt x="196850" y="1521206"/>
                    <a:pt x="187579" y="1521206"/>
                  </a:cubicBezTo>
                  <a:lnTo>
                    <a:pt x="16891" y="1521206"/>
                  </a:lnTo>
                  <a:cubicBezTo>
                    <a:pt x="7493" y="1521206"/>
                    <a:pt x="0" y="1513586"/>
                    <a:pt x="0" y="1504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04315"/>
                  </a:lnTo>
                  <a:lnTo>
                    <a:pt x="16891" y="1504315"/>
                  </a:lnTo>
                  <a:lnTo>
                    <a:pt x="16891" y="1487424"/>
                  </a:lnTo>
                  <a:lnTo>
                    <a:pt x="187579" y="1487424"/>
                  </a:lnTo>
                  <a:lnTo>
                    <a:pt x="187579" y="1504315"/>
                  </a:lnTo>
                  <a:lnTo>
                    <a:pt x="170688" y="1504315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14400" y="5413248"/>
            <a:ext cx="7315200" cy="438912"/>
            <a:chOff x="0" y="0"/>
            <a:chExt cx="9753600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ACR auth null password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4400" y="5888736"/>
            <a:ext cx="16459200" cy="475488"/>
            <a:chOff x="0" y="0"/>
            <a:chExt cx="21945600" cy="633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 Used az acr credential show → explicitly set DOCKER_REGISTRY_SERVER_PASSWORD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35943" y="6534407"/>
            <a:ext cx="17033243" cy="1140971"/>
            <a:chOff x="0" y="0"/>
            <a:chExt cx="22710991" cy="152129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2677119" cy="1487424"/>
            </a:xfrm>
            <a:custGeom>
              <a:avLst/>
              <a:gdLst/>
              <a:ahLst/>
              <a:cxnLst/>
              <a:rect r="r" b="b" t="t" l="l"/>
              <a:pathLst>
                <a:path h="1487424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487424"/>
                  </a:lnTo>
                  <a:lnTo>
                    <a:pt x="0" y="1487424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710902" cy="1521206"/>
            </a:xfrm>
            <a:custGeom>
              <a:avLst/>
              <a:gdLst/>
              <a:ahLst/>
              <a:cxnLst/>
              <a:rect r="r" b="b" t="t" l="l"/>
              <a:pathLst>
                <a:path h="1521206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504315"/>
                  </a:lnTo>
                  <a:cubicBezTo>
                    <a:pt x="22710902" y="1513713"/>
                    <a:pt x="22703282" y="1521206"/>
                    <a:pt x="22694010" y="1521206"/>
                  </a:cubicBezTo>
                  <a:lnTo>
                    <a:pt x="16891" y="1521206"/>
                  </a:lnTo>
                  <a:cubicBezTo>
                    <a:pt x="7493" y="1521206"/>
                    <a:pt x="0" y="1513586"/>
                    <a:pt x="0" y="1504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04315"/>
                  </a:lnTo>
                  <a:lnTo>
                    <a:pt x="16891" y="1504315"/>
                  </a:lnTo>
                  <a:lnTo>
                    <a:pt x="16891" y="1487424"/>
                  </a:lnTo>
                  <a:lnTo>
                    <a:pt x="22694010" y="1487424"/>
                  </a:lnTo>
                  <a:lnTo>
                    <a:pt x="22694010" y="1504315"/>
                  </a:lnTo>
                  <a:lnTo>
                    <a:pt x="22677120" y="1504315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35943" y="6534407"/>
            <a:ext cx="153419" cy="1140971"/>
            <a:chOff x="0" y="0"/>
            <a:chExt cx="204559" cy="152129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70688" cy="1487424"/>
            </a:xfrm>
            <a:custGeom>
              <a:avLst/>
              <a:gdLst/>
              <a:ahLst/>
              <a:cxnLst/>
              <a:rect r="r" b="b" t="t" l="l"/>
              <a:pathLst>
                <a:path h="148742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487424"/>
                  </a:lnTo>
                  <a:lnTo>
                    <a:pt x="0" y="1487424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470" cy="1521206"/>
            </a:xfrm>
            <a:custGeom>
              <a:avLst/>
              <a:gdLst/>
              <a:ahLst/>
              <a:cxnLst/>
              <a:rect r="r" b="b" t="t" l="l"/>
              <a:pathLst>
                <a:path h="152120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04315"/>
                  </a:lnTo>
                  <a:cubicBezTo>
                    <a:pt x="204470" y="1513713"/>
                    <a:pt x="196850" y="1521206"/>
                    <a:pt x="187579" y="1521206"/>
                  </a:cubicBezTo>
                  <a:lnTo>
                    <a:pt x="16891" y="1521206"/>
                  </a:lnTo>
                  <a:cubicBezTo>
                    <a:pt x="7493" y="1521206"/>
                    <a:pt x="0" y="1513586"/>
                    <a:pt x="0" y="1504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04315"/>
                  </a:lnTo>
                  <a:lnTo>
                    <a:pt x="16891" y="1504315"/>
                  </a:lnTo>
                  <a:lnTo>
                    <a:pt x="16891" y="1487424"/>
                  </a:lnTo>
                  <a:lnTo>
                    <a:pt x="187579" y="1487424"/>
                  </a:lnTo>
                  <a:lnTo>
                    <a:pt x="187579" y="1504315"/>
                  </a:lnTo>
                  <a:lnTo>
                    <a:pt x="170688" y="1504315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14400" y="6638544"/>
            <a:ext cx="7315200" cy="438912"/>
            <a:chOff x="0" y="0"/>
            <a:chExt cx="9753600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Wrong frontend URL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14400" y="7114032"/>
            <a:ext cx="16459200" cy="475488"/>
            <a:chOff x="0" y="0"/>
            <a:chExt cx="21945600" cy="63398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 Set const API = "https://neurofuzzy-depression.azurewebsites.net" in JS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35943" y="7759703"/>
            <a:ext cx="17033243" cy="1140971"/>
            <a:chOff x="0" y="0"/>
            <a:chExt cx="22710991" cy="15212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2677119" cy="1487424"/>
            </a:xfrm>
            <a:custGeom>
              <a:avLst/>
              <a:gdLst/>
              <a:ahLst/>
              <a:cxnLst/>
              <a:rect r="r" b="b" t="t" l="l"/>
              <a:pathLst>
                <a:path h="1487424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487424"/>
                  </a:lnTo>
                  <a:lnTo>
                    <a:pt x="0" y="1487424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710902" cy="1521206"/>
            </a:xfrm>
            <a:custGeom>
              <a:avLst/>
              <a:gdLst/>
              <a:ahLst/>
              <a:cxnLst/>
              <a:rect r="r" b="b" t="t" l="l"/>
              <a:pathLst>
                <a:path h="1521206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504315"/>
                  </a:lnTo>
                  <a:cubicBezTo>
                    <a:pt x="22710902" y="1513713"/>
                    <a:pt x="22703282" y="1521206"/>
                    <a:pt x="22694010" y="1521206"/>
                  </a:cubicBezTo>
                  <a:lnTo>
                    <a:pt x="16891" y="1521206"/>
                  </a:lnTo>
                  <a:cubicBezTo>
                    <a:pt x="7493" y="1521206"/>
                    <a:pt x="0" y="1513586"/>
                    <a:pt x="0" y="1504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04315"/>
                  </a:lnTo>
                  <a:lnTo>
                    <a:pt x="16891" y="1504315"/>
                  </a:lnTo>
                  <a:lnTo>
                    <a:pt x="16891" y="1487424"/>
                  </a:lnTo>
                  <a:lnTo>
                    <a:pt x="22694010" y="1487424"/>
                  </a:lnTo>
                  <a:lnTo>
                    <a:pt x="22694010" y="1504315"/>
                  </a:lnTo>
                  <a:lnTo>
                    <a:pt x="22677120" y="1504315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535943" y="7759703"/>
            <a:ext cx="153419" cy="1140971"/>
            <a:chOff x="0" y="0"/>
            <a:chExt cx="204559" cy="15212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70688" cy="1487424"/>
            </a:xfrm>
            <a:custGeom>
              <a:avLst/>
              <a:gdLst/>
              <a:ahLst/>
              <a:cxnLst/>
              <a:rect r="r" b="b" t="t" l="l"/>
              <a:pathLst>
                <a:path h="148742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487424"/>
                  </a:lnTo>
                  <a:lnTo>
                    <a:pt x="0" y="1487424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4470" cy="1521206"/>
            </a:xfrm>
            <a:custGeom>
              <a:avLst/>
              <a:gdLst/>
              <a:ahLst/>
              <a:cxnLst/>
              <a:rect r="r" b="b" t="t" l="l"/>
              <a:pathLst>
                <a:path h="152120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04315"/>
                  </a:lnTo>
                  <a:cubicBezTo>
                    <a:pt x="204470" y="1513713"/>
                    <a:pt x="196850" y="1521206"/>
                    <a:pt x="187579" y="1521206"/>
                  </a:cubicBezTo>
                  <a:lnTo>
                    <a:pt x="16891" y="1521206"/>
                  </a:lnTo>
                  <a:cubicBezTo>
                    <a:pt x="7493" y="1521206"/>
                    <a:pt x="0" y="1513586"/>
                    <a:pt x="0" y="1504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04315"/>
                  </a:lnTo>
                  <a:lnTo>
                    <a:pt x="16891" y="1504315"/>
                  </a:lnTo>
                  <a:lnTo>
                    <a:pt x="16891" y="1487424"/>
                  </a:lnTo>
                  <a:lnTo>
                    <a:pt x="187579" y="1487424"/>
                  </a:lnTo>
                  <a:lnTo>
                    <a:pt x="187579" y="1504315"/>
                  </a:lnTo>
                  <a:lnTo>
                    <a:pt x="170688" y="1504315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14400" y="7863840"/>
            <a:ext cx="7315200" cy="438912"/>
            <a:chOff x="0" y="0"/>
            <a:chExt cx="9753600" cy="58521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FileResponse internal error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14400" y="8339328"/>
            <a:ext cx="16459200" cy="475488"/>
            <a:chOff x="0" y="0"/>
            <a:chExt cx="21945600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 Used os.path.join(os.getcwd(), 'frontend', 'index.html') for absolute path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35943" y="8984999"/>
            <a:ext cx="17033243" cy="1140971"/>
            <a:chOff x="0" y="0"/>
            <a:chExt cx="22710991" cy="152129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22677119" cy="1487424"/>
            </a:xfrm>
            <a:custGeom>
              <a:avLst/>
              <a:gdLst/>
              <a:ahLst/>
              <a:cxnLst/>
              <a:rect r="r" b="b" t="t" l="l"/>
              <a:pathLst>
                <a:path h="1487424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487424"/>
                  </a:lnTo>
                  <a:lnTo>
                    <a:pt x="0" y="1487424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710902" cy="1521206"/>
            </a:xfrm>
            <a:custGeom>
              <a:avLst/>
              <a:gdLst/>
              <a:ahLst/>
              <a:cxnLst/>
              <a:rect r="r" b="b" t="t" l="l"/>
              <a:pathLst>
                <a:path h="1521206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504315"/>
                  </a:lnTo>
                  <a:cubicBezTo>
                    <a:pt x="22710902" y="1513713"/>
                    <a:pt x="22703282" y="1521206"/>
                    <a:pt x="22694010" y="1521206"/>
                  </a:cubicBezTo>
                  <a:lnTo>
                    <a:pt x="16891" y="1521206"/>
                  </a:lnTo>
                  <a:cubicBezTo>
                    <a:pt x="7493" y="1521206"/>
                    <a:pt x="0" y="1513586"/>
                    <a:pt x="0" y="1504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04315"/>
                  </a:lnTo>
                  <a:lnTo>
                    <a:pt x="16891" y="1504315"/>
                  </a:lnTo>
                  <a:lnTo>
                    <a:pt x="16891" y="1487424"/>
                  </a:lnTo>
                  <a:lnTo>
                    <a:pt x="22694010" y="1487424"/>
                  </a:lnTo>
                  <a:lnTo>
                    <a:pt x="22694010" y="1504315"/>
                  </a:lnTo>
                  <a:lnTo>
                    <a:pt x="22677120" y="1504315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535943" y="8984999"/>
            <a:ext cx="153419" cy="1140971"/>
            <a:chOff x="0" y="0"/>
            <a:chExt cx="204559" cy="152129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70688" cy="1487424"/>
            </a:xfrm>
            <a:custGeom>
              <a:avLst/>
              <a:gdLst/>
              <a:ahLst/>
              <a:cxnLst/>
              <a:rect r="r" b="b" t="t" l="l"/>
              <a:pathLst>
                <a:path h="148742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487424"/>
                  </a:lnTo>
                  <a:lnTo>
                    <a:pt x="0" y="1487424"/>
                  </a:lnTo>
                  <a:close/>
                </a:path>
              </a:pathLst>
            </a:custGeom>
            <a:solidFill>
              <a:srgbClr val="D29922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04470" cy="1521206"/>
            </a:xfrm>
            <a:custGeom>
              <a:avLst/>
              <a:gdLst/>
              <a:ahLst/>
              <a:cxnLst/>
              <a:rect r="r" b="b" t="t" l="l"/>
              <a:pathLst>
                <a:path h="152120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04315"/>
                  </a:lnTo>
                  <a:cubicBezTo>
                    <a:pt x="204470" y="1513713"/>
                    <a:pt x="196850" y="1521206"/>
                    <a:pt x="187579" y="1521206"/>
                  </a:cubicBezTo>
                  <a:lnTo>
                    <a:pt x="16891" y="1521206"/>
                  </a:lnTo>
                  <a:cubicBezTo>
                    <a:pt x="7493" y="1521206"/>
                    <a:pt x="0" y="1513586"/>
                    <a:pt x="0" y="1504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04315"/>
                  </a:lnTo>
                  <a:lnTo>
                    <a:pt x="16891" y="1504315"/>
                  </a:lnTo>
                  <a:lnTo>
                    <a:pt x="16891" y="1487424"/>
                  </a:lnTo>
                  <a:lnTo>
                    <a:pt x="187579" y="1487424"/>
                  </a:lnTo>
                  <a:lnTo>
                    <a:pt x="187579" y="1504315"/>
                  </a:lnTo>
                  <a:lnTo>
                    <a:pt x="170688" y="1504315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14400" y="9089136"/>
            <a:ext cx="7315200" cy="438912"/>
            <a:chOff x="0" y="0"/>
            <a:chExt cx="9753600" cy="58521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WEBSITES_PORT missing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14400" y="9564624"/>
            <a:ext cx="16459200" cy="475488"/>
            <a:chOff x="0" y="0"/>
            <a:chExt cx="21945600" cy="6339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 Added WEBSITES_PORT=8000 in Configuration → Application Settings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 to CI/CD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Automating the build-test-deploy cycle with GitHub Actions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9590" y="1626870"/>
            <a:ext cx="8267700" cy="2964180"/>
            <a:chOff x="0" y="0"/>
            <a:chExt cx="11023600" cy="3952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109728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23600" cy="3952240"/>
            </a:xfrm>
            <a:custGeom>
              <a:avLst/>
              <a:gdLst/>
              <a:ahLst/>
              <a:cxnLst/>
              <a:rect r="r" b="b" t="t" l="l"/>
              <a:pathLst>
                <a:path h="395224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3926840"/>
                  </a:lnTo>
                  <a:cubicBezTo>
                    <a:pt x="11023600" y="3940810"/>
                    <a:pt x="11012170" y="3952240"/>
                    <a:pt x="1099820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10998200" y="3901440"/>
                  </a:lnTo>
                  <a:lnTo>
                    <a:pt x="10998200" y="3926840"/>
                  </a:lnTo>
                  <a:lnTo>
                    <a:pt x="10972800" y="392684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633223"/>
            <a:ext cx="153419" cy="2951483"/>
            <a:chOff x="0" y="0"/>
            <a:chExt cx="204559" cy="39353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737360"/>
            <a:ext cx="7863840" cy="512064"/>
            <a:chOff x="0" y="0"/>
            <a:chExt cx="1048512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95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CI/CD?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247900"/>
            <a:ext cx="7717536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CI = Continuous Integration: auto-build on code push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CD = Continuous Deployment: auto-release to production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Goal: zero-touch deployment on every git push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Eliminates manual docker build → tag → push → restart cycle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Industry standard practice in all production systems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29590" y="4735830"/>
            <a:ext cx="8267700" cy="2781300"/>
            <a:chOff x="0" y="0"/>
            <a:chExt cx="11023600" cy="3708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23600" cy="3708400"/>
            </a:xfrm>
            <a:custGeom>
              <a:avLst/>
              <a:gdLst/>
              <a:ahLst/>
              <a:cxnLst/>
              <a:rect r="r" b="b" t="t" l="l"/>
              <a:pathLst>
                <a:path h="370840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3683000"/>
                  </a:lnTo>
                  <a:cubicBezTo>
                    <a:pt x="11023600" y="3696970"/>
                    <a:pt x="11012170" y="3708400"/>
                    <a:pt x="10998200" y="3708400"/>
                  </a:cubicBezTo>
                  <a:lnTo>
                    <a:pt x="25400" y="3708400"/>
                  </a:lnTo>
                  <a:cubicBezTo>
                    <a:pt x="11430" y="3708400"/>
                    <a:pt x="0" y="3696970"/>
                    <a:pt x="0" y="36830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683000"/>
                  </a:lnTo>
                  <a:lnTo>
                    <a:pt x="25400" y="3683000"/>
                  </a:lnTo>
                  <a:lnTo>
                    <a:pt x="25400" y="3657600"/>
                  </a:lnTo>
                  <a:lnTo>
                    <a:pt x="10998200" y="3657600"/>
                  </a:lnTo>
                  <a:lnTo>
                    <a:pt x="10998200" y="3683000"/>
                  </a:lnTo>
                  <a:lnTo>
                    <a:pt x="10972800" y="368300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5943" y="4742183"/>
            <a:ext cx="153419" cy="2768603"/>
            <a:chOff x="0" y="0"/>
            <a:chExt cx="204559" cy="36914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70688" cy="3657600"/>
            </a:xfrm>
            <a:custGeom>
              <a:avLst/>
              <a:gdLst/>
              <a:ahLst/>
              <a:cxnLst/>
              <a:rect r="r" b="b" t="t" l="l"/>
              <a:pathLst>
                <a:path h="36576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4470" cy="3691382"/>
            </a:xfrm>
            <a:custGeom>
              <a:avLst/>
              <a:gdLst/>
              <a:ahLst/>
              <a:cxnLst/>
              <a:rect r="r" b="b" t="t" l="l"/>
              <a:pathLst>
                <a:path h="36913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674491"/>
                  </a:lnTo>
                  <a:cubicBezTo>
                    <a:pt x="204470" y="3683889"/>
                    <a:pt x="196850" y="3691382"/>
                    <a:pt x="187579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187579" y="3657600"/>
                  </a:lnTo>
                  <a:lnTo>
                    <a:pt x="187579" y="3674491"/>
                  </a:lnTo>
                  <a:lnTo>
                    <a:pt x="170688" y="36744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4846320"/>
            <a:ext cx="7863840" cy="512064"/>
            <a:chOff x="0" y="0"/>
            <a:chExt cx="1048512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F81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GitHub Actions?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5356860"/>
            <a:ext cx="7717536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Native integration with GitHub repositories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Free for public repos, minutes-based for private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YAML-defined workflow — version controlled with code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Rich marketplace of reusable actions (azure/login, etc.)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Easiest setup for GitHub → Azure pipeline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22743" y="1633223"/>
            <a:ext cx="8346443" cy="5877563"/>
            <a:chOff x="0" y="0"/>
            <a:chExt cx="11128591" cy="78367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1094720" cy="7802881"/>
            </a:xfrm>
            <a:custGeom>
              <a:avLst/>
              <a:gdLst/>
              <a:ahLst/>
              <a:cxnLst/>
              <a:rect r="r" b="b" t="t" l="l"/>
              <a:pathLst>
                <a:path h="7802881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28501" cy="7836662"/>
            </a:xfrm>
            <a:custGeom>
              <a:avLst/>
              <a:gdLst/>
              <a:ahLst/>
              <a:cxnLst/>
              <a:rect r="r" b="b" t="t" l="l"/>
              <a:pathLst>
                <a:path h="78366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819772"/>
                  </a:lnTo>
                  <a:cubicBezTo>
                    <a:pt x="11128501" y="7829169"/>
                    <a:pt x="11120882" y="7836662"/>
                    <a:pt x="11111611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11111611" y="7802880"/>
                  </a:lnTo>
                  <a:lnTo>
                    <a:pt x="11111611" y="7819772"/>
                  </a:lnTo>
                  <a:lnTo>
                    <a:pt x="11094720" y="7819772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09760" y="1792224"/>
            <a:ext cx="7680960" cy="512064"/>
            <a:chOff x="0" y="0"/>
            <a:chExt cx="1024128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 CI/CD (Manual)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509760" y="2339340"/>
            <a:ext cx="7680960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1. Edit code locally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2. docker build -t neurofuzzy-app .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3. docker tag ... :v9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4. docker push ...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5. Azure portal → change tag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6. Save → Restart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7. Wait 2 min → check /health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6B6B"/>
                </a:solidFill>
                <a:latin typeface="Calibri (MS)"/>
                <a:ea typeface="Calibri (MS)"/>
                <a:cs typeface="Calibri (MS)"/>
                <a:sym typeface="Calibri (MS)"/>
              </a:rPr>
              <a:t>⏱  ~15-20 minutes, error-prone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222743" y="5290823"/>
            <a:ext cx="8346443" cy="25403"/>
            <a:chOff x="0" y="0"/>
            <a:chExt cx="11128591" cy="338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0"/>
              <a:ext cx="11006709" cy="33909"/>
            </a:xfrm>
            <a:custGeom>
              <a:avLst/>
              <a:gdLst/>
              <a:ahLst/>
              <a:cxnLst/>
              <a:rect r="r" b="b" t="t" l="l"/>
              <a:pathLst>
                <a:path h="33909" w="11006709">
                  <a:moveTo>
                    <a:pt x="237109" y="0"/>
                  </a:moveTo>
                  <a:lnTo>
                    <a:pt x="338709" y="0"/>
                  </a:lnTo>
                  <a:lnTo>
                    <a:pt x="338709" y="33909"/>
                  </a:lnTo>
                  <a:lnTo>
                    <a:pt x="237109" y="33909"/>
                  </a:lnTo>
                  <a:close/>
                  <a:moveTo>
                    <a:pt x="474218" y="0"/>
                  </a:moveTo>
                  <a:lnTo>
                    <a:pt x="575818" y="0"/>
                  </a:lnTo>
                  <a:lnTo>
                    <a:pt x="575818" y="33909"/>
                  </a:lnTo>
                  <a:lnTo>
                    <a:pt x="474218" y="33909"/>
                  </a:lnTo>
                  <a:close/>
                  <a:moveTo>
                    <a:pt x="711200" y="0"/>
                  </a:moveTo>
                  <a:lnTo>
                    <a:pt x="812800" y="0"/>
                  </a:lnTo>
                  <a:lnTo>
                    <a:pt x="812800" y="33909"/>
                  </a:lnTo>
                  <a:lnTo>
                    <a:pt x="711200" y="33909"/>
                  </a:lnTo>
                  <a:close/>
                  <a:moveTo>
                    <a:pt x="948309" y="0"/>
                  </a:moveTo>
                  <a:lnTo>
                    <a:pt x="1049909" y="0"/>
                  </a:lnTo>
                  <a:lnTo>
                    <a:pt x="1049909" y="33909"/>
                  </a:lnTo>
                  <a:lnTo>
                    <a:pt x="948309" y="33909"/>
                  </a:lnTo>
                  <a:close/>
                  <a:moveTo>
                    <a:pt x="1185418" y="0"/>
                  </a:moveTo>
                  <a:lnTo>
                    <a:pt x="1287018" y="0"/>
                  </a:lnTo>
                  <a:lnTo>
                    <a:pt x="1287018" y="33909"/>
                  </a:lnTo>
                  <a:lnTo>
                    <a:pt x="1185418" y="33909"/>
                  </a:lnTo>
                  <a:close/>
                  <a:moveTo>
                    <a:pt x="1422527" y="33909"/>
                  </a:moveTo>
                  <a:lnTo>
                    <a:pt x="1524127" y="33909"/>
                  </a:lnTo>
                  <a:lnTo>
                    <a:pt x="1422527" y="33909"/>
                  </a:lnTo>
                  <a:close/>
                  <a:moveTo>
                    <a:pt x="1659509" y="0"/>
                  </a:moveTo>
                  <a:lnTo>
                    <a:pt x="1761109" y="0"/>
                  </a:lnTo>
                  <a:lnTo>
                    <a:pt x="1761109" y="33909"/>
                  </a:lnTo>
                  <a:lnTo>
                    <a:pt x="1659509" y="33909"/>
                  </a:lnTo>
                  <a:close/>
                  <a:moveTo>
                    <a:pt x="1896618" y="33909"/>
                  </a:moveTo>
                  <a:lnTo>
                    <a:pt x="1998218" y="33909"/>
                  </a:lnTo>
                  <a:lnTo>
                    <a:pt x="1896618" y="33909"/>
                  </a:lnTo>
                  <a:close/>
                  <a:moveTo>
                    <a:pt x="2133727" y="33909"/>
                  </a:moveTo>
                  <a:lnTo>
                    <a:pt x="2235327" y="33909"/>
                  </a:lnTo>
                  <a:lnTo>
                    <a:pt x="2133727" y="33909"/>
                  </a:lnTo>
                  <a:close/>
                  <a:moveTo>
                    <a:pt x="2370709" y="0"/>
                  </a:moveTo>
                  <a:lnTo>
                    <a:pt x="2472309" y="0"/>
                  </a:lnTo>
                  <a:lnTo>
                    <a:pt x="2472309" y="33909"/>
                  </a:lnTo>
                  <a:lnTo>
                    <a:pt x="2370709" y="33909"/>
                  </a:lnTo>
                  <a:close/>
                  <a:moveTo>
                    <a:pt x="2607818" y="33909"/>
                  </a:moveTo>
                  <a:lnTo>
                    <a:pt x="2709418" y="33909"/>
                  </a:lnTo>
                  <a:lnTo>
                    <a:pt x="2607818" y="33909"/>
                  </a:lnTo>
                  <a:close/>
                  <a:moveTo>
                    <a:pt x="2844927" y="33909"/>
                  </a:moveTo>
                  <a:lnTo>
                    <a:pt x="2946527" y="33909"/>
                  </a:lnTo>
                  <a:lnTo>
                    <a:pt x="2844927" y="33909"/>
                  </a:lnTo>
                  <a:close/>
                  <a:moveTo>
                    <a:pt x="3081909" y="0"/>
                  </a:moveTo>
                  <a:lnTo>
                    <a:pt x="3183509" y="0"/>
                  </a:lnTo>
                  <a:lnTo>
                    <a:pt x="3183509" y="33909"/>
                  </a:lnTo>
                  <a:lnTo>
                    <a:pt x="3081909" y="33909"/>
                  </a:lnTo>
                  <a:close/>
                  <a:moveTo>
                    <a:pt x="3319018" y="33909"/>
                  </a:moveTo>
                  <a:lnTo>
                    <a:pt x="3420618" y="33909"/>
                  </a:lnTo>
                  <a:lnTo>
                    <a:pt x="3319018" y="33909"/>
                  </a:lnTo>
                  <a:close/>
                  <a:moveTo>
                    <a:pt x="3556127" y="33909"/>
                  </a:moveTo>
                  <a:lnTo>
                    <a:pt x="3657727" y="33909"/>
                  </a:lnTo>
                  <a:lnTo>
                    <a:pt x="3556127" y="33909"/>
                  </a:lnTo>
                  <a:close/>
                  <a:moveTo>
                    <a:pt x="3793109" y="0"/>
                  </a:moveTo>
                  <a:lnTo>
                    <a:pt x="3894709" y="0"/>
                  </a:lnTo>
                  <a:lnTo>
                    <a:pt x="3894709" y="33909"/>
                  </a:lnTo>
                  <a:lnTo>
                    <a:pt x="3793109" y="33909"/>
                  </a:lnTo>
                  <a:close/>
                  <a:moveTo>
                    <a:pt x="4030218" y="33909"/>
                  </a:moveTo>
                  <a:lnTo>
                    <a:pt x="4131818" y="33909"/>
                  </a:lnTo>
                  <a:lnTo>
                    <a:pt x="4030218" y="33909"/>
                  </a:lnTo>
                  <a:close/>
                  <a:moveTo>
                    <a:pt x="4267327" y="33909"/>
                  </a:moveTo>
                  <a:lnTo>
                    <a:pt x="4368927" y="33909"/>
                  </a:lnTo>
                  <a:lnTo>
                    <a:pt x="4267327" y="33909"/>
                  </a:lnTo>
                  <a:close/>
                  <a:moveTo>
                    <a:pt x="4504309" y="0"/>
                  </a:moveTo>
                  <a:lnTo>
                    <a:pt x="4605909" y="0"/>
                  </a:lnTo>
                  <a:lnTo>
                    <a:pt x="4605909" y="33909"/>
                  </a:lnTo>
                  <a:lnTo>
                    <a:pt x="4504309" y="33909"/>
                  </a:lnTo>
                  <a:close/>
                  <a:moveTo>
                    <a:pt x="4741418" y="33909"/>
                  </a:moveTo>
                  <a:lnTo>
                    <a:pt x="4843018" y="33909"/>
                  </a:lnTo>
                  <a:lnTo>
                    <a:pt x="4741418" y="33909"/>
                  </a:lnTo>
                  <a:close/>
                  <a:moveTo>
                    <a:pt x="4978527" y="33909"/>
                  </a:moveTo>
                  <a:lnTo>
                    <a:pt x="5080127" y="33909"/>
                  </a:lnTo>
                  <a:lnTo>
                    <a:pt x="4978527" y="33909"/>
                  </a:lnTo>
                  <a:close/>
                  <a:moveTo>
                    <a:pt x="5215509" y="0"/>
                  </a:moveTo>
                  <a:lnTo>
                    <a:pt x="5317109" y="0"/>
                  </a:lnTo>
                  <a:lnTo>
                    <a:pt x="5317109" y="33909"/>
                  </a:lnTo>
                  <a:lnTo>
                    <a:pt x="5215509" y="33909"/>
                  </a:lnTo>
                  <a:close/>
                  <a:moveTo>
                    <a:pt x="5452618" y="33909"/>
                  </a:moveTo>
                  <a:lnTo>
                    <a:pt x="5554218" y="33909"/>
                  </a:lnTo>
                  <a:lnTo>
                    <a:pt x="5452618" y="33909"/>
                  </a:lnTo>
                  <a:close/>
                  <a:moveTo>
                    <a:pt x="5689727" y="33909"/>
                  </a:moveTo>
                  <a:lnTo>
                    <a:pt x="5791327" y="33909"/>
                  </a:lnTo>
                  <a:lnTo>
                    <a:pt x="5689727" y="33909"/>
                  </a:lnTo>
                  <a:close/>
                  <a:moveTo>
                    <a:pt x="5926709" y="0"/>
                  </a:moveTo>
                  <a:lnTo>
                    <a:pt x="6028309" y="0"/>
                  </a:lnTo>
                  <a:lnTo>
                    <a:pt x="6028309" y="33909"/>
                  </a:lnTo>
                  <a:lnTo>
                    <a:pt x="5926709" y="33909"/>
                  </a:lnTo>
                  <a:close/>
                  <a:moveTo>
                    <a:pt x="6163818" y="33909"/>
                  </a:moveTo>
                  <a:lnTo>
                    <a:pt x="6265418" y="33909"/>
                  </a:lnTo>
                  <a:lnTo>
                    <a:pt x="6163818" y="33909"/>
                  </a:lnTo>
                  <a:close/>
                  <a:moveTo>
                    <a:pt x="6400927" y="33909"/>
                  </a:moveTo>
                  <a:lnTo>
                    <a:pt x="6502527" y="33909"/>
                  </a:lnTo>
                  <a:lnTo>
                    <a:pt x="6400927" y="33909"/>
                  </a:lnTo>
                  <a:close/>
                  <a:moveTo>
                    <a:pt x="6637909" y="0"/>
                  </a:moveTo>
                  <a:lnTo>
                    <a:pt x="6739509" y="0"/>
                  </a:lnTo>
                  <a:lnTo>
                    <a:pt x="6739509" y="33909"/>
                  </a:lnTo>
                  <a:lnTo>
                    <a:pt x="6637909" y="33909"/>
                  </a:lnTo>
                  <a:close/>
                  <a:moveTo>
                    <a:pt x="6875018" y="33909"/>
                  </a:moveTo>
                  <a:lnTo>
                    <a:pt x="6976618" y="33909"/>
                  </a:lnTo>
                  <a:lnTo>
                    <a:pt x="6875018" y="33909"/>
                  </a:lnTo>
                  <a:close/>
                  <a:moveTo>
                    <a:pt x="7112127" y="33909"/>
                  </a:moveTo>
                  <a:lnTo>
                    <a:pt x="7213727" y="33909"/>
                  </a:lnTo>
                  <a:lnTo>
                    <a:pt x="7112127" y="33909"/>
                  </a:lnTo>
                  <a:close/>
                  <a:moveTo>
                    <a:pt x="7349109" y="0"/>
                  </a:moveTo>
                  <a:lnTo>
                    <a:pt x="7450709" y="0"/>
                  </a:lnTo>
                  <a:lnTo>
                    <a:pt x="7450709" y="33909"/>
                  </a:lnTo>
                  <a:lnTo>
                    <a:pt x="7349109" y="33909"/>
                  </a:lnTo>
                  <a:close/>
                  <a:moveTo>
                    <a:pt x="7586218" y="33909"/>
                  </a:moveTo>
                  <a:lnTo>
                    <a:pt x="7687818" y="33909"/>
                  </a:lnTo>
                  <a:lnTo>
                    <a:pt x="7586218" y="33909"/>
                  </a:lnTo>
                  <a:close/>
                  <a:moveTo>
                    <a:pt x="7823327" y="33909"/>
                  </a:moveTo>
                  <a:lnTo>
                    <a:pt x="7924927" y="33909"/>
                  </a:lnTo>
                  <a:lnTo>
                    <a:pt x="7823327" y="33909"/>
                  </a:lnTo>
                  <a:close/>
                  <a:moveTo>
                    <a:pt x="8060309" y="0"/>
                  </a:moveTo>
                  <a:lnTo>
                    <a:pt x="8161909" y="0"/>
                  </a:lnTo>
                  <a:lnTo>
                    <a:pt x="8161909" y="33909"/>
                  </a:lnTo>
                  <a:lnTo>
                    <a:pt x="8060309" y="33909"/>
                  </a:lnTo>
                  <a:close/>
                  <a:moveTo>
                    <a:pt x="8297418" y="33909"/>
                  </a:moveTo>
                  <a:lnTo>
                    <a:pt x="8399018" y="33909"/>
                  </a:lnTo>
                  <a:lnTo>
                    <a:pt x="8297418" y="33909"/>
                  </a:lnTo>
                  <a:close/>
                  <a:moveTo>
                    <a:pt x="8534527" y="33909"/>
                  </a:moveTo>
                  <a:lnTo>
                    <a:pt x="8636127" y="33909"/>
                  </a:lnTo>
                  <a:lnTo>
                    <a:pt x="8534527" y="33909"/>
                  </a:lnTo>
                  <a:close/>
                  <a:moveTo>
                    <a:pt x="8771509" y="0"/>
                  </a:moveTo>
                  <a:lnTo>
                    <a:pt x="8873109" y="0"/>
                  </a:lnTo>
                  <a:lnTo>
                    <a:pt x="8873109" y="33909"/>
                  </a:lnTo>
                  <a:lnTo>
                    <a:pt x="8771509" y="33909"/>
                  </a:lnTo>
                  <a:close/>
                  <a:moveTo>
                    <a:pt x="9008618" y="33909"/>
                  </a:moveTo>
                  <a:lnTo>
                    <a:pt x="9110218" y="33909"/>
                  </a:lnTo>
                  <a:lnTo>
                    <a:pt x="9008618" y="33909"/>
                  </a:lnTo>
                  <a:close/>
                  <a:moveTo>
                    <a:pt x="9245727" y="33909"/>
                  </a:moveTo>
                  <a:lnTo>
                    <a:pt x="9347327" y="33909"/>
                  </a:lnTo>
                  <a:lnTo>
                    <a:pt x="9245727" y="33909"/>
                  </a:lnTo>
                  <a:close/>
                  <a:moveTo>
                    <a:pt x="9482709" y="0"/>
                  </a:moveTo>
                  <a:lnTo>
                    <a:pt x="9584309" y="0"/>
                  </a:lnTo>
                  <a:lnTo>
                    <a:pt x="9584309" y="33909"/>
                  </a:lnTo>
                  <a:lnTo>
                    <a:pt x="9482709" y="33909"/>
                  </a:lnTo>
                  <a:close/>
                  <a:moveTo>
                    <a:pt x="9719818" y="33909"/>
                  </a:moveTo>
                  <a:lnTo>
                    <a:pt x="9821418" y="33909"/>
                  </a:lnTo>
                  <a:lnTo>
                    <a:pt x="9719818" y="33909"/>
                  </a:lnTo>
                  <a:close/>
                  <a:moveTo>
                    <a:pt x="9956927" y="33909"/>
                  </a:moveTo>
                  <a:lnTo>
                    <a:pt x="10058527" y="33909"/>
                  </a:lnTo>
                  <a:lnTo>
                    <a:pt x="9956927" y="33909"/>
                  </a:lnTo>
                  <a:close/>
                  <a:moveTo>
                    <a:pt x="10193909" y="0"/>
                  </a:moveTo>
                  <a:lnTo>
                    <a:pt x="10295509" y="0"/>
                  </a:lnTo>
                  <a:lnTo>
                    <a:pt x="10295509" y="33909"/>
                  </a:lnTo>
                  <a:lnTo>
                    <a:pt x="10193909" y="33909"/>
                  </a:lnTo>
                  <a:close/>
                  <a:moveTo>
                    <a:pt x="10431018" y="33909"/>
                  </a:moveTo>
                  <a:lnTo>
                    <a:pt x="10532618" y="33909"/>
                  </a:lnTo>
                  <a:lnTo>
                    <a:pt x="10431018" y="33909"/>
                  </a:lnTo>
                  <a:close/>
                  <a:moveTo>
                    <a:pt x="10668127" y="33909"/>
                  </a:moveTo>
                  <a:lnTo>
                    <a:pt x="10769727" y="33909"/>
                  </a:lnTo>
                  <a:lnTo>
                    <a:pt x="10668127" y="33909"/>
                  </a:lnTo>
                  <a:close/>
                  <a:moveTo>
                    <a:pt x="10905109" y="0"/>
                  </a:moveTo>
                  <a:lnTo>
                    <a:pt x="11006709" y="0"/>
                  </a:lnTo>
                  <a:lnTo>
                    <a:pt x="11006709" y="33909"/>
                  </a:lnTo>
                  <a:lnTo>
                    <a:pt x="10905109" y="33909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509760" y="5486400"/>
            <a:ext cx="7680960" cy="512064"/>
            <a:chOff x="0" y="0"/>
            <a:chExt cx="1024128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FB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After CI/CD (Automated)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509760" y="6088380"/>
            <a:ext cx="768096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1. Edit code locally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2. git add . &amp;&amp; git commit -m 'fix'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3. git push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3FB950"/>
                </a:solidFill>
                <a:latin typeface="Calibri (MS)"/>
                <a:ea typeface="Calibri (MS)"/>
                <a:cs typeface="Calibri (MS)"/>
                <a:sym typeface="Calibri (MS)"/>
              </a:rPr>
              <a:t>⚡  ~3 minutes, fully automatic ✅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29590" y="7698486"/>
            <a:ext cx="17045940" cy="1647444"/>
            <a:chOff x="0" y="0"/>
            <a:chExt cx="22727920" cy="219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5400" y="25400"/>
              <a:ext cx="22677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727920" cy="2196592"/>
            </a:xfrm>
            <a:custGeom>
              <a:avLst/>
              <a:gdLst/>
              <a:ahLst/>
              <a:cxnLst/>
              <a:rect r="r" b="b" t="t" l="l"/>
              <a:pathLst>
                <a:path h="2196592" w="22727920">
                  <a:moveTo>
                    <a:pt x="25400" y="0"/>
                  </a:moveTo>
                  <a:lnTo>
                    <a:pt x="22702520" y="0"/>
                  </a:lnTo>
                  <a:cubicBezTo>
                    <a:pt x="22716489" y="0"/>
                    <a:pt x="22727920" y="11430"/>
                    <a:pt x="22727920" y="25400"/>
                  </a:cubicBezTo>
                  <a:lnTo>
                    <a:pt x="22727920" y="2171192"/>
                  </a:lnTo>
                  <a:cubicBezTo>
                    <a:pt x="22727920" y="2185162"/>
                    <a:pt x="22716489" y="2196592"/>
                    <a:pt x="22702520" y="2196592"/>
                  </a:cubicBezTo>
                  <a:lnTo>
                    <a:pt x="25400" y="2196592"/>
                  </a:lnTo>
                  <a:cubicBezTo>
                    <a:pt x="11430" y="2196592"/>
                    <a:pt x="0" y="2185162"/>
                    <a:pt x="0" y="217119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171192"/>
                  </a:lnTo>
                  <a:lnTo>
                    <a:pt x="25400" y="2171192"/>
                  </a:lnTo>
                  <a:lnTo>
                    <a:pt x="25400" y="2145792"/>
                  </a:lnTo>
                  <a:lnTo>
                    <a:pt x="22702520" y="2145792"/>
                  </a:lnTo>
                  <a:lnTo>
                    <a:pt x="22702520" y="2171192"/>
                  </a:lnTo>
                  <a:lnTo>
                    <a:pt x="22677120" y="2171192"/>
                  </a:lnTo>
                  <a:lnTo>
                    <a:pt x="22677120" y="25400"/>
                  </a:lnTo>
                  <a:lnTo>
                    <a:pt x="22702520" y="25400"/>
                  </a:lnTo>
                  <a:lnTo>
                    <a:pt x="2270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35943" y="7704839"/>
            <a:ext cx="153419" cy="1634747"/>
            <a:chOff x="0" y="0"/>
            <a:chExt cx="204559" cy="217966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7808976"/>
            <a:ext cx="16642080" cy="512064"/>
            <a:chOff x="0" y="0"/>
            <a:chExt cx="2218944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95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CI/CD Tools Comparison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14400" y="8319516"/>
            <a:ext cx="16495776" cy="82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Actions → easiest setup, YAML-based, GitHub-native   •   Jenkins → enterprise, self-hosted, more config needed   •   Azure DevOps → Microsoft ecosystem, powerful pipelines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Automating Deployment using GitHub Actions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YAML workflow that powers our CI/CD pipeline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1696726"/>
            <a:ext cx="6329502" cy="7691123"/>
            <a:chOff x="0" y="0"/>
            <a:chExt cx="8439335" cy="1025483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439335" cy="10153231"/>
              <a:chOff x="0" y="0"/>
              <a:chExt cx="8439335" cy="1015323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0602" y="16891"/>
                <a:ext cx="8418075" cy="10119360"/>
              </a:xfrm>
              <a:custGeom>
                <a:avLst/>
                <a:gdLst/>
                <a:ahLst/>
                <a:cxnLst/>
                <a:rect r="r" b="b" t="t" l="l"/>
                <a:pathLst>
                  <a:path h="10119360" w="8418075">
                    <a:moveTo>
                      <a:pt x="0" y="0"/>
                    </a:moveTo>
                    <a:lnTo>
                      <a:pt x="8418075" y="0"/>
                    </a:lnTo>
                    <a:lnTo>
                      <a:pt x="8418075" y="10119360"/>
                    </a:lnTo>
                    <a:lnTo>
                      <a:pt x="0" y="10119360"/>
                    </a:lnTo>
                    <a:close/>
                  </a:path>
                </a:pathLst>
              </a:custGeom>
              <a:solidFill>
                <a:srgbClr val="0D1117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439280" cy="10153142"/>
              </a:xfrm>
              <a:custGeom>
                <a:avLst/>
                <a:gdLst/>
                <a:ahLst/>
                <a:cxnLst/>
                <a:rect r="r" b="b" t="t" l="l"/>
                <a:pathLst>
                  <a:path h="10153142" w="8439280">
                    <a:moveTo>
                      <a:pt x="10602" y="0"/>
                    </a:moveTo>
                    <a:lnTo>
                      <a:pt x="8428677" y="0"/>
                    </a:lnTo>
                    <a:cubicBezTo>
                      <a:pt x="8434577" y="0"/>
                      <a:pt x="8439280" y="7620"/>
                      <a:pt x="8439280" y="16891"/>
                    </a:cubicBezTo>
                    <a:lnTo>
                      <a:pt x="8439280" y="10136251"/>
                    </a:lnTo>
                    <a:cubicBezTo>
                      <a:pt x="8439280" y="10145649"/>
                      <a:pt x="8434497" y="10153142"/>
                      <a:pt x="8428677" y="10153142"/>
                    </a:cubicBezTo>
                    <a:lnTo>
                      <a:pt x="10602" y="10153142"/>
                    </a:lnTo>
                    <a:cubicBezTo>
                      <a:pt x="4703" y="10153142"/>
                      <a:pt x="0" y="10145522"/>
                      <a:pt x="0" y="10136251"/>
                    </a:cubicBezTo>
                    <a:lnTo>
                      <a:pt x="0" y="16891"/>
                    </a:lnTo>
                    <a:cubicBezTo>
                      <a:pt x="0" y="7620"/>
                      <a:pt x="4783" y="0"/>
                      <a:pt x="10602" y="0"/>
                    </a:cubicBezTo>
                    <a:moveTo>
                      <a:pt x="10602" y="33909"/>
                    </a:moveTo>
                    <a:lnTo>
                      <a:pt x="10602" y="16891"/>
                    </a:lnTo>
                    <a:lnTo>
                      <a:pt x="21284" y="16891"/>
                    </a:lnTo>
                    <a:lnTo>
                      <a:pt x="21284" y="10136251"/>
                    </a:lnTo>
                    <a:lnTo>
                      <a:pt x="10602" y="10136251"/>
                    </a:lnTo>
                    <a:lnTo>
                      <a:pt x="10602" y="10119360"/>
                    </a:lnTo>
                    <a:lnTo>
                      <a:pt x="8428677" y="10119360"/>
                    </a:lnTo>
                    <a:lnTo>
                      <a:pt x="8428677" y="10136251"/>
                    </a:lnTo>
                    <a:lnTo>
                      <a:pt x="8418075" y="10136251"/>
                    </a:lnTo>
                    <a:lnTo>
                      <a:pt x="8418075" y="16891"/>
                    </a:lnTo>
                    <a:lnTo>
                      <a:pt x="8428677" y="16891"/>
                    </a:lnTo>
                    <a:lnTo>
                      <a:pt x="8428677" y="33909"/>
                    </a:lnTo>
                    <a:lnTo>
                      <a:pt x="10602" y="33909"/>
                    </a:lnTo>
                    <a:close/>
                  </a:path>
                </a:pathLst>
              </a:custGeom>
              <a:solidFill>
                <a:srgbClr val="2F81F7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8439335" cy="570319"/>
              <a:chOff x="0" y="0"/>
              <a:chExt cx="8439335" cy="57031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10602" y="16891"/>
                <a:ext cx="8418075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8418075">
                    <a:moveTo>
                      <a:pt x="0" y="0"/>
                    </a:moveTo>
                    <a:lnTo>
                      <a:pt x="8418075" y="0"/>
                    </a:lnTo>
                    <a:lnTo>
                      <a:pt x="8418075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solidFill>
                <a:srgbClr val="1C2128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439280" cy="570232"/>
              </a:xfrm>
              <a:custGeom>
                <a:avLst/>
                <a:gdLst/>
                <a:ahLst/>
                <a:cxnLst/>
                <a:rect r="r" b="b" t="t" l="l"/>
                <a:pathLst>
                  <a:path h="570232" w="8439280">
                    <a:moveTo>
                      <a:pt x="10602" y="0"/>
                    </a:moveTo>
                    <a:lnTo>
                      <a:pt x="8428677" y="0"/>
                    </a:lnTo>
                    <a:cubicBezTo>
                      <a:pt x="8434577" y="0"/>
                      <a:pt x="8439280" y="7620"/>
                      <a:pt x="8439280" y="16891"/>
                    </a:cubicBezTo>
                    <a:lnTo>
                      <a:pt x="8439280" y="553339"/>
                    </a:lnTo>
                    <a:cubicBezTo>
                      <a:pt x="8439280" y="562737"/>
                      <a:pt x="8434497" y="570230"/>
                      <a:pt x="8428677" y="570230"/>
                    </a:cubicBezTo>
                    <a:lnTo>
                      <a:pt x="10602" y="570230"/>
                    </a:lnTo>
                    <a:cubicBezTo>
                      <a:pt x="4783" y="570357"/>
                      <a:pt x="0" y="562737"/>
                      <a:pt x="0" y="553339"/>
                    </a:cubicBezTo>
                    <a:lnTo>
                      <a:pt x="0" y="16891"/>
                    </a:lnTo>
                    <a:cubicBezTo>
                      <a:pt x="0" y="7620"/>
                      <a:pt x="4783" y="0"/>
                      <a:pt x="10602" y="0"/>
                    </a:cubicBezTo>
                    <a:moveTo>
                      <a:pt x="10602" y="33909"/>
                    </a:moveTo>
                    <a:lnTo>
                      <a:pt x="10602" y="16891"/>
                    </a:lnTo>
                    <a:lnTo>
                      <a:pt x="21284" y="16891"/>
                    </a:lnTo>
                    <a:lnTo>
                      <a:pt x="21284" y="553339"/>
                    </a:lnTo>
                    <a:lnTo>
                      <a:pt x="10602" y="553339"/>
                    </a:lnTo>
                    <a:lnTo>
                      <a:pt x="10602" y="536448"/>
                    </a:lnTo>
                    <a:lnTo>
                      <a:pt x="8428677" y="536448"/>
                    </a:lnTo>
                    <a:lnTo>
                      <a:pt x="8428677" y="553339"/>
                    </a:lnTo>
                    <a:lnTo>
                      <a:pt x="8418075" y="553339"/>
                    </a:lnTo>
                    <a:lnTo>
                      <a:pt x="8418075" y="16891"/>
                    </a:lnTo>
                    <a:lnTo>
                      <a:pt x="8428677" y="16891"/>
                    </a:lnTo>
                    <a:lnTo>
                      <a:pt x="8428677" y="33909"/>
                    </a:lnTo>
                    <a:lnTo>
                      <a:pt x="10602" y="33909"/>
                    </a:lnTo>
                    <a:close/>
                  </a:path>
                </a:pathLst>
              </a:custGeom>
              <a:solidFill>
                <a:srgbClr val="1C2128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63682" y="65697"/>
              <a:ext cx="8111963" cy="438912"/>
              <a:chOff x="0" y="0"/>
              <a:chExt cx="8111963" cy="43891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11964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8111964">
                    <a:moveTo>
                      <a:pt x="0" y="0"/>
                    </a:moveTo>
                    <a:lnTo>
                      <a:pt x="8111964" y="0"/>
                    </a:lnTo>
                    <a:lnTo>
                      <a:pt x="8111964" y="438912"/>
                    </a:lnTo>
                    <a:lnTo>
                      <a:pt x="0" y="43891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523726" r="-59314" b="-523726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111963" cy="47701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20"/>
                  </a:lnSpc>
                </a:pPr>
                <a:r>
                  <a:rPr lang="en-US" sz="1600">
                    <a:solidFill>
                      <a:srgbClr val="8B949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$ terminal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63682" y="652869"/>
              <a:ext cx="8275653" cy="9601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# .github/workflows/deploy.yml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name: Deploy to Azure</a:t>
              </a:r>
            </a:p>
            <a:p>
              <a:pPr algn="l">
                <a:lnSpc>
                  <a:spcPts val="1455"/>
                </a:lnSpc>
              </a:pP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on: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push: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branches: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- main       # Triggers on every push to main</a:t>
              </a:r>
            </a:p>
            <a:p>
              <a:pPr algn="l">
                <a:lnSpc>
                  <a:spcPts val="1455"/>
                </a:lnSpc>
              </a:pP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jobs: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build-and-deploy: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runs-on: ubuntu-latest</a:t>
              </a:r>
            </a:p>
            <a:p>
              <a:pPr algn="l">
                <a:lnSpc>
                  <a:spcPts val="1455"/>
                </a:lnSpc>
              </a:pP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steps: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- name: Checkout code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uses: actions/checkout@v3</a:t>
              </a:r>
            </a:p>
            <a:p>
              <a:pPr algn="l">
                <a:lnSpc>
                  <a:spcPts val="1455"/>
                </a:lnSpc>
              </a:pP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- name: Login to Azure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uses: azure/login@v1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with: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creds: ${{ secrets.AZURE_CREDENTIALS }}</a:t>
              </a:r>
            </a:p>
            <a:p>
              <a:pPr algn="l">
                <a:lnSpc>
                  <a:spcPts val="1455"/>
                </a:lnSpc>
              </a:pP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- name: Login to ACR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run: az acr login --name neuroregistry123</a:t>
              </a:r>
            </a:p>
            <a:p>
              <a:pPr algn="l">
                <a:lnSpc>
                  <a:spcPts val="1455"/>
                </a:lnSpc>
              </a:pP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- name: Build Docker image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run: |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docker build -t \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neuroregistry123.azurecr.io/neurofuzzy-app:latest .</a:t>
              </a:r>
            </a:p>
            <a:p>
              <a:pPr algn="l">
                <a:lnSpc>
                  <a:spcPts val="1455"/>
                </a:lnSpc>
              </a:pP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- name: Push Docker image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run: |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docker push \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neuroregistry123.azurecr.io/neurofuzzy-app:latest</a:t>
              </a:r>
            </a:p>
            <a:p>
              <a:pPr algn="l">
                <a:lnSpc>
                  <a:spcPts val="1455"/>
                </a:lnSpc>
              </a:pP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- name: Restart Azure Web App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run: |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az webapp restart \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--name neurofuzzy-depression \</a:t>
              </a:r>
            </a:p>
            <a:p>
              <a:pPr algn="l">
                <a:lnSpc>
                  <a:spcPts val="1455"/>
                </a:lnSpc>
              </a:pPr>
              <a:r>
                <a:rPr lang="en-US" sz="1212">
                  <a:solidFill>
                    <a:srgbClr val="3FB950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--resource-group neuro-rg</a:t>
              </a:r>
            </a:p>
            <a:p>
              <a:pPr algn="l">
                <a:lnSpc>
                  <a:spcPts val="1455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745343" y="1696726"/>
            <a:ext cx="9271875" cy="7627620"/>
            <a:chOff x="0" y="0"/>
            <a:chExt cx="12362500" cy="1017016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2362500" cy="3342640"/>
              <a:chOff x="0" y="0"/>
              <a:chExt cx="12362500" cy="334264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35565" y="25400"/>
                <a:ext cx="12291370" cy="3291840"/>
              </a:xfrm>
              <a:custGeom>
                <a:avLst/>
                <a:gdLst/>
                <a:ahLst/>
                <a:cxnLst/>
                <a:rect r="r" b="b" t="t" l="l"/>
                <a:pathLst>
                  <a:path h="3291840" w="12291370">
                    <a:moveTo>
                      <a:pt x="0" y="0"/>
                    </a:moveTo>
                    <a:lnTo>
                      <a:pt x="12291370" y="0"/>
                    </a:lnTo>
                    <a:lnTo>
                      <a:pt x="12291370" y="3291840"/>
                    </a:lnTo>
                    <a:lnTo>
                      <a:pt x="0" y="3291840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362500" cy="3342640"/>
              </a:xfrm>
              <a:custGeom>
                <a:avLst/>
                <a:gdLst/>
                <a:ahLst/>
                <a:cxnLst/>
                <a:rect r="r" b="b" t="t" l="l"/>
                <a:pathLst>
                  <a:path h="3342640" w="12362500">
                    <a:moveTo>
                      <a:pt x="35565" y="0"/>
                    </a:moveTo>
                    <a:lnTo>
                      <a:pt x="12326935" y="0"/>
                    </a:lnTo>
                    <a:cubicBezTo>
                      <a:pt x="12346496" y="0"/>
                      <a:pt x="12362500" y="11430"/>
                      <a:pt x="12362500" y="25400"/>
                    </a:cubicBezTo>
                    <a:lnTo>
                      <a:pt x="12362500" y="3317240"/>
                    </a:lnTo>
                    <a:cubicBezTo>
                      <a:pt x="12362500" y="3331210"/>
                      <a:pt x="12346496" y="3342640"/>
                      <a:pt x="12326935" y="3342640"/>
                    </a:cubicBezTo>
                    <a:lnTo>
                      <a:pt x="35565" y="3342640"/>
                    </a:lnTo>
                    <a:cubicBezTo>
                      <a:pt x="16004" y="3342640"/>
                      <a:pt x="0" y="3331210"/>
                      <a:pt x="0" y="3317240"/>
                    </a:cubicBezTo>
                    <a:lnTo>
                      <a:pt x="0" y="25400"/>
                    </a:lnTo>
                    <a:cubicBezTo>
                      <a:pt x="0" y="11430"/>
                      <a:pt x="16004" y="0"/>
                      <a:pt x="35565" y="0"/>
                    </a:cubicBezTo>
                    <a:moveTo>
                      <a:pt x="35565" y="50800"/>
                    </a:moveTo>
                    <a:lnTo>
                      <a:pt x="35565" y="25400"/>
                    </a:lnTo>
                    <a:lnTo>
                      <a:pt x="71131" y="25400"/>
                    </a:lnTo>
                    <a:lnTo>
                      <a:pt x="71131" y="3317240"/>
                    </a:lnTo>
                    <a:lnTo>
                      <a:pt x="35565" y="3317240"/>
                    </a:lnTo>
                    <a:lnTo>
                      <a:pt x="35565" y="3291840"/>
                    </a:lnTo>
                    <a:lnTo>
                      <a:pt x="12326935" y="3291840"/>
                    </a:lnTo>
                    <a:lnTo>
                      <a:pt x="12326935" y="3317240"/>
                    </a:lnTo>
                    <a:lnTo>
                      <a:pt x="12291370" y="3317240"/>
                    </a:lnTo>
                    <a:lnTo>
                      <a:pt x="12291370" y="25400"/>
                    </a:lnTo>
                    <a:lnTo>
                      <a:pt x="12326935" y="25400"/>
                    </a:lnTo>
                    <a:lnTo>
                      <a:pt x="12326935" y="50800"/>
                    </a:lnTo>
                    <a:lnTo>
                      <a:pt x="35565" y="50800"/>
                    </a:lnTo>
                    <a:close/>
                  </a:path>
                </a:pathLst>
              </a:custGeom>
              <a:solidFill>
                <a:srgbClr val="8957E5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11861" y="8471"/>
              <a:ext cx="286425" cy="3325711"/>
              <a:chOff x="0" y="0"/>
              <a:chExt cx="286425" cy="332571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23651" y="16891"/>
                <a:ext cx="238999" cy="3291840"/>
              </a:xfrm>
              <a:custGeom>
                <a:avLst/>
                <a:gdLst/>
                <a:ahLst/>
                <a:cxnLst/>
                <a:rect r="r" b="b" t="t" l="l"/>
                <a:pathLst>
                  <a:path h="3291840" w="238999">
                    <a:moveTo>
                      <a:pt x="0" y="0"/>
                    </a:moveTo>
                    <a:lnTo>
                      <a:pt x="238999" y="0"/>
                    </a:lnTo>
                    <a:lnTo>
                      <a:pt x="238999" y="3291840"/>
                    </a:lnTo>
                    <a:lnTo>
                      <a:pt x="0" y="3291840"/>
                    </a:lnTo>
                    <a:close/>
                  </a:path>
                </a:pathLst>
              </a:custGeom>
              <a:solidFill>
                <a:srgbClr val="8957E5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86301" cy="3325622"/>
              </a:xfrm>
              <a:custGeom>
                <a:avLst/>
                <a:gdLst/>
                <a:ahLst/>
                <a:cxnLst/>
                <a:rect r="r" b="b" t="t" l="l"/>
                <a:pathLst>
                  <a:path h="3325622" w="286301">
                    <a:moveTo>
                      <a:pt x="23651" y="0"/>
                    </a:moveTo>
                    <a:lnTo>
                      <a:pt x="262650" y="0"/>
                    </a:lnTo>
                    <a:cubicBezTo>
                      <a:pt x="275809" y="0"/>
                      <a:pt x="286301" y="7620"/>
                      <a:pt x="286301" y="16891"/>
                    </a:cubicBezTo>
                    <a:lnTo>
                      <a:pt x="286301" y="3308731"/>
                    </a:lnTo>
                    <a:cubicBezTo>
                      <a:pt x="286301" y="3318129"/>
                      <a:pt x="275631" y="3325622"/>
                      <a:pt x="262650" y="3325622"/>
                    </a:cubicBezTo>
                    <a:lnTo>
                      <a:pt x="23651" y="3325622"/>
                    </a:lnTo>
                    <a:cubicBezTo>
                      <a:pt x="10492" y="3325622"/>
                      <a:pt x="0" y="3318002"/>
                      <a:pt x="0" y="3308731"/>
                    </a:cubicBezTo>
                    <a:lnTo>
                      <a:pt x="0" y="16891"/>
                    </a:lnTo>
                    <a:cubicBezTo>
                      <a:pt x="0" y="7620"/>
                      <a:pt x="10670" y="0"/>
                      <a:pt x="23651" y="0"/>
                    </a:cubicBezTo>
                    <a:moveTo>
                      <a:pt x="23651" y="33909"/>
                    </a:moveTo>
                    <a:lnTo>
                      <a:pt x="23651" y="16891"/>
                    </a:lnTo>
                    <a:lnTo>
                      <a:pt x="47480" y="16891"/>
                    </a:lnTo>
                    <a:lnTo>
                      <a:pt x="47480" y="3308731"/>
                    </a:lnTo>
                    <a:lnTo>
                      <a:pt x="23651" y="3308731"/>
                    </a:lnTo>
                    <a:lnTo>
                      <a:pt x="23651" y="3291840"/>
                    </a:lnTo>
                    <a:lnTo>
                      <a:pt x="262650" y="3291840"/>
                    </a:lnTo>
                    <a:lnTo>
                      <a:pt x="262650" y="3308731"/>
                    </a:lnTo>
                    <a:lnTo>
                      <a:pt x="238999" y="3308731"/>
                    </a:lnTo>
                    <a:lnTo>
                      <a:pt x="238999" y="16891"/>
                    </a:lnTo>
                    <a:lnTo>
                      <a:pt x="262650" y="16891"/>
                    </a:lnTo>
                    <a:lnTo>
                      <a:pt x="262650" y="33909"/>
                    </a:lnTo>
                    <a:lnTo>
                      <a:pt x="23651" y="33909"/>
                    </a:lnTo>
                    <a:close/>
                  </a:path>
                </a:pathLst>
              </a:custGeom>
              <a:solidFill>
                <a:srgbClr val="8957E5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547706" y="147320"/>
              <a:ext cx="11608516" cy="682752"/>
              <a:chOff x="0" y="0"/>
              <a:chExt cx="11608516" cy="68275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1608515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11608515">
                    <a:moveTo>
                      <a:pt x="0" y="0"/>
                    </a:moveTo>
                    <a:lnTo>
                      <a:pt x="11608515" y="0"/>
                    </a:lnTo>
                    <a:lnTo>
                      <a:pt x="11608515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86604" r="28582" b="-186604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11608516" cy="7303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8957E5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GitHub Repository Secrets</a:t>
                </a: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718419" y="840740"/>
              <a:ext cx="11335374" cy="161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Settings → Secrets → Actions → New repository secret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AZURE_CREDENTIALS = full JSON from: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az ad sp create-for-rbac --name 'github-action'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--role contributor --scopes /subscriptions/ID --sdk-auth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0" y="3535680"/>
              <a:ext cx="12362500" cy="3342640"/>
              <a:chOff x="0" y="0"/>
              <a:chExt cx="12362500" cy="334264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35565" y="25400"/>
                <a:ext cx="12291370" cy="3291840"/>
              </a:xfrm>
              <a:custGeom>
                <a:avLst/>
                <a:gdLst/>
                <a:ahLst/>
                <a:cxnLst/>
                <a:rect r="r" b="b" t="t" l="l"/>
                <a:pathLst>
                  <a:path h="3291840" w="12291370">
                    <a:moveTo>
                      <a:pt x="0" y="0"/>
                    </a:moveTo>
                    <a:lnTo>
                      <a:pt x="12291370" y="0"/>
                    </a:lnTo>
                    <a:lnTo>
                      <a:pt x="12291370" y="3291840"/>
                    </a:lnTo>
                    <a:lnTo>
                      <a:pt x="0" y="3291840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2362500" cy="3342640"/>
              </a:xfrm>
              <a:custGeom>
                <a:avLst/>
                <a:gdLst/>
                <a:ahLst/>
                <a:cxnLst/>
                <a:rect r="r" b="b" t="t" l="l"/>
                <a:pathLst>
                  <a:path h="3342640" w="12362500">
                    <a:moveTo>
                      <a:pt x="35565" y="0"/>
                    </a:moveTo>
                    <a:lnTo>
                      <a:pt x="12326935" y="0"/>
                    </a:lnTo>
                    <a:cubicBezTo>
                      <a:pt x="12346496" y="0"/>
                      <a:pt x="12362500" y="11430"/>
                      <a:pt x="12362500" y="25400"/>
                    </a:cubicBezTo>
                    <a:lnTo>
                      <a:pt x="12362500" y="3317240"/>
                    </a:lnTo>
                    <a:cubicBezTo>
                      <a:pt x="12362500" y="3331210"/>
                      <a:pt x="12346496" y="3342640"/>
                      <a:pt x="12326935" y="3342640"/>
                    </a:cubicBezTo>
                    <a:lnTo>
                      <a:pt x="35565" y="3342640"/>
                    </a:lnTo>
                    <a:cubicBezTo>
                      <a:pt x="16004" y="3342640"/>
                      <a:pt x="0" y="3331210"/>
                      <a:pt x="0" y="3317240"/>
                    </a:cubicBezTo>
                    <a:lnTo>
                      <a:pt x="0" y="25400"/>
                    </a:lnTo>
                    <a:cubicBezTo>
                      <a:pt x="0" y="11430"/>
                      <a:pt x="16004" y="0"/>
                      <a:pt x="35565" y="0"/>
                    </a:cubicBezTo>
                    <a:moveTo>
                      <a:pt x="35565" y="50800"/>
                    </a:moveTo>
                    <a:lnTo>
                      <a:pt x="35565" y="25400"/>
                    </a:lnTo>
                    <a:lnTo>
                      <a:pt x="71131" y="25400"/>
                    </a:lnTo>
                    <a:lnTo>
                      <a:pt x="71131" y="3317240"/>
                    </a:lnTo>
                    <a:lnTo>
                      <a:pt x="35565" y="3317240"/>
                    </a:lnTo>
                    <a:lnTo>
                      <a:pt x="35565" y="3291840"/>
                    </a:lnTo>
                    <a:lnTo>
                      <a:pt x="12326935" y="3291840"/>
                    </a:lnTo>
                    <a:lnTo>
                      <a:pt x="12326935" y="3317240"/>
                    </a:lnTo>
                    <a:lnTo>
                      <a:pt x="12291370" y="3317240"/>
                    </a:lnTo>
                    <a:lnTo>
                      <a:pt x="12291370" y="25400"/>
                    </a:lnTo>
                    <a:lnTo>
                      <a:pt x="12326935" y="25400"/>
                    </a:lnTo>
                    <a:lnTo>
                      <a:pt x="12326935" y="50800"/>
                    </a:lnTo>
                    <a:lnTo>
                      <a:pt x="35565" y="50800"/>
                    </a:lnTo>
                    <a:close/>
                  </a:path>
                </a:pathLst>
              </a:custGeom>
              <a:solidFill>
                <a:srgbClr val="2F81F7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11861" y="3544151"/>
              <a:ext cx="286425" cy="3325711"/>
              <a:chOff x="0" y="0"/>
              <a:chExt cx="286425" cy="3325711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23651" y="16891"/>
                <a:ext cx="238999" cy="3291840"/>
              </a:xfrm>
              <a:custGeom>
                <a:avLst/>
                <a:gdLst/>
                <a:ahLst/>
                <a:cxnLst/>
                <a:rect r="r" b="b" t="t" l="l"/>
                <a:pathLst>
                  <a:path h="3291840" w="238999">
                    <a:moveTo>
                      <a:pt x="0" y="0"/>
                    </a:moveTo>
                    <a:lnTo>
                      <a:pt x="238999" y="0"/>
                    </a:lnTo>
                    <a:lnTo>
                      <a:pt x="238999" y="3291840"/>
                    </a:lnTo>
                    <a:lnTo>
                      <a:pt x="0" y="3291840"/>
                    </a:lnTo>
                    <a:close/>
                  </a:path>
                </a:pathLst>
              </a:custGeom>
              <a:solidFill>
                <a:srgbClr val="2F81F7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86301" cy="3325622"/>
              </a:xfrm>
              <a:custGeom>
                <a:avLst/>
                <a:gdLst/>
                <a:ahLst/>
                <a:cxnLst/>
                <a:rect r="r" b="b" t="t" l="l"/>
                <a:pathLst>
                  <a:path h="3325622" w="286301">
                    <a:moveTo>
                      <a:pt x="23651" y="0"/>
                    </a:moveTo>
                    <a:lnTo>
                      <a:pt x="262650" y="0"/>
                    </a:lnTo>
                    <a:cubicBezTo>
                      <a:pt x="275809" y="0"/>
                      <a:pt x="286301" y="7620"/>
                      <a:pt x="286301" y="16891"/>
                    </a:cubicBezTo>
                    <a:lnTo>
                      <a:pt x="286301" y="3308731"/>
                    </a:lnTo>
                    <a:cubicBezTo>
                      <a:pt x="286301" y="3318129"/>
                      <a:pt x="275631" y="3325622"/>
                      <a:pt x="262650" y="3325622"/>
                    </a:cubicBezTo>
                    <a:lnTo>
                      <a:pt x="23651" y="3325622"/>
                    </a:lnTo>
                    <a:cubicBezTo>
                      <a:pt x="10492" y="3325622"/>
                      <a:pt x="0" y="3318002"/>
                      <a:pt x="0" y="3308731"/>
                    </a:cubicBezTo>
                    <a:lnTo>
                      <a:pt x="0" y="16891"/>
                    </a:lnTo>
                    <a:cubicBezTo>
                      <a:pt x="0" y="7620"/>
                      <a:pt x="10670" y="0"/>
                      <a:pt x="23651" y="0"/>
                    </a:cubicBezTo>
                    <a:moveTo>
                      <a:pt x="23651" y="33909"/>
                    </a:moveTo>
                    <a:lnTo>
                      <a:pt x="23651" y="16891"/>
                    </a:lnTo>
                    <a:lnTo>
                      <a:pt x="47480" y="16891"/>
                    </a:lnTo>
                    <a:lnTo>
                      <a:pt x="47480" y="3308731"/>
                    </a:lnTo>
                    <a:lnTo>
                      <a:pt x="23651" y="3308731"/>
                    </a:lnTo>
                    <a:lnTo>
                      <a:pt x="23651" y="3291840"/>
                    </a:lnTo>
                    <a:lnTo>
                      <a:pt x="262650" y="3291840"/>
                    </a:lnTo>
                    <a:lnTo>
                      <a:pt x="262650" y="3308731"/>
                    </a:lnTo>
                    <a:lnTo>
                      <a:pt x="238999" y="3308731"/>
                    </a:lnTo>
                    <a:lnTo>
                      <a:pt x="238999" y="16891"/>
                    </a:lnTo>
                    <a:lnTo>
                      <a:pt x="262650" y="16891"/>
                    </a:lnTo>
                    <a:lnTo>
                      <a:pt x="262650" y="33909"/>
                    </a:lnTo>
                    <a:lnTo>
                      <a:pt x="23651" y="33909"/>
                    </a:lnTo>
                    <a:close/>
                  </a:path>
                </a:pathLst>
              </a:custGeom>
              <a:solidFill>
                <a:srgbClr val="2F81F7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547706" y="3683000"/>
              <a:ext cx="11608516" cy="682752"/>
              <a:chOff x="0" y="0"/>
              <a:chExt cx="11608516" cy="68275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1608515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11608515">
                    <a:moveTo>
                      <a:pt x="0" y="0"/>
                    </a:moveTo>
                    <a:lnTo>
                      <a:pt x="11608515" y="0"/>
                    </a:lnTo>
                    <a:lnTo>
                      <a:pt x="11608515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86604" r="28582" b="-186604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11608516" cy="7303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2F81F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Workflow Triggers</a:t>
                </a: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718419" y="4376420"/>
              <a:ext cx="11335374" cy="161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on: push: branches: [main] — runs on main branch push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 also trigger on: pull_request, schedule, manual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push creates a new Actions run visible in UI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Logs available in GitHub → Actions tab</a:t>
              </a:r>
            </a:p>
          </p:txBody>
        </p:sp>
        <p:grpSp>
          <p:nvGrpSpPr>
            <p:cNvPr name="Group 43" id="43"/>
            <p:cNvGrpSpPr/>
            <p:nvPr/>
          </p:nvGrpSpPr>
          <p:grpSpPr>
            <a:xfrm rot="0">
              <a:off x="0" y="7071360"/>
              <a:ext cx="12362500" cy="3098800"/>
              <a:chOff x="0" y="0"/>
              <a:chExt cx="12362500" cy="3098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35565" y="25400"/>
                <a:ext cx="1229137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2291370">
                    <a:moveTo>
                      <a:pt x="0" y="0"/>
                    </a:moveTo>
                    <a:lnTo>
                      <a:pt x="12291370" y="0"/>
                    </a:lnTo>
                    <a:lnTo>
                      <a:pt x="1229137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21262D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2362500" cy="3098800"/>
              </a:xfrm>
              <a:custGeom>
                <a:avLst/>
                <a:gdLst/>
                <a:ahLst/>
                <a:cxnLst/>
                <a:rect r="r" b="b" t="t" l="l"/>
                <a:pathLst>
                  <a:path h="3098800" w="12362500">
                    <a:moveTo>
                      <a:pt x="35565" y="0"/>
                    </a:moveTo>
                    <a:lnTo>
                      <a:pt x="12326935" y="0"/>
                    </a:lnTo>
                    <a:cubicBezTo>
                      <a:pt x="12346496" y="0"/>
                      <a:pt x="12362500" y="11430"/>
                      <a:pt x="12362500" y="25400"/>
                    </a:cubicBezTo>
                    <a:lnTo>
                      <a:pt x="12362500" y="3073400"/>
                    </a:lnTo>
                    <a:cubicBezTo>
                      <a:pt x="12362500" y="3087370"/>
                      <a:pt x="12346496" y="3098800"/>
                      <a:pt x="12326935" y="3098800"/>
                    </a:cubicBezTo>
                    <a:lnTo>
                      <a:pt x="35565" y="3098800"/>
                    </a:lnTo>
                    <a:cubicBezTo>
                      <a:pt x="16004" y="3098800"/>
                      <a:pt x="0" y="3087370"/>
                      <a:pt x="0" y="3073400"/>
                    </a:cubicBezTo>
                    <a:lnTo>
                      <a:pt x="0" y="25400"/>
                    </a:lnTo>
                    <a:cubicBezTo>
                      <a:pt x="0" y="11430"/>
                      <a:pt x="16004" y="0"/>
                      <a:pt x="35565" y="0"/>
                    </a:cubicBezTo>
                    <a:moveTo>
                      <a:pt x="35565" y="50800"/>
                    </a:moveTo>
                    <a:lnTo>
                      <a:pt x="35565" y="25400"/>
                    </a:lnTo>
                    <a:lnTo>
                      <a:pt x="71131" y="25400"/>
                    </a:lnTo>
                    <a:lnTo>
                      <a:pt x="71131" y="3073400"/>
                    </a:lnTo>
                    <a:lnTo>
                      <a:pt x="35565" y="3073400"/>
                    </a:lnTo>
                    <a:lnTo>
                      <a:pt x="35565" y="3048000"/>
                    </a:lnTo>
                    <a:lnTo>
                      <a:pt x="12326935" y="3048000"/>
                    </a:lnTo>
                    <a:lnTo>
                      <a:pt x="12326935" y="3073400"/>
                    </a:lnTo>
                    <a:lnTo>
                      <a:pt x="12291370" y="3073400"/>
                    </a:lnTo>
                    <a:lnTo>
                      <a:pt x="12291370" y="25400"/>
                    </a:lnTo>
                    <a:lnTo>
                      <a:pt x="12326935" y="25400"/>
                    </a:lnTo>
                    <a:lnTo>
                      <a:pt x="12326935" y="50800"/>
                    </a:lnTo>
                    <a:lnTo>
                      <a:pt x="35565" y="50800"/>
                    </a:lnTo>
                    <a:close/>
                  </a:path>
                </a:pathLst>
              </a:custGeom>
              <a:solidFill>
                <a:srgbClr val="3FB950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11861" y="7079831"/>
              <a:ext cx="286425" cy="3081871"/>
              <a:chOff x="0" y="0"/>
              <a:chExt cx="286425" cy="3081871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23651" y="16891"/>
                <a:ext cx="238999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238999">
                    <a:moveTo>
                      <a:pt x="0" y="0"/>
                    </a:moveTo>
                    <a:lnTo>
                      <a:pt x="238999" y="0"/>
                    </a:lnTo>
                    <a:lnTo>
                      <a:pt x="238999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3FB950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86301" cy="3081782"/>
              </a:xfrm>
              <a:custGeom>
                <a:avLst/>
                <a:gdLst/>
                <a:ahLst/>
                <a:cxnLst/>
                <a:rect r="r" b="b" t="t" l="l"/>
                <a:pathLst>
                  <a:path h="3081782" w="286301">
                    <a:moveTo>
                      <a:pt x="23651" y="0"/>
                    </a:moveTo>
                    <a:lnTo>
                      <a:pt x="262650" y="0"/>
                    </a:lnTo>
                    <a:cubicBezTo>
                      <a:pt x="275809" y="0"/>
                      <a:pt x="286301" y="7620"/>
                      <a:pt x="286301" y="16891"/>
                    </a:cubicBezTo>
                    <a:lnTo>
                      <a:pt x="286301" y="3064891"/>
                    </a:lnTo>
                    <a:cubicBezTo>
                      <a:pt x="286301" y="3074289"/>
                      <a:pt x="275631" y="3081782"/>
                      <a:pt x="262650" y="3081782"/>
                    </a:cubicBezTo>
                    <a:lnTo>
                      <a:pt x="23651" y="3081782"/>
                    </a:lnTo>
                    <a:cubicBezTo>
                      <a:pt x="10492" y="3081782"/>
                      <a:pt x="0" y="3074162"/>
                      <a:pt x="0" y="3064891"/>
                    </a:cubicBezTo>
                    <a:lnTo>
                      <a:pt x="0" y="16891"/>
                    </a:lnTo>
                    <a:cubicBezTo>
                      <a:pt x="0" y="7620"/>
                      <a:pt x="10670" y="0"/>
                      <a:pt x="23651" y="0"/>
                    </a:cubicBezTo>
                    <a:moveTo>
                      <a:pt x="23651" y="33909"/>
                    </a:moveTo>
                    <a:lnTo>
                      <a:pt x="23651" y="16891"/>
                    </a:lnTo>
                    <a:lnTo>
                      <a:pt x="47480" y="16891"/>
                    </a:lnTo>
                    <a:lnTo>
                      <a:pt x="47480" y="3064891"/>
                    </a:lnTo>
                    <a:lnTo>
                      <a:pt x="23651" y="3064891"/>
                    </a:lnTo>
                    <a:lnTo>
                      <a:pt x="23651" y="3048000"/>
                    </a:lnTo>
                    <a:lnTo>
                      <a:pt x="262650" y="3048000"/>
                    </a:lnTo>
                    <a:lnTo>
                      <a:pt x="262650" y="3064891"/>
                    </a:lnTo>
                    <a:lnTo>
                      <a:pt x="238999" y="3064891"/>
                    </a:lnTo>
                    <a:lnTo>
                      <a:pt x="238999" y="16891"/>
                    </a:lnTo>
                    <a:lnTo>
                      <a:pt x="262650" y="16891"/>
                    </a:lnTo>
                    <a:lnTo>
                      <a:pt x="262650" y="33909"/>
                    </a:lnTo>
                    <a:lnTo>
                      <a:pt x="23651" y="33909"/>
                    </a:lnTo>
                    <a:close/>
                  </a:path>
                </a:pathLst>
              </a:custGeom>
              <a:solidFill>
                <a:srgbClr val="3FB950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547706" y="7218680"/>
              <a:ext cx="11608516" cy="682752"/>
              <a:chOff x="0" y="0"/>
              <a:chExt cx="11608516" cy="68275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1608515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11608515">
                    <a:moveTo>
                      <a:pt x="0" y="0"/>
                    </a:moveTo>
                    <a:lnTo>
                      <a:pt x="11608515" y="0"/>
                    </a:lnTo>
                    <a:lnTo>
                      <a:pt x="11608515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86604" r="28582" b="-186604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11608516" cy="7303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3FB95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Setup Steps Summary</a:t>
                </a: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718419" y="7912100"/>
              <a:ext cx="11335374" cy="161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Create .github/workflows/deploy.yml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Add AZURE_CREDENTIALS GitHub secret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Enable Continuous deployment in Azure portal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First push triggers full pipeline ✅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CI/CD Workflow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Visual step-by-step pipeline breakdown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3237" y="1803397"/>
            <a:ext cx="2976877" cy="2611117"/>
            <a:chOff x="0" y="0"/>
            <a:chExt cx="3969169" cy="34814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909" y="33909"/>
              <a:ext cx="39014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69258" cy="3481578"/>
            </a:xfrm>
            <a:custGeom>
              <a:avLst/>
              <a:gdLst/>
              <a:ahLst/>
              <a:cxnLst/>
              <a:rect r="r" b="b" t="t" l="l"/>
              <a:pathLst>
                <a:path h="3481578" w="3969258">
                  <a:moveTo>
                    <a:pt x="33909" y="0"/>
                  </a:moveTo>
                  <a:lnTo>
                    <a:pt x="3935349" y="0"/>
                  </a:lnTo>
                  <a:cubicBezTo>
                    <a:pt x="3954018" y="0"/>
                    <a:pt x="3969258" y="15113"/>
                    <a:pt x="3969258" y="33909"/>
                  </a:cubicBezTo>
                  <a:lnTo>
                    <a:pt x="3969258" y="3447669"/>
                  </a:lnTo>
                  <a:cubicBezTo>
                    <a:pt x="3969258" y="3466338"/>
                    <a:pt x="3954145" y="3481578"/>
                    <a:pt x="3935349" y="3481578"/>
                  </a:cubicBezTo>
                  <a:lnTo>
                    <a:pt x="33909" y="3481578"/>
                  </a:lnTo>
                  <a:cubicBezTo>
                    <a:pt x="15240" y="3481578"/>
                    <a:pt x="0" y="3466465"/>
                    <a:pt x="0" y="34476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447669"/>
                  </a:lnTo>
                  <a:lnTo>
                    <a:pt x="33909" y="3447669"/>
                  </a:lnTo>
                  <a:lnTo>
                    <a:pt x="33909" y="3413760"/>
                  </a:lnTo>
                  <a:lnTo>
                    <a:pt x="3935349" y="3413760"/>
                  </a:lnTo>
                  <a:lnTo>
                    <a:pt x="3935349" y="3447669"/>
                  </a:lnTo>
                  <a:lnTo>
                    <a:pt x="3901440" y="3447669"/>
                  </a:lnTo>
                  <a:lnTo>
                    <a:pt x="3901440" y="33909"/>
                  </a:lnTo>
                  <a:lnTo>
                    <a:pt x="3935349" y="33909"/>
                  </a:lnTo>
                  <a:lnTo>
                    <a:pt x="393534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816103"/>
            <a:ext cx="2951483" cy="537467"/>
            <a:chOff x="0" y="0"/>
            <a:chExt cx="3935311" cy="7166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35222" cy="716536"/>
            </a:xfrm>
            <a:custGeom>
              <a:avLst/>
              <a:gdLst/>
              <a:ahLst/>
              <a:cxnLst/>
              <a:rect r="r" b="b" t="t" l="l"/>
              <a:pathLst>
                <a:path h="716536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699643"/>
                  </a:lnTo>
                  <a:cubicBezTo>
                    <a:pt x="3935222" y="709041"/>
                    <a:pt x="3927602" y="716534"/>
                    <a:pt x="391833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3918331" y="682752"/>
                  </a:lnTo>
                  <a:lnTo>
                    <a:pt x="3918331" y="699643"/>
                  </a:lnTo>
                  <a:lnTo>
                    <a:pt x="3901440" y="699643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1828800"/>
            <a:ext cx="512064" cy="512064"/>
            <a:chOff x="0" y="0"/>
            <a:chExt cx="682752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2377440"/>
            <a:ext cx="2926080" cy="1005840"/>
            <a:chOff x="0" y="0"/>
            <a:chExt cx="390144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01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9014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Developer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Pushes Code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8640" y="3419856"/>
            <a:ext cx="2926080" cy="914400"/>
            <a:chOff x="0" y="0"/>
            <a:chExt cx="390144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901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push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main branch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449317" y="3083557"/>
            <a:ext cx="873757" cy="50797"/>
            <a:chOff x="0" y="0"/>
            <a:chExt cx="1165009" cy="677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33909" y="0"/>
              <a:ext cx="1097280" cy="67691"/>
            </a:xfrm>
            <a:custGeom>
              <a:avLst/>
              <a:gdLst/>
              <a:ahLst/>
              <a:cxnLst/>
              <a:rect r="r" b="b" t="t" l="l"/>
              <a:pathLst>
                <a:path h="67691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749040" y="2871216"/>
            <a:ext cx="365760" cy="457200"/>
            <a:chOff x="0" y="0"/>
            <a:chExt cx="487680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768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48768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088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723637" y="1803397"/>
            <a:ext cx="2976877" cy="2611117"/>
            <a:chOff x="0" y="0"/>
            <a:chExt cx="3969169" cy="34814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33909" y="33909"/>
              <a:ext cx="39014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69258" cy="3481578"/>
            </a:xfrm>
            <a:custGeom>
              <a:avLst/>
              <a:gdLst/>
              <a:ahLst/>
              <a:cxnLst/>
              <a:rect r="r" b="b" t="t" l="l"/>
              <a:pathLst>
                <a:path h="3481578" w="3969258">
                  <a:moveTo>
                    <a:pt x="33909" y="0"/>
                  </a:moveTo>
                  <a:lnTo>
                    <a:pt x="3935349" y="0"/>
                  </a:lnTo>
                  <a:cubicBezTo>
                    <a:pt x="3954018" y="0"/>
                    <a:pt x="3969258" y="15113"/>
                    <a:pt x="3969258" y="33909"/>
                  </a:cubicBezTo>
                  <a:lnTo>
                    <a:pt x="3969258" y="3447669"/>
                  </a:lnTo>
                  <a:cubicBezTo>
                    <a:pt x="3969258" y="3466338"/>
                    <a:pt x="3954145" y="3481578"/>
                    <a:pt x="3935349" y="3481578"/>
                  </a:cubicBezTo>
                  <a:lnTo>
                    <a:pt x="33909" y="3481578"/>
                  </a:lnTo>
                  <a:cubicBezTo>
                    <a:pt x="15240" y="3481578"/>
                    <a:pt x="0" y="3466465"/>
                    <a:pt x="0" y="34476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447669"/>
                  </a:lnTo>
                  <a:lnTo>
                    <a:pt x="33909" y="3447669"/>
                  </a:lnTo>
                  <a:lnTo>
                    <a:pt x="33909" y="3413760"/>
                  </a:lnTo>
                  <a:lnTo>
                    <a:pt x="3935349" y="3413760"/>
                  </a:lnTo>
                  <a:lnTo>
                    <a:pt x="3935349" y="3447669"/>
                  </a:lnTo>
                  <a:lnTo>
                    <a:pt x="3901440" y="3447669"/>
                  </a:lnTo>
                  <a:lnTo>
                    <a:pt x="3901440" y="33909"/>
                  </a:lnTo>
                  <a:lnTo>
                    <a:pt x="3935349" y="33909"/>
                  </a:lnTo>
                  <a:lnTo>
                    <a:pt x="393534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736343" y="1816103"/>
            <a:ext cx="2951483" cy="537467"/>
            <a:chOff x="0" y="0"/>
            <a:chExt cx="3935311" cy="71662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35222" cy="716536"/>
            </a:xfrm>
            <a:custGeom>
              <a:avLst/>
              <a:gdLst/>
              <a:ahLst/>
              <a:cxnLst/>
              <a:rect r="r" b="b" t="t" l="l"/>
              <a:pathLst>
                <a:path h="716536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699643"/>
                  </a:lnTo>
                  <a:cubicBezTo>
                    <a:pt x="3935222" y="709041"/>
                    <a:pt x="3927602" y="716534"/>
                    <a:pt x="391833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3918331" y="682752"/>
                  </a:lnTo>
                  <a:lnTo>
                    <a:pt x="3918331" y="699643"/>
                  </a:lnTo>
                  <a:lnTo>
                    <a:pt x="3901440" y="699643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749040" y="1828800"/>
            <a:ext cx="512064" cy="512064"/>
            <a:chOff x="0" y="0"/>
            <a:chExt cx="682752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749040" y="2377440"/>
            <a:ext cx="2926080" cy="1005840"/>
            <a:chOff x="0" y="0"/>
            <a:chExt cx="3901440" cy="1341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901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9014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Actions Triggered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749040" y="3419856"/>
            <a:ext cx="2926080" cy="914400"/>
            <a:chOff x="0" y="0"/>
            <a:chExt cx="390144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901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on: push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workflow starts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649717" y="3083557"/>
            <a:ext cx="873757" cy="50797"/>
            <a:chOff x="0" y="0"/>
            <a:chExt cx="1165009" cy="6772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33909" y="0"/>
              <a:ext cx="1097280" cy="67691"/>
            </a:xfrm>
            <a:custGeom>
              <a:avLst/>
              <a:gdLst/>
              <a:ahLst/>
              <a:cxnLst/>
              <a:rect r="r" b="b" t="t" l="l"/>
              <a:pathLst>
                <a:path h="67691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949440" y="2871216"/>
            <a:ext cx="365760" cy="457200"/>
            <a:chOff x="0" y="0"/>
            <a:chExt cx="487680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768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48768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2F81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924037" y="1803397"/>
            <a:ext cx="2976877" cy="2611117"/>
            <a:chOff x="0" y="0"/>
            <a:chExt cx="3969169" cy="348148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33909" y="33909"/>
              <a:ext cx="39014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969258" cy="3481578"/>
            </a:xfrm>
            <a:custGeom>
              <a:avLst/>
              <a:gdLst/>
              <a:ahLst/>
              <a:cxnLst/>
              <a:rect r="r" b="b" t="t" l="l"/>
              <a:pathLst>
                <a:path h="3481578" w="3969258">
                  <a:moveTo>
                    <a:pt x="33909" y="0"/>
                  </a:moveTo>
                  <a:lnTo>
                    <a:pt x="3935349" y="0"/>
                  </a:lnTo>
                  <a:cubicBezTo>
                    <a:pt x="3954018" y="0"/>
                    <a:pt x="3969258" y="15113"/>
                    <a:pt x="3969258" y="33909"/>
                  </a:cubicBezTo>
                  <a:lnTo>
                    <a:pt x="3969258" y="3447669"/>
                  </a:lnTo>
                  <a:cubicBezTo>
                    <a:pt x="3969258" y="3466338"/>
                    <a:pt x="3954145" y="3481578"/>
                    <a:pt x="3935349" y="3481578"/>
                  </a:cubicBezTo>
                  <a:lnTo>
                    <a:pt x="33909" y="3481578"/>
                  </a:lnTo>
                  <a:cubicBezTo>
                    <a:pt x="15240" y="3481578"/>
                    <a:pt x="0" y="3466465"/>
                    <a:pt x="0" y="34476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447669"/>
                  </a:lnTo>
                  <a:lnTo>
                    <a:pt x="33909" y="3447669"/>
                  </a:lnTo>
                  <a:lnTo>
                    <a:pt x="33909" y="3413760"/>
                  </a:lnTo>
                  <a:lnTo>
                    <a:pt x="3935349" y="3413760"/>
                  </a:lnTo>
                  <a:lnTo>
                    <a:pt x="3935349" y="3447669"/>
                  </a:lnTo>
                  <a:lnTo>
                    <a:pt x="3901440" y="3447669"/>
                  </a:lnTo>
                  <a:lnTo>
                    <a:pt x="3901440" y="33909"/>
                  </a:lnTo>
                  <a:lnTo>
                    <a:pt x="3935349" y="33909"/>
                  </a:lnTo>
                  <a:lnTo>
                    <a:pt x="393534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936743" y="1816103"/>
            <a:ext cx="2951483" cy="537467"/>
            <a:chOff x="0" y="0"/>
            <a:chExt cx="3935311" cy="71662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935222" cy="716536"/>
            </a:xfrm>
            <a:custGeom>
              <a:avLst/>
              <a:gdLst/>
              <a:ahLst/>
              <a:cxnLst/>
              <a:rect r="r" b="b" t="t" l="l"/>
              <a:pathLst>
                <a:path h="716536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699643"/>
                  </a:lnTo>
                  <a:cubicBezTo>
                    <a:pt x="3935222" y="709041"/>
                    <a:pt x="3927602" y="716534"/>
                    <a:pt x="391833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3918331" y="682752"/>
                  </a:lnTo>
                  <a:lnTo>
                    <a:pt x="3918331" y="699643"/>
                  </a:lnTo>
                  <a:lnTo>
                    <a:pt x="3901440" y="699643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949440" y="1828800"/>
            <a:ext cx="512064" cy="512064"/>
            <a:chOff x="0" y="0"/>
            <a:chExt cx="682752" cy="68275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949440" y="2377440"/>
            <a:ext cx="2926080" cy="1005840"/>
            <a:chOff x="0" y="0"/>
            <a:chExt cx="3901440" cy="13411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901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9014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Image Built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949440" y="3419856"/>
            <a:ext cx="2926080" cy="914400"/>
            <a:chOff x="0" y="0"/>
            <a:chExt cx="3901440" cy="1219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901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docker build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 ubuntu runner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850117" y="3083557"/>
            <a:ext cx="873757" cy="50797"/>
            <a:chOff x="0" y="0"/>
            <a:chExt cx="1165009" cy="6772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33909" y="0"/>
              <a:ext cx="1097280" cy="67691"/>
            </a:xfrm>
            <a:custGeom>
              <a:avLst/>
              <a:gdLst/>
              <a:ahLst/>
              <a:cxnLst/>
              <a:rect r="r" b="b" t="t" l="l"/>
              <a:pathLst>
                <a:path h="67691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149840" y="2871216"/>
            <a:ext cx="365760" cy="457200"/>
            <a:chOff x="0" y="0"/>
            <a:chExt cx="487680" cy="609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8768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48768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BC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124437" y="1803397"/>
            <a:ext cx="2976877" cy="2611117"/>
            <a:chOff x="0" y="0"/>
            <a:chExt cx="3969169" cy="348148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33909" y="33909"/>
              <a:ext cx="39014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969258" cy="3481578"/>
            </a:xfrm>
            <a:custGeom>
              <a:avLst/>
              <a:gdLst/>
              <a:ahLst/>
              <a:cxnLst/>
              <a:rect r="r" b="b" t="t" l="l"/>
              <a:pathLst>
                <a:path h="3481578" w="3969258">
                  <a:moveTo>
                    <a:pt x="33909" y="0"/>
                  </a:moveTo>
                  <a:lnTo>
                    <a:pt x="3935349" y="0"/>
                  </a:lnTo>
                  <a:cubicBezTo>
                    <a:pt x="3954018" y="0"/>
                    <a:pt x="3969258" y="15113"/>
                    <a:pt x="3969258" y="33909"/>
                  </a:cubicBezTo>
                  <a:lnTo>
                    <a:pt x="3969258" y="3447669"/>
                  </a:lnTo>
                  <a:cubicBezTo>
                    <a:pt x="3969258" y="3466338"/>
                    <a:pt x="3954145" y="3481578"/>
                    <a:pt x="3935349" y="3481578"/>
                  </a:cubicBezTo>
                  <a:lnTo>
                    <a:pt x="33909" y="3481578"/>
                  </a:lnTo>
                  <a:cubicBezTo>
                    <a:pt x="15240" y="3481578"/>
                    <a:pt x="0" y="3466465"/>
                    <a:pt x="0" y="34476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447669"/>
                  </a:lnTo>
                  <a:lnTo>
                    <a:pt x="33909" y="3447669"/>
                  </a:lnTo>
                  <a:lnTo>
                    <a:pt x="33909" y="3413760"/>
                  </a:lnTo>
                  <a:lnTo>
                    <a:pt x="3935349" y="3413760"/>
                  </a:lnTo>
                  <a:lnTo>
                    <a:pt x="3935349" y="3447669"/>
                  </a:lnTo>
                  <a:lnTo>
                    <a:pt x="3901440" y="3447669"/>
                  </a:lnTo>
                  <a:lnTo>
                    <a:pt x="3901440" y="33909"/>
                  </a:lnTo>
                  <a:lnTo>
                    <a:pt x="3935349" y="33909"/>
                  </a:lnTo>
                  <a:lnTo>
                    <a:pt x="393534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137143" y="1816103"/>
            <a:ext cx="2951483" cy="537467"/>
            <a:chOff x="0" y="0"/>
            <a:chExt cx="3935311" cy="71662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935222" cy="716536"/>
            </a:xfrm>
            <a:custGeom>
              <a:avLst/>
              <a:gdLst/>
              <a:ahLst/>
              <a:cxnLst/>
              <a:rect r="r" b="b" t="t" l="l"/>
              <a:pathLst>
                <a:path h="716536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699643"/>
                  </a:lnTo>
                  <a:cubicBezTo>
                    <a:pt x="3935222" y="709041"/>
                    <a:pt x="3927602" y="716534"/>
                    <a:pt x="391833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3918331" y="682752"/>
                  </a:lnTo>
                  <a:lnTo>
                    <a:pt x="3918331" y="699643"/>
                  </a:lnTo>
                  <a:lnTo>
                    <a:pt x="3901440" y="699643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149840" y="1828800"/>
            <a:ext cx="512064" cy="512064"/>
            <a:chOff x="0" y="0"/>
            <a:chExt cx="682752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149840" y="2377440"/>
            <a:ext cx="2926080" cy="1005840"/>
            <a:chOff x="0" y="0"/>
            <a:chExt cx="3901440" cy="13411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901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9014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Image Pushed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 ACR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149840" y="3419856"/>
            <a:ext cx="2926080" cy="914400"/>
            <a:chOff x="0" y="0"/>
            <a:chExt cx="3901440" cy="1219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901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docker push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:latest tag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050517" y="3083557"/>
            <a:ext cx="873757" cy="50797"/>
            <a:chOff x="0" y="0"/>
            <a:chExt cx="1165009" cy="6772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33909" y="0"/>
              <a:ext cx="1097280" cy="67691"/>
            </a:xfrm>
            <a:custGeom>
              <a:avLst/>
              <a:gdLst/>
              <a:ahLst/>
              <a:cxnLst/>
              <a:rect r="r" b="b" t="t" l="l"/>
              <a:pathLst>
                <a:path h="67691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3350240" y="2871216"/>
            <a:ext cx="365760" cy="457200"/>
            <a:chOff x="0" y="0"/>
            <a:chExt cx="487680" cy="6096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8768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48768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7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324837" y="1803397"/>
            <a:ext cx="2976877" cy="2611117"/>
            <a:chOff x="0" y="0"/>
            <a:chExt cx="3969169" cy="348148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33909" y="33909"/>
              <a:ext cx="39014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969258" cy="3481578"/>
            </a:xfrm>
            <a:custGeom>
              <a:avLst/>
              <a:gdLst/>
              <a:ahLst/>
              <a:cxnLst/>
              <a:rect r="r" b="b" t="t" l="l"/>
              <a:pathLst>
                <a:path h="3481578" w="3969258">
                  <a:moveTo>
                    <a:pt x="33909" y="0"/>
                  </a:moveTo>
                  <a:lnTo>
                    <a:pt x="3935349" y="0"/>
                  </a:lnTo>
                  <a:cubicBezTo>
                    <a:pt x="3954018" y="0"/>
                    <a:pt x="3969258" y="15113"/>
                    <a:pt x="3969258" y="33909"/>
                  </a:cubicBezTo>
                  <a:lnTo>
                    <a:pt x="3969258" y="3447669"/>
                  </a:lnTo>
                  <a:cubicBezTo>
                    <a:pt x="3969258" y="3466338"/>
                    <a:pt x="3954145" y="3481578"/>
                    <a:pt x="3935349" y="3481578"/>
                  </a:cubicBezTo>
                  <a:lnTo>
                    <a:pt x="33909" y="3481578"/>
                  </a:lnTo>
                  <a:cubicBezTo>
                    <a:pt x="15240" y="3481578"/>
                    <a:pt x="0" y="3466465"/>
                    <a:pt x="0" y="34476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447669"/>
                  </a:lnTo>
                  <a:lnTo>
                    <a:pt x="33909" y="3447669"/>
                  </a:lnTo>
                  <a:lnTo>
                    <a:pt x="33909" y="3413760"/>
                  </a:lnTo>
                  <a:lnTo>
                    <a:pt x="3935349" y="3413760"/>
                  </a:lnTo>
                  <a:lnTo>
                    <a:pt x="3935349" y="3447669"/>
                  </a:lnTo>
                  <a:lnTo>
                    <a:pt x="3901440" y="3447669"/>
                  </a:lnTo>
                  <a:lnTo>
                    <a:pt x="3901440" y="33909"/>
                  </a:lnTo>
                  <a:lnTo>
                    <a:pt x="3935349" y="33909"/>
                  </a:lnTo>
                  <a:lnTo>
                    <a:pt x="393534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3337543" y="1816103"/>
            <a:ext cx="2951483" cy="537467"/>
            <a:chOff x="0" y="0"/>
            <a:chExt cx="3935311" cy="71662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935222" cy="716536"/>
            </a:xfrm>
            <a:custGeom>
              <a:avLst/>
              <a:gdLst/>
              <a:ahLst/>
              <a:cxnLst/>
              <a:rect r="r" b="b" t="t" l="l"/>
              <a:pathLst>
                <a:path h="716536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699643"/>
                  </a:lnTo>
                  <a:cubicBezTo>
                    <a:pt x="3935222" y="709041"/>
                    <a:pt x="3927602" y="716534"/>
                    <a:pt x="391833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3918331" y="682752"/>
                  </a:lnTo>
                  <a:lnTo>
                    <a:pt x="3918331" y="699643"/>
                  </a:lnTo>
                  <a:lnTo>
                    <a:pt x="3901440" y="699643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350240" y="1828800"/>
            <a:ext cx="512064" cy="512064"/>
            <a:chOff x="0" y="0"/>
            <a:chExt cx="682752" cy="6827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3350240" y="2377440"/>
            <a:ext cx="2926080" cy="1005840"/>
            <a:chOff x="0" y="0"/>
            <a:chExt cx="3901440" cy="13411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901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9014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 App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Restarted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3350240" y="3419856"/>
            <a:ext cx="2926080" cy="914400"/>
            <a:chOff x="0" y="0"/>
            <a:chExt cx="3901440" cy="12192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3901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az webapp restart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pulls new image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35943" y="4742183"/>
            <a:ext cx="17033243" cy="610619"/>
            <a:chOff x="0" y="0"/>
            <a:chExt cx="22710991" cy="81415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22677119" cy="780288"/>
            </a:xfrm>
            <a:custGeom>
              <a:avLst/>
              <a:gdLst/>
              <a:ahLst/>
              <a:cxnLst/>
              <a:rect r="r" b="b" t="t" l="l"/>
              <a:pathLst>
                <a:path h="78028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2710902" cy="814072"/>
            </a:xfrm>
            <a:custGeom>
              <a:avLst/>
              <a:gdLst/>
              <a:ahLst/>
              <a:cxnLst/>
              <a:rect r="r" b="b" t="t" l="l"/>
              <a:pathLst>
                <a:path h="81407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797179"/>
                  </a:lnTo>
                  <a:cubicBezTo>
                    <a:pt x="22710902" y="806577"/>
                    <a:pt x="22703282" y="814070"/>
                    <a:pt x="22694010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2694010" y="780288"/>
                  </a:lnTo>
                  <a:lnTo>
                    <a:pt x="22694010" y="797179"/>
                  </a:lnTo>
                  <a:lnTo>
                    <a:pt x="22677120" y="79717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822960" y="4846320"/>
            <a:ext cx="16459200" cy="402336"/>
            <a:chOff x="0" y="0"/>
            <a:chExt cx="21945600" cy="53644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GitHub Actions Runs (Automated):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535943" y="5382263"/>
            <a:ext cx="17033243" cy="2677163"/>
            <a:chOff x="0" y="0"/>
            <a:chExt cx="22710991" cy="356955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6891" y="16891"/>
              <a:ext cx="22677119" cy="3535680"/>
            </a:xfrm>
            <a:custGeom>
              <a:avLst/>
              <a:gdLst/>
              <a:ahLst/>
              <a:cxnLst/>
              <a:rect r="r" b="b" t="t" l="l"/>
              <a:pathLst>
                <a:path h="353568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2710902" cy="3569462"/>
            </a:xfrm>
            <a:custGeom>
              <a:avLst/>
              <a:gdLst/>
              <a:ahLst/>
              <a:cxnLst/>
              <a:rect r="r" b="b" t="t" l="l"/>
              <a:pathLst>
                <a:path h="356946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3552571"/>
                  </a:lnTo>
                  <a:cubicBezTo>
                    <a:pt x="22710902" y="3561969"/>
                    <a:pt x="22703282" y="3569462"/>
                    <a:pt x="22694010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22694010" y="3535680"/>
                  </a:lnTo>
                  <a:lnTo>
                    <a:pt x="22694010" y="3552571"/>
                  </a:lnTo>
                  <a:lnTo>
                    <a:pt x="22677120" y="355257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535943" y="5382263"/>
            <a:ext cx="17033243" cy="427739"/>
            <a:chOff x="0" y="0"/>
            <a:chExt cx="22710991" cy="57031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22677119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C2128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2710902" cy="570232"/>
            </a:xfrm>
            <a:custGeom>
              <a:avLst/>
              <a:gdLst/>
              <a:ahLst/>
              <a:cxnLst/>
              <a:rect r="r" b="b" t="t" l="l"/>
              <a:pathLst>
                <a:path h="57023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553339"/>
                  </a:lnTo>
                  <a:cubicBezTo>
                    <a:pt x="22710902" y="562737"/>
                    <a:pt x="22703282" y="570230"/>
                    <a:pt x="22694010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22694010" y="536448"/>
                  </a:lnTo>
                  <a:lnTo>
                    <a:pt x="22694010" y="553339"/>
                  </a:lnTo>
                  <a:lnTo>
                    <a:pt x="22677120" y="55333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128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731520" y="5431536"/>
            <a:ext cx="16642080" cy="329184"/>
            <a:chOff x="0" y="0"/>
            <a:chExt cx="22189440" cy="43891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2189439" cy="438912"/>
            </a:xfrm>
            <a:custGeom>
              <a:avLst/>
              <a:gdLst/>
              <a:ahLst/>
              <a:cxnLst/>
              <a:rect r="r" b="b" t="t" l="l"/>
              <a:pathLst>
                <a:path h="43891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5076" r="0" b="-935076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221894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$ terminal</a:t>
              </a:r>
            </a:p>
          </p:txBody>
        </p:sp>
      </p:grpSp>
      <p:sp>
        <p:nvSpPr>
          <p:cNvPr name="TextBox 121" id="121"/>
          <p:cNvSpPr txBox="true"/>
          <p:nvPr/>
        </p:nvSpPr>
        <p:spPr>
          <a:xfrm rot="0">
            <a:off x="768096" y="5795772"/>
            <a:ext cx="16605504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actions/checkout@v3          →   Clone repo to runner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azure/login@v1               →   Authenticate to Azure using AZURE_CREDENTIALS secret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az acr login                 →   Authenticate Docker to Azure Container Registry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docker build                 →   Build new image with latest code changes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docker push :latest          →   Upload image to ACR (only changed layers)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az webapp restart            →   Force Azure to pull new :latest image and restart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529590" y="8265414"/>
            <a:ext cx="8267700" cy="1592580"/>
            <a:chOff x="0" y="0"/>
            <a:chExt cx="11023600" cy="21234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25400" y="25400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1023600" cy="2123440"/>
            </a:xfrm>
            <a:custGeom>
              <a:avLst/>
              <a:gdLst/>
              <a:ahLst/>
              <a:cxnLst/>
              <a:rect r="r" b="b" t="t" l="l"/>
              <a:pathLst>
                <a:path h="212344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2098040"/>
                  </a:lnTo>
                  <a:cubicBezTo>
                    <a:pt x="11023600" y="2112010"/>
                    <a:pt x="11012170" y="2123440"/>
                    <a:pt x="10998200" y="2123440"/>
                  </a:cubicBezTo>
                  <a:lnTo>
                    <a:pt x="25400" y="2123440"/>
                  </a:lnTo>
                  <a:cubicBezTo>
                    <a:pt x="11430" y="2123440"/>
                    <a:pt x="0" y="2112010"/>
                    <a:pt x="0" y="20980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098040"/>
                  </a:lnTo>
                  <a:lnTo>
                    <a:pt x="25400" y="2098040"/>
                  </a:lnTo>
                  <a:lnTo>
                    <a:pt x="25400" y="2072640"/>
                  </a:lnTo>
                  <a:lnTo>
                    <a:pt x="10998200" y="2072640"/>
                  </a:lnTo>
                  <a:lnTo>
                    <a:pt x="10998200" y="2098040"/>
                  </a:lnTo>
                  <a:lnTo>
                    <a:pt x="10972800" y="209804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35943" y="8271767"/>
            <a:ext cx="153419" cy="1579883"/>
            <a:chOff x="0" y="0"/>
            <a:chExt cx="204559" cy="210651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1706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3FB950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04470" cy="2106422"/>
            </a:xfrm>
            <a:custGeom>
              <a:avLst/>
              <a:gdLst/>
              <a:ahLst/>
              <a:cxnLst/>
              <a:rect r="r" b="b" t="t" l="l"/>
              <a:pathLst>
                <a:path h="2106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089531"/>
                  </a:lnTo>
                  <a:cubicBezTo>
                    <a:pt x="204470" y="2098929"/>
                    <a:pt x="196850" y="2106422"/>
                    <a:pt x="187579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87579" y="2072640"/>
                  </a:lnTo>
                  <a:lnTo>
                    <a:pt x="187579" y="2089531"/>
                  </a:lnTo>
                  <a:lnTo>
                    <a:pt x="170688" y="2089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822960" y="8375904"/>
            <a:ext cx="7863840" cy="512064"/>
            <a:chOff x="0" y="0"/>
            <a:chExt cx="10485120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FB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Pipeline Time</a:t>
              </a:r>
            </a:p>
          </p:txBody>
        </p:sp>
      </p:grpSp>
      <p:sp>
        <p:nvSpPr>
          <p:cNvPr name="TextBox 131" id="131"/>
          <p:cNvSpPr txBox="true"/>
          <p:nvPr/>
        </p:nvSpPr>
        <p:spPr>
          <a:xfrm rot="0">
            <a:off x="914400" y="8886444"/>
            <a:ext cx="7717536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~3–5 minutes end-to-end (build + push + deploy)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Visible in GitHub → Actions tab with live logs</a:t>
            </a:r>
          </a:p>
        </p:txBody>
      </p:sp>
      <p:grpSp>
        <p:nvGrpSpPr>
          <p:cNvPr name="Group 132" id="132"/>
          <p:cNvGrpSpPr/>
          <p:nvPr/>
        </p:nvGrpSpPr>
        <p:grpSpPr>
          <a:xfrm rot="0">
            <a:off x="9124950" y="8265414"/>
            <a:ext cx="8450580" cy="1592580"/>
            <a:chOff x="0" y="0"/>
            <a:chExt cx="11267440" cy="212344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25400" y="25400"/>
              <a:ext cx="11216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1267440" cy="2123440"/>
            </a:xfrm>
            <a:custGeom>
              <a:avLst/>
              <a:gdLst/>
              <a:ahLst/>
              <a:cxnLst/>
              <a:rect r="r" b="b" t="t" l="l"/>
              <a:pathLst>
                <a:path h="2123440" w="11267440">
                  <a:moveTo>
                    <a:pt x="25400" y="0"/>
                  </a:moveTo>
                  <a:lnTo>
                    <a:pt x="11242040" y="0"/>
                  </a:lnTo>
                  <a:cubicBezTo>
                    <a:pt x="11256010" y="0"/>
                    <a:pt x="11267440" y="11430"/>
                    <a:pt x="11267440" y="25400"/>
                  </a:cubicBezTo>
                  <a:lnTo>
                    <a:pt x="11267440" y="2098040"/>
                  </a:lnTo>
                  <a:cubicBezTo>
                    <a:pt x="11267440" y="2112010"/>
                    <a:pt x="11256010" y="2123440"/>
                    <a:pt x="11242040" y="2123440"/>
                  </a:cubicBezTo>
                  <a:lnTo>
                    <a:pt x="25400" y="2123440"/>
                  </a:lnTo>
                  <a:cubicBezTo>
                    <a:pt x="11430" y="2123440"/>
                    <a:pt x="0" y="2112010"/>
                    <a:pt x="0" y="20980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098040"/>
                  </a:lnTo>
                  <a:lnTo>
                    <a:pt x="25400" y="2098040"/>
                  </a:lnTo>
                  <a:lnTo>
                    <a:pt x="25400" y="2072640"/>
                  </a:lnTo>
                  <a:lnTo>
                    <a:pt x="11242040" y="2072640"/>
                  </a:lnTo>
                  <a:lnTo>
                    <a:pt x="11242040" y="2098040"/>
                  </a:lnTo>
                  <a:lnTo>
                    <a:pt x="11216640" y="2098040"/>
                  </a:lnTo>
                  <a:lnTo>
                    <a:pt x="11216640" y="25400"/>
                  </a:lnTo>
                  <a:lnTo>
                    <a:pt x="11242040" y="25400"/>
                  </a:lnTo>
                  <a:lnTo>
                    <a:pt x="112420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131303" y="8271767"/>
            <a:ext cx="153419" cy="1579883"/>
            <a:chOff x="0" y="0"/>
            <a:chExt cx="204559" cy="2106511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16891" y="16891"/>
              <a:ext cx="1706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04470" cy="2106422"/>
            </a:xfrm>
            <a:custGeom>
              <a:avLst/>
              <a:gdLst/>
              <a:ahLst/>
              <a:cxnLst/>
              <a:rect r="r" b="b" t="t" l="l"/>
              <a:pathLst>
                <a:path h="2106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089531"/>
                  </a:lnTo>
                  <a:cubicBezTo>
                    <a:pt x="204470" y="2098929"/>
                    <a:pt x="196850" y="2106422"/>
                    <a:pt x="187579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87579" y="2072640"/>
                  </a:lnTo>
                  <a:lnTo>
                    <a:pt x="187579" y="2089531"/>
                  </a:lnTo>
                  <a:lnTo>
                    <a:pt x="170688" y="2089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9418320" y="8375904"/>
            <a:ext cx="8046720" cy="512064"/>
            <a:chOff x="0" y="0"/>
            <a:chExt cx="10728960" cy="682752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47625"/>
              <a:ext cx="10728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95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 Continuous Deployment</a:t>
              </a:r>
            </a:p>
          </p:txBody>
        </p:sp>
      </p:grpSp>
      <p:sp>
        <p:nvSpPr>
          <p:cNvPr name="TextBox 141" id="141"/>
          <p:cNvSpPr txBox="true"/>
          <p:nvPr/>
        </p:nvSpPr>
        <p:spPr>
          <a:xfrm rot="0">
            <a:off x="9509760" y="8886444"/>
            <a:ext cx="7900416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Enable in Deployment Center → triggers on ACR push webhook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No az webapp restart needed if webhook is active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Deployment Flow (Git → Azure)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Complete journey from code change to live production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3014" y="1809750"/>
            <a:ext cx="2689860" cy="1775460"/>
            <a:chOff x="0" y="0"/>
            <a:chExt cx="3586480" cy="236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35356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86480" cy="2367280"/>
            </a:xfrm>
            <a:custGeom>
              <a:avLst/>
              <a:gdLst/>
              <a:ahLst/>
              <a:cxnLst/>
              <a:rect r="r" b="b" t="t" l="l"/>
              <a:pathLst>
                <a:path h="2367280" w="3586480">
                  <a:moveTo>
                    <a:pt x="25400" y="0"/>
                  </a:moveTo>
                  <a:lnTo>
                    <a:pt x="3561080" y="0"/>
                  </a:lnTo>
                  <a:cubicBezTo>
                    <a:pt x="3575050" y="0"/>
                    <a:pt x="3586480" y="11430"/>
                    <a:pt x="3586480" y="25400"/>
                  </a:cubicBezTo>
                  <a:lnTo>
                    <a:pt x="3586480" y="2341880"/>
                  </a:lnTo>
                  <a:cubicBezTo>
                    <a:pt x="3586480" y="2355850"/>
                    <a:pt x="3575050" y="2367280"/>
                    <a:pt x="3561080" y="2367280"/>
                  </a:cubicBezTo>
                  <a:lnTo>
                    <a:pt x="25400" y="2367280"/>
                  </a:lnTo>
                  <a:cubicBezTo>
                    <a:pt x="11430" y="2367280"/>
                    <a:pt x="0" y="2355850"/>
                    <a:pt x="0" y="2341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341880"/>
                  </a:lnTo>
                  <a:lnTo>
                    <a:pt x="25400" y="2341880"/>
                  </a:lnTo>
                  <a:lnTo>
                    <a:pt x="25400" y="2316480"/>
                  </a:lnTo>
                  <a:lnTo>
                    <a:pt x="3561080" y="2316480"/>
                  </a:lnTo>
                  <a:lnTo>
                    <a:pt x="3561080" y="2341880"/>
                  </a:lnTo>
                  <a:lnTo>
                    <a:pt x="3535680" y="2341880"/>
                  </a:lnTo>
                  <a:lnTo>
                    <a:pt x="3535680" y="25400"/>
                  </a:lnTo>
                  <a:lnTo>
                    <a:pt x="3561080" y="25400"/>
                  </a:lnTo>
                  <a:lnTo>
                    <a:pt x="35610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67" y="1816103"/>
            <a:ext cx="2677163" cy="427739"/>
            <a:chOff x="0" y="0"/>
            <a:chExt cx="3569551" cy="5703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69462" cy="570232"/>
            </a:xfrm>
            <a:custGeom>
              <a:avLst/>
              <a:gdLst/>
              <a:ahLst/>
              <a:cxnLst/>
              <a:rect r="r" b="b" t="t" l="l"/>
              <a:pathLst>
                <a:path h="570232" w="3569462">
                  <a:moveTo>
                    <a:pt x="16891" y="0"/>
                  </a:moveTo>
                  <a:lnTo>
                    <a:pt x="3552571" y="0"/>
                  </a:lnTo>
                  <a:cubicBezTo>
                    <a:pt x="3561969" y="0"/>
                    <a:pt x="3569462" y="7620"/>
                    <a:pt x="3569462" y="16891"/>
                  </a:cubicBezTo>
                  <a:lnTo>
                    <a:pt x="3569462" y="553339"/>
                  </a:lnTo>
                  <a:cubicBezTo>
                    <a:pt x="3569462" y="562737"/>
                    <a:pt x="3561842" y="570230"/>
                    <a:pt x="355257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552571" y="536448"/>
                  </a:lnTo>
                  <a:lnTo>
                    <a:pt x="3552571" y="553339"/>
                  </a:lnTo>
                  <a:lnTo>
                    <a:pt x="3535680" y="553339"/>
                  </a:lnTo>
                  <a:lnTo>
                    <a:pt x="3535680" y="16891"/>
                  </a:lnTo>
                  <a:lnTo>
                    <a:pt x="3552571" y="16891"/>
                  </a:lnTo>
                  <a:lnTo>
                    <a:pt x="3552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12064" y="1828800"/>
            <a:ext cx="402336" cy="402336"/>
            <a:chOff x="0" y="0"/>
            <a:chExt cx="536448" cy="5364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064" y="2249424"/>
            <a:ext cx="2651760" cy="694944"/>
            <a:chOff x="0" y="0"/>
            <a:chExt cx="353568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53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Local Dev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144774" y="2669286"/>
            <a:ext cx="275844" cy="38100"/>
            <a:chOff x="0" y="0"/>
            <a:chExt cx="367792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00" y="0"/>
              <a:ext cx="316992" cy="50800"/>
            </a:xfrm>
            <a:custGeom>
              <a:avLst/>
              <a:gdLst/>
              <a:ahLst/>
              <a:cxnLst/>
              <a:rect r="r" b="b" t="t" l="l"/>
              <a:pathLst>
                <a:path h="50800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218688" y="2487168"/>
            <a:ext cx="329184" cy="402336"/>
            <a:chOff x="0" y="0"/>
            <a:chExt cx="438912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8912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6815" t="0" r="-10681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389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088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12064" y="3657600"/>
            <a:ext cx="2651760" cy="1060704"/>
            <a:chOff x="0" y="0"/>
            <a:chExt cx="3535680" cy="14142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356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5356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Edit code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add . &amp;&amp; git commit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382518" y="1809750"/>
            <a:ext cx="2689860" cy="1775460"/>
            <a:chOff x="0" y="0"/>
            <a:chExt cx="3586480" cy="236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25400"/>
              <a:ext cx="35356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86480" cy="2367280"/>
            </a:xfrm>
            <a:custGeom>
              <a:avLst/>
              <a:gdLst/>
              <a:ahLst/>
              <a:cxnLst/>
              <a:rect r="r" b="b" t="t" l="l"/>
              <a:pathLst>
                <a:path h="2367280" w="3586480">
                  <a:moveTo>
                    <a:pt x="25400" y="0"/>
                  </a:moveTo>
                  <a:lnTo>
                    <a:pt x="3561080" y="0"/>
                  </a:lnTo>
                  <a:cubicBezTo>
                    <a:pt x="3575050" y="0"/>
                    <a:pt x="3586480" y="11430"/>
                    <a:pt x="3586480" y="25400"/>
                  </a:cubicBezTo>
                  <a:lnTo>
                    <a:pt x="3586480" y="2341880"/>
                  </a:lnTo>
                  <a:cubicBezTo>
                    <a:pt x="3586480" y="2355850"/>
                    <a:pt x="3575050" y="2367280"/>
                    <a:pt x="3561080" y="2367280"/>
                  </a:cubicBezTo>
                  <a:lnTo>
                    <a:pt x="25400" y="2367280"/>
                  </a:lnTo>
                  <a:cubicBezTo>
                    <a:pt x="11430" y="2367280"/>
                    <a:pt x="0" y="2355850"/>
                    <a:pt x="0" y="2341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341880"/>
                  </a:lnTo>
                  <a:lnTo>
                    <a:pt x="25400" y="2341880"/>
                  </a:lnTo>
                  <a:lnTo>
                    <a:pt x="25400" y="2316480"/>
                  </a:lnTo>
                  <a:lnTo>
                    <a:pt x="3561080" y="2316480"/>
                  </a:lnTo>
                  <a:lnTo>
                    <a:pt x="3561080" y="2341880"/>
                  </a:lnTo>
                  <a:lnTo>
                    <a:pt x="3535680" y="2341880"/>
                  </a:lnTo>
                  <a:lnTo>
                    <a:pt x="3535680" y="25400"/>
                  </a:lnTo>
                  <a:lnTo>
                    <a:pt x="3561080" y="25400"/>
                  </a:lnTo>
                  <a:lnTo>
                    <a:pt x="35610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388871" y="1816103"/>
            <a:ext cx="2677163" cy="427739"/>
            <a:chOff x="0" y="0"/>
            <a:chExt cx="3569551" cy="5703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69462" cy="570232"/>
            </a:xfrm>
            <a:custGeom>
              <a:avLst/>
              <a:gdLst/>
              <a:ahLst/>
              <a:cxnLst/>
              <a:rect r="r" b="b" t="t" l="l"/>
              <a:pathLst>
                <a:path h="570232" w="3569462">
                  <a:moveTo>
                    <a:pt x="16891" y="0"/>
                  </a:moveTo>
                  <a:lnTo>
                    <a:pt x="3552571" y="0"/>
                  </a:lnTo>
                  <a:cubicBezTo>
                    <a:pt x="3561969" y="0"/>
                    <a:pt x="3569462" y="7620"/>
                    <a:pt x="3569462" y="16891"/>
                  </a:cubicBezTo>
                  <a:lnTo>
                    <a:pt x="3569462" y="553339"/>
                  </a:lnTo>
                  <a:cubicBezTo>
                    <a:pt x="3569462" y="562737"/>
                    <a:pt x="3561842" y="570230"/>
                    <a:pt x="355257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552571" y="536448"/>
                  </a:lnTo>
                  <a:lnTo>
                    <a:pt x="3552571" y="553339"/>
                  </a:lnTo>
                  <a:lnTo>
                    <a:pt x="3535680" y="553339"/>
                  </a:lnTo>
                  <a:lnTo>
                    <a:pt x="3535680" y="16891"/>
                  </a:lnTo>
                  <a:lnTo>
                    <a:pt x="3552571" y="16891"/>
                  </a:lnTo>
                  <a:lnTo>
                    <a:pt x="3552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401568" y="1828800"/>
            <a:ext cx="402336" cy="402336"/>
            <a:chOff x="0" y="0"/>
            <a:chExt cx="536448" cy="5364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401568" y="2249424"/>
            <a:ext cx="2651760" cy="694944"/>
            <a:chOff x="0" y="0"/>
            <a:chExt cx="3535680" cy="9265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53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034278" y="2669286"/>
            <a:ext cx="275844" cy="38100"/>
            <a:chOff x="0" y="0"/>
            <a:chExt cx="367792" cy="50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25400" y="0"/>
              <a:ext cx="316992" cy="50800"/>
            </a:xfrm>
            <a:custGeom>
              <a:avLst/>
              <a:gdLst/>
              <a:ahLst/>
              <a:cxnLst/>
              <a:rect r="r" b="b" t="t" l="l"/>
              <a:pathLst>
                <a:path h="50800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108192" y="2487168"/>
            <a:ext cx="329184" cy="402336"/>
            <a:chOff x="0" y="0"/>
            <a:chExt cx="438912" cy="5364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8912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6815" t="0" r="-106815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4389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F81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401568" y="3657600"/>
            <a:ext cx="2651760" cy="1060704"/>
            <a:chOff x="0" y="0"/>
            <a:chExt cx="3535680" cy="14142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356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5356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push → repo updated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Workflow triggered by on:push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272022" y="1809750"/>
            <a:ext cx="2689860" cy="1775460"/>
            <a:chOff x="0" y="0"/>
            <a:chExt cx="3586480" cy="236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25400" y="25400"/>
              <a:ext cx="35356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586480" cy="2367280"/>
            </a:xfrm>
            <a:custGeom>
              <a:avLst/>
              <a:gdLst/>
              <a:ahLst/>
              <a:cxnLst/>
              <a:rect r="r" b="b" t="t" l="l"/>
              <a:pathLst>
                <a:path h="2367280" w="3586480">
                  <a:moveTo>
                    <a:pt x="25400" y="0"/>
                  </a:moveTo>
                  <a:lnTo>
                    <a:pt x="3561080" y="0"/>
                  </a:lnTo>
                  <a:cubicBezTo>
                    <a:pt x="3575050" y="0"/>
                    <a:pt x="3586480" y="11430"/>
                    <a:pt x="3586480" y="25400"/>
                  </a:cubicBezTo>
                  <a:lnTo>
                    <a:pt x="3586480" y="2341880"/>
                  </a:lnTo>
                  <a:cubicBezTo>
                    <a:pt x="3586480" y="2355850"/>
                    <a:pt x="3575050" y="2367280"/>
                    <a:pt x="3561080" y="2367280"/>
                  </a:cubicBezTo>
                  <a:lnTo>
                    <a:pt x="25400" y="2367280"/>
                  </a:lnTo>
                  <a:cubicBezTo>
                    <a:pt x="11430" y="2367280"/>
                    <a:pt x="0" y="2355850"/>
                    <a:pt x="0" y="2341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341880"/>
                  </a:lnTo>
                  <a:lnTo>
                    <a:pt x="25400" y="2341880"/>
                  </a:lnTo>
                  <a:lnTo>
                    <a:pt x="25400" y="2316480"/>
                  </a:lnTo>
                  <a:lnTo>
                    <a:pt x="3561080" y="2316480"/>
                  </a:lnTo>
                  <a:lnTo>
                    <a:pt x="3561080" y="2341880"/>
                  </a:lnTo>
                  <a:lnTo>
                    <a:pt x="3535680" y="2341880"/>
                  </a:lnTo>
                  <a:lnTo>
                    <a:pt x="3535680" y="25400"/>
                  </a:lnTo>
                  <a:lnTo>
                    <a:pt x="3561080" y="25400"/>
                  </a:lnTo>
                  <a:lnTo>
                    <a:pt x="35610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278375" y="1816103"/>
            <a:ext cx="2677163" cy="427739"/>
            <a:chOff x="0" y="0"/>
            <a:chExt cx="3569551" cy="57031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569462" cy="570232"/>
            </a:xfrm>
            <a:custGeom>
              <a:avLst/>
              <a:gdLst/>
              <a:ahLst/>
              <a:cxnLst/>
              <a:rect r="r" b="b" t="t" l="l"/>
              <a:pathLst>
                <a:path h="570232" w="3569462">
                  <a:moveTo>
                    <a:pt x="16891" y="0"/>
                  </a:moveTo>
                  <a:lnTo>
                    <a:pt x="3552571" y="0"/>
                  </a:lnTo>
                  <a:cubicBezTo>
                    <a:pt x="3561969" y="0"/>
                    <a:pt x="3569462" y="7620"/>
                    <a:pt x="3569462" y="16891"/>
                  </a:cubicBezTo>
                  <a:lnTo>
                    <a:pt x="3569462" y="553339"/>
                  </a:lnTo>
                  <a:cubicBezTo>
                    <a:pt x="3569462" y="562737"/>
                    <a:pt x="3561842" y="570230"/>
                    <a:pt x="355257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552571" y="536448"/>
                  </a:lnTo>
                  <a:lnTo>
                    <a:pt x="3552571" y="553339"/>
                  </a:lnTo>
                  <a:lnTo>
                    <a:pt x="3535680" y="553339"/>
                  </a:lnTo>
                  <a:lnTo>
                    <a:pt x="3535680" y="16891"/>
                  </a:lnTo>
                  <a:lnTo>
                    <a:pt x="3552571" y="16891"/>
                  </a:lnTo>
                  <a:lnTo>
                    <a:pt x="3552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291072" y="1828800"/>
            <a:ext cx="402336" cy="402336"/>
            <a:chOff x="0" y="0"/>
            <a:chExt cx="536448" cy="53644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291072" y="2249424"/>
            <a:ext cx="2651760" cy="694944"/>
            <a:chOff x="0" y="0"/>
            <a:chExt cx="3535680" cy="9265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53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Actions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Runner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923782" y="2669286"/>
            <a:ext cx="275844" cy="38100"/>
            <a:chOff x="0" y="0"/>
            <a:chExt cx="367792" cy="50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25400" y="0"/>
              <a:ext cx="316992" cy="50800"/>
            </a:xfrm>
            <a:custGeom>
              <a:avLst/>
              <a:gdLst/>
              <a:ahLst/>
              <a:cxnLst/>
              <a:rect r="r" b="b" t="t" l="l"/>
              <a:pathLst>
                <a:path h="50800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997696" y="2487168"/>
            <a:ext cx="329184" cy="402336"/>
            <a:chOff x="0" y="0"/>
            <a:chExt cx="438912" cy="5364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38912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6815" t="0" r="-106815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389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BC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291072" y="3657600"/>
            <a:ext cx="2651760" cy="1060704"/>
            <a:chOff x="0" y="0"/>
            <a:chExt cx="3535680" cy="14142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5356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35356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Checkout → Docker build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Push to ACR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61526" y="1809750"/>
            <a:ext cx="2689860" cy="1775460"/>
            <a:chOff x="0" y="0"/>
            <a:chExt cx="3586480" cy="2367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5400" y="25400"/>
              <a:ext cx="35356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586480" cy="2367280"/>
            </a:xfrm>
            <a:custGeom>
              <a:avLst/>
              <a:gdLst/>
              <a:ahLst/>
              <a:cxnLst/>
              <a:rect r="r" b="b" t="t" l="l"/>
              <a:pathLst>
                <a:path h="2367280" w="3586480">
                  <a:moveTo>
                    <a:pt x="25400" y="0"/>
                  </a:moveTo>
                  <a:lnTo>
                    <a:pt x="3561080" y="0"/>
                  </a:lnTo>
                  <a:cubicBezTo>
                    <a:pt x="3575050" y="0"/>
                    <a:pt x="3586480" y="11430"/>
                    <a:pt x="3586480" y="25400"/>
                  </a:cubicBezTo>
                  <a:lnTo>
                    <a:pt x="3586480" y="2341880"/>
                  </a:lnTo>
                  <a:cubicBezTo>
                    <a:pt x="3586480" y="2355850"/>
                    <a:pt x="3575050" y="2367280"/>
                    <a:pt x="3561080" y="2367280"/>
                  </a:cubicBezTo>
                  <a:lnTo>
                    <a:pt x="25400" y="2367280"/>
                  </a:lnTo>
                  <a:cubicBezTo>
                    <a:pt x="11430" y="2367280"/>
                    <a:pt x="0" y="2355850"/>
                    <a:pt x="0" y="2341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341880"/>
                  </a:lnTo>
                  <a:lnTo>
                    <a:pt x="25400" y="2341880"/>
                  </a:lnTo>
                  <a:lnTo>
                    <a:pt x="25400" y="2316480"/>
                  </a:lnTo>
                  <a:lnTo>
                    <a:pt x="3561080" y="2316480"/>
                  </a:lnTo>
                  <a:lnTo>
                    <a:pt x="3561080" y="2341880"/>
                  </a:lnTo>
                  <a:lnTo>
                    <a:pt x="3535680" y="2341880"/>
                  </a:lnTo>
                  <a:lnTo>
                    <a:pt x="3535680" y="25400"/>
                  </a:lnTo>
                  <a:lnTo>
                    <a:pt x="3561080" y="25400"/>
                  </a:lnTo>
                  <a:lnTo>
                    <a:pt x="35610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167879" y="1816103"/>
            <a:ext cx="2677163" cy="427739"/>
            <a:chOff x="0" y="0"/>
            <a:chExt cx="3569551" cy="57031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569462" cy="570232"/>
            </a:xfrm>
            <a:custGeom>
              <a:avLst/>
              <a:gdLst/>
              <a:ahLst/>
              <a:cxnLst/>
              <a:rect r="r" b="b" t="t" l="l"/>
              <a:pathLst>
                <a:path h="570232" w="3569462">
                  <a:moveTo>
                    <a:pt x="16891" y="0"/>
                  </a:moveTo>
                  <a:lnTo>
                    <a:pt x="3552571" y="0"/>
                  </a:lnTo>
                  <a:cubicBezTo>
                    <a:pt x="3561969" y="0"/>
                    <a:pt x="3569462" y="7620"/>
                    <a:pt x="3569462" y="16891"/>
                  </a:cubicBezTo>
                  <a:lnTo>
                    <a:pt x="3569462" y="553339"/>
                  </a:lnTo>
                  <a:cubicBezTo>
                    <a:pt x="3569462" y="562737"/>
                    <a:pt x="3561842" y="570230"/>
                    <a:pt x="355257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552571" y="536448"/>
                  </a:lnTo>
                  <a:lnTo>
                    <a:pt x="3552571" y="553339"/>
                  </a:lnTo>
                  <a:lnTo>
                    <a:pt x="3535680" y="553339"/>
                  </a:lnTo>
                  <a:lnTo>
                    <a:pt x="3535680" y="16891"/>
                  </a:lnTo>
                  <a:lnTo>
                    <a:pt x="3552571" y="16891"/>
                  </a:lnTo>
                  <a:lnTo>
                    <a:pt x="3552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180576" y="1828800"/>
            <a:ext cx="402336" cy="402336"/>
            <a:chOff x="0" y="0"/>
            <a:chExt cx="536448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180576" y="2249424"/>
            <a:ext cx="2651760" cy="694944"/>
            <a:chOff x="0" y="0"/>
            <a:chExt cx="3535680" cy="9265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53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 ACR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813286" y="2669286"/>
            <a:ext cx="275844" cy="38100"/>
            <a:chOff x="0" y="0"/>
            <a:chExt cx="367792" cy="50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25400" y="0"/>
              <a:ext cx="316992" cy="50800"/>
            </a:xfrm>
            <a:custGeom>
              <a:avLst/>
              <a:gdLst/>
              <a:ahLst/>
              <a:cxnLst/>
              <a:rect r="r" b="b" t="t" l="l"/>
              <a:pathLst>
                <a:path h="50800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887200" y="2487168"/>
            <a:ext cx="329184" cy="402336"/>
            <a:chOff x="0" y="0"/>
            <a:chExt cx="438912" cy="53644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38912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6815" t="0" r="-106815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4389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078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180576" y="3657600"/>
            <a:ext cx="2651760" cy="1060704"/>
            <a:chOff x="0" y="0"/>
            <a:chExt cx="3535680" cy="141427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5356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5356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Stores :latest image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Webhook notifies App Service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2051030" y="1809750"/>
            <a:ext cx="2689860" cy="1775460"/>
            <a:chOff x="0" y="0"/>
            <a:chExt cx="3586480" cy="23672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25400" y="25400"/>
              <a:ext cx="35356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586480" cy="2367280"/>
            </a:xfrm>
            <a:custGeom>
              <a:avLst/>
              <a:gdLst/>
              <a:ahLst/>
              <a:cxnLst/>
              <a:rect r="r" b="b" t="t" l="l"/>
              <a:pathLst>
                <a:path h="2367280" w="3586480">
                  <a:moveTo>
                    <a:pt x="25400" y="0"/>
                  </a:moveTo>
                  <a:lnTo>
                    <a:pt x="3561080" y="0"/>
                  </a:lnTo>
                  <a:cubicBezTo>
                    <a:pt x="3575050" y="0"/>
                    <a:pt x="3586480" y="11430"/>
                    <a:pt x="3586480" y="25400"/>
                  </a:cubicBezTo>
                  <a:lnTo>
                    <a:pt x="3586480" y="2341880"/>
                  </a:lnTo>
                  <a:cubicBezTo>
                    <a:pt x="3586480" y="2355850"/>
                    <a:pt x="3575050" y="2367280"/>
                    <a:pt x="3561080" y="2367280"/>
                  </a:cubicBezTo>
                  <a:lnTo>
                    <a:pt x="25400" y="2367280"/>
                  </a:lnTo>
                  <a:cubicBezTo>
                    <a:pt x="11430" y="2367280"/>
                    <a:pt x="0" y="2355850"/>
                    <a:pt x="0" y="2341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341880"/>
                  </a:lnTo>
                  <a:lnTo>
                    <a:pt x="25400" y="2341880"/>
                  </a:lnTo>
                  <a:lnTo>
                    <a:pt x="25400" y="2316480"/>
                  </a:lnTo>
                  <a:lnTo>
                    <a:pt x="3561080" y="2316480"/>
                  </a:lnTo>
                  <a:lnTo>
                    <a:pt x="3561080" y="2341880"/>
                  </a:lnTo>
                  <a:lnTo>
                    <a:pt x="3535680" y="2341880"/>
                  </a:lnTo>
                  <a:lnTo>
                    <a:pt x="3535680" y="25400"/>
                  </a:lnTo>
                  <a:lnTo>
                    <a:pt x="3561080" y="25400"/>
                  </a:lnTo>
                  <a:lnTo>
                    <a:pt x="35610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2057383" y="1816103"/>
            <a:ext cx="2677163" cy="427739"/>
            <a:chOff x="0" y="0"/>
            <a:chExt cx="3569551" cy="57031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569462" cy="570232"/>
            </a:xfrm>
            <a:custGeom>
              <a:avLst/>
              <a:gdLst/>
              <a:ahLst/>
              <a:cxnLst/>
              <a:rect r="r" b="b" t="t" l="l"/>
              <a:pathLst>
                <a:path h="570232" w="3569462">
                  <a:moveTo>
                    <a:pt x="16891" y="0"/>
                  </a:moveTo>
                  <a:lnTo>
                    <a:pt x="3552571" y="0"/>
                  </a:lnTo>
                  <a:cubicBezTo>
                    <a:pt x="3561969" y="0"/>
                    <a:pt x="3569462" y="7620"/>
                    <a:pt x="3569462" y="16891"/>
                  </a:cubicBezTo>
                  <a:lnTo>
                    <a:pt x="3569462" y="553339"/>
                  </a:lnTo>
                  <a:cubicBezTo>
                    <a:pt x="3569462" y="562737"/>
                    <a:pt x="3561842" y="570230"/>
                    <a:pt x="355257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552571" y="536448"/>
                  </a:lnTo>
                  <a:lnTo>
                    <a:pt x="3552571" y="553339"/>
                  </a:lnTo>
                  <a:lnTo>
                    <a:pt x="3535680" y="553339"/>
                  </a:lnTo>
                  <a:lnTo>
                    <a:pt x="3535680" y="16891"/>
                  </a:lnTo>
                  <a:lnTo>
                    <a:pt x="3552571" y="16891"/>
                  </a:lnTo>
                  <a:lnTo>
                    <a:pt x="3552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070080" y="1828800"/>
            <a:ext cx="402336" cy="402336"/>
            <a:chOff x="0" y="0"/>
            <a:chExt cx="536448" cy="53644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070080" y="2249424"/>
            <a:ext cx="2651760" cy="694944"/>
            <a:chOff x="0" y="0"/>
            <a:chExt cx="3535680" cy="92659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53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 App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702790" y="2669286"/>
            <a:ext cx="275844" cy="38100"/>
            <a:chOff x="0" y="0"/>
            <a:chExt cx="367792" cy="508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25400" y="0"/>
              <a:ext cx="316992" cy="50800"/>
            </a:xfrm>
            <a:custGeom>
              <a:avLst/>
              <a:gdLst/>
              <a:ahLst/>
              <a:cxnLst/>
              <a:rect r="r" b="b" t="t" l="l"/>
              <a:pathLst>
                <a:path h="50800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4776704" y="2487168"/>
            <a:ext cx="329184" cy="402336"/>
            <a:chOff x="0" y="0"/>
            <a:chExt cx="438912" cy="53644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38912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6815" t="0" r="-106815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4389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957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070080" y="3657600"/>
            <a:ext cx="2651760" cy="1060704"/>
            <a:chOff x="0" y="0"/>
            <a:chExt cx="3535680" cy="141427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5356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35356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Pulls new image → restart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container running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4940534" y="1809750"/>
            <a:ext cx="2689860" cy="1775460"/>
            <a:chOff x="0" y="0"/>
            <a:chExt cx="3586480" cy="236728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25400" y="25400"/>
              <a:ext cx="35356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586480" cy="2367280"/>
            </a:xfrm>
            <a:custGeom>
              <a:avLst/>
              <a:gdLst/>
              <a:ahLst/>
              <a:cxnLst/>
              <a:rect r="r" b="b" t="t" l="l"/>
              <a:pathLst>
                <a:path h="2367280" w="3586480">
                  <a:moveTo>
                    <a:pt x="25400" y="0"/>
                  </a:moveTo>
                  <a:lnTo>
                    <a:pt x="3561080" y="0"/>
                  </a:lnTo>
                  <a:cubicBezTo>
                    <a:pt x="3575050" y="0"/>
                    <a:pt x="3586480" y="11430"/>
                    <a:pt x="3586480" y="25400"/>
                  </a:cubicBezTo>
                  <a:lnTo>
                    <a:pt x="3586480" y="2341880"/>
                  </a:lnTo>
                  <a:cubicBezTo>
                    <a:pt x="3586480" y="2355850"/>
                    <a:pt x="3575050" y="2367280"/>
                    <a:pt x="3561080" y="2367280"/>
                  </a:cubicBezTo>
                  <a:lnTo>
                    <a:pt x="25400" y="2367280"/>
                  </a:lnTo>
                  <a:cubicBezTo>
                    <a:pt x="11430" y="2367280"/>
                    <a:pt x="0" y="2355850"/>
                    <a:pt x="0" y="2341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341880"/>
                  </a:lnTo>
                  <a:lnTo>
                    <a:pt x="25400" y="2341880"/>
                  </a:lnTo>
                  <a:lnTo>
                    <a:pt x="25400" y="2316480"/>
                  </a:lnTo>
                  <a:lnTo>
                    <a:pt x="3561080" y="2316480"/>
                  </a:lnTo>
                  <a:lnTo>
                    <a:pt x="3561080" y="2341880"/>
                  </a:lnTo>
                  <a:lnTo>
                    <a:pt x="3535680" y="2341880"/>
                  </a:lnTo>
                  <a:lnTo>
                    <a:pt x="3535680" y="25400"/>
                  </a:lnTo>
                  <a:lnTo>
                    <a:pt x="3561080" y="25400"/>
                  </a:lnTo>
                  <a:lnTo>
                    <a:pt x="35610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4946887" y="1816103"/>
            <a:ext cx="2677163" cy="427739"/>
            <a:chOff x="0" y="0"/>
            <a:chExt cx="3569551" cy="570319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6891" y="16891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FB950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569462" cy="570232"/>
            </a:xfrm>
            <a:custGeom>
              <a:avLst/>
              <a:gdLst/>
              <a:ahLst/>
              <a:cxnLst/>
              <a:rect r="r" b="b" t="t" l="l"/>
              <a:pathLst>
                <a:path h="570232" w="3569462">
                  <a:moveTo>
                    <a:pt x="16891" y="0"/>
                  </a:moveTo>
                  <a:lnTo>
                    <a:pt x="3552571" y="0"/>
                  </a:lnTo>
                  <a:cubicBezTo>
                    <a:pt x="3561969" y="0"/>
                    <a:pt x="3569462" y="7620"/>
                    <a:pt x="3569462" y="16891"/>
                  </a:cubicBezTo>
                  <a:lnTo>
                    <a:pt x="3569462" y="553339"/>
                  </a:lnTo>
                  <a:cubicBezTo>
                    <a:pt x="3569462" y="562737"/>
                    <a:pt x="3561842" y="570230"/>
                    <a:pt x="355257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552571" y="536448"/>
                  </a:lnTo>
                  <a:lnTo>
                    <a:pt x="3552571" y="553339"/>
                  </a:lnTo>
                  <a:lnTo>
                    <a:pt x="3535680" y="553339"/>
                  </a:lnTo>
                  <a:lnTo>
                    <a:pt x="3535680" y="16891"/>
                  </a:lnTo>
                  <a:lnTo>
                    <a:pt x="3552571" y="16891"/>
                  </a:lnTo>
                  <a:lnTo>
                    <a:pt x="3552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4959584" y="1828800"/>
            <a:ext cx="402336" cy="402336"/>
            <a:chOff x="0" y="0"/>
            <a:chExt cx="536448" cy="53644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4959584" y="2249424"/>
            <a:ext cx="2651760" cy="694944"/>
            <a:chOff x="0" y="0"/>
            <a:chExt cx="3535680" cy="92659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353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4959584" y="3657600"/>
            <a:ext cx="2651760" cy="1060704"/>
            <a:chOff x="0" y="0"/>
            <a:chExt cx="3535680" cy="141427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5356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35356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Access updated app at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neurofuzzy.azurewebsites.net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529590" y="4955286"/>
            <a:ext cx="17045940" cy="2049780"/>
            <a:chOff x="0" y="0"/>
            <a:chExt cx="22727920" cy="27330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25400" y="25400"/>
              <a:ext cx="22677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2727920" cy="2733040"/>
            </a:xfrm>
            <a:custGeom>
              <a:avLst/>
              <a:gdLst/>
              <a:ahLst/>
              <a:cxnLst/>
              <a:rect r="r" b="b" t="t" l="l"/>
              <a:pathLst>
                <a:path h="2733040" w="22727920">
                  <a:moveTo>
                    <a:pt x="25400" y="0"/>
                  </a:moveTo>
                  <a:lnTo>
                    <a:pt x="22702520" y="0"/>
                  </a:lnTo>
                  <a:cubicBezTo>
                    <a:pt x="22716489" y="0"/>
                    <a:pt x="22727920" y="11430"/>
                    <a:pt x="22727920" y="25400"/>
                  </a:cubicBezTo>
                  <a:lnTo>
                    <a:pt x="22727920" y="2707640"/>
                  </a:lnTo>
                  <a:cubicBezTo>
                    <a:pt x="22727920" y="2721610"/>
                    <a:pt x="22716489" y="2733040"/>
                    <a:pt x="22702520" y="2733040"/>
                  </a:cubicBezTo>
                  <a:lnTo>
                    <a:pt x="25400" y="2733040"/>
                  </a:lnTo>
                  <a:cubicBezTo>
                    <a:pt x="11430" y="2733040"/>
                    <a:pt x="0" y="2721610"/>
                    <a:pt x="0" y="27076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707640"/>
                  </a:lnTo>
                  <a:lnTo>
                    <a:pt x="25400" y="2707640"/>
                  </a:lnTo>
                  <a:lnTo>
                    <a:pt x="25400" y="2682240"/>
                  </a:lnTo>
                  <a:lnTo>
                    <a:pt x="22702520" y="2682240"/>
                  </a:lnTo>
                  <a:lnTo>
                    <a:pt x="22702520" y="2707640"/>
                  </a:lnTo>
                  <a:lnTo>
                    <a:pt x="22677120" y="2707640"/>
                  </a:lnTo>
                  <a:lnTo>
                    <a:pt x="22677120" y="25400"/>
                  </a:lnTo>
                  <a:lnTo>
                    <a:pt x="22702520" y="25400"/>
                  </a:lnTo>
                  <a:lnTo>
                    <a:pt x="2270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535943" y="4961639"/>
            <a:ext cx="153419" cy="2037083"/>
            <a:chOff x="0" y="0"/>
            <a:chExt cx="204559" cy="2716111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16891" y="16891"/>
              <a:ext cx="17068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04470" cy="2716022"/>
            </a:xfrm>
            <a:custGeom>
              <a:avLst/>
              <a:gdLst/>
              <a:ahLst/>
              <a:cxnLst/>
              <a:rect r="r" b="b" t="t" l="l"/>
              <a:pathLst>
                <a:path h="27160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699131"/>
                  </a:lnTo>
                  <a:cubicBezTo>
                    <a:pt x="204470" y="2708529"/>
                    <a:pt x="196850" y="2716022"/>
                    <a:pt x="18757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87579" y="2682240"/>
                  </a:lnTo>
                  <a:lnTo>
                    <a:pt x="187579" y="2699131"/>
                  </a:lnTo>
                  <a:lnTo>
                    <a:pt x="170688" y="26991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822960" y="5065776"/>
            <a:ext cx="16642080" cy="512064"/>
            <a:chOff x="0" y="0"/>
            <a:chExt cx="22189440" cy="68275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95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Command Sequence (One-Time Setup Done → Now Just 3 Commands)</a:t>
              </a:r>
            </a:p>
          </p:txBody>
        </p:sp>
      </p:grpSp>
      <p:sp>
        <p:nvSpPr>
          <p:cNvPr name="TextBox 135" id="135"/>
          <p:cNvSpPr txBox="true"/>
          <p:nvPr/>
        </p:nvSpPr>
        <p:spPr>
          <a:xfrm rot="0">
            <a:off x="914400" y="5576316"/>
            <a:ext cx="16495776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git add .  &amp;&amp;  git commit -m 'your message'  &amp;&amp;  git push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Actions runs automatically → Docker builds → ACR push → Azure restarts → App updated in ~3–5 min ✅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535943" y="7211063"/>
            <a:ext cx="17033243" cy="2860043"/>
            <a:chOff x="0" y="0"/>
            <a:chExt cx="22710991" cy="3813391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16891" y="16891"/>
              <a:ext cx="22677119" cy="3779520"/>
            </a:xfrm>
            <a:custGeom>
              <a:avLst/>
              <a:gdLst/>
              <a:ahLst/>
              <a:cxnLst/>
              <a:rect r="r" b="b" t="t" l="l"/>
              <a:pathLst>
                <a:path h="377952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2710902" cy="3813302"/>
            </a:xfrm>
            <a:custGeom>
              <a:avLst/>
              <a:gdLst/>
              <a:ahLst/>
              <a:cxnLst/>
              <a:rect r="r" b="b" t="t" l="l"/>
              <a:pathLst>
                <a:path h="381330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3796411"/>
                  </a:lnTo>
                  <a:cubicBezTo>
                    <a:pt x="22710902" y="3805809"/>
                    <a:pt x="22703282" y="3813302"/>
                    <a:pt x="22694010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22694010" y="3779520"/>
                  </a:lnTo>
                  <a:lnTo>
                    <a:pt x="22694010" y="3796411"/>
                  </a:lnTo>
                  <a:lnTo>
                    <a:pt x="22677120" y="379641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14400" y="7351776"/>
            <a:ext cx="16459200" cy="512064"/>
            <a:chOff x="0" y="0"/>
            <a:chExt cx="21945600" cy="68275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Deployment Journey — Version History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01703" y="7997447"/>
            <a:ext cx="3042923" cy="1854203"/>
            <a:chOff x="0" y="0"/>
            <a:chExt cx="4057231" cy="247227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16891" y="16891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057142" cy="2472182"/>
            </a:xfrm>
            <a:custGeom>
              <a:avLst/>
              <a:gdLst/>
              <a:ahLst/>
              <a:cxnLst/>
              <a:rect r="r" b="b" t="t" l="l"/>
              <a:pathLst>
                <a:path h="247218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2455291"/>
                  </a:lnTo>
                  <a:cubicBezTo>
                    <a:pt x="4057142" y="2464689"/>
                    <a:pt x="4049522" y="2472182"/>
                    <a:pt x="404025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040251" y="2438400"/>
                  </a:lnTo>
                  <a:lnTo>
                    <a:pt x="4040251" y="2455291"/>
                  </a:lnTo>
                  <a:lnTo>
                    <a:pt x="4023360" y="245529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14400" y="8010144"/>
            <a:ext cx="3017520" cy="1828800"/>
            <a:chOff x="0" y="0"/>
            <a:chExt cx="4023360" cy="24384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4023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78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v1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78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Initial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78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4230119" y="7997447"/>
            <a:ext cx="3042923" cy="1854203"/>
            <a:chOff x="0" y="0"/>
            <a:chExt cx="4057231" cy="2472271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16891" y="16891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4057142" cy="2472182"/>
            </a:xfrm>
            <a:custGeom>
              <a:avLst/>
              <a:gdLst/>
              <a:ahLst/>
              <a:cxnLst/>
              <a:rect r="r" b="b" t="t" l="l"/>
              <a:pathLst>
                <a:path h="247218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2455291"/>
                  </a:lnTo>
                  <a:cubicBezTo>
                    <a:pt x="4057142" y="2464689"/>
                    <a:pt x="4049522" y="2472182"/>
                    <a:pt x="404025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040251" y="2438400"/>
                  </a:lnTo>
                  <a:lnTo>
                    <a:pt x="4040251" y="2455291"/>
                  </a:lnTo>
                  <a:lnTo>
                    <a:pt x="4023360" y="245529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4242816" y="8010144"/>
            <a:ext cx="3017520" cy="1828800"/>
            <a:chOff x="0" y="0"/>
            <a:chExt cx="4023360" cy="24384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4023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v2-v3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Dockerfile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Fixes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7558535" y="7997447"/>
            <a:ext cx="3042923" cy="1854203"/>
            <a:chOff x="0" y="0"/>
            <a:chExt cx="4057231" cy="2472271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16891" y="16891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057142" cy="2472182"/>
            </a:xfrm>
            <a:custGeom>
              <a:avLst/>
              <a:gdLst/>
              <a:ahLst/>
              <a:cxnLst/>
              <a:rect r="r" b="b" t="t" l="l"/>
              <a:pathLst>
                <a:path h="247218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2455291"/>
                  </a:lnTo>
                  <a:cubicBezTo>
                    <a:pt x="4057142" y="2464689"/>
                    <a:pt x="4049522" y="2472182"/>
                    <a:pt x="404025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040251" y="2438400"/>
                  </a:lnTo>
                  <a:lnTo>
                    <a:pt x="4040251" y="2455291"/>
                  </a:lnTo>
                  <a:lnTo>
                    <a:pt x="4023360" y="245529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7571232" y="8010144"/>
            <a:ext cx="3017520" cy="1828800"/>
            <a:chOff x="0" y="0"/>
            <a:chExt cx="4023360" cy="243840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38100"/>
              <a:ext cx="4023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895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v5-v6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895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895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Integration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0886951" y="7997447"/>
            <a:ext cx="3042923" cy="1854203"/>
            <a:chOff x="0" y="0"/>
            <a:chExt cx="4057231" cy="2472271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16891" y="16891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4057142" cy="2472182"/>
            </a:xfrm>
            <a:custGeom>
              <a:avLst/>
              <a:gdLst/>
              <a:ahLst/>
              <a:cxnLst/>
              <a:rect r="r" b="b" t="t" l="l"/>
              <a:pathLst>
                <a:path h="247218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2455291"/>
                  </a:lnTo>
                  <a:cubicBezTo>
                    <a:pt x="4057142" y="2464689"/>
                    <a:pt x="4049522" y="2472182"/>
                    <a:pt x="404025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040251" y="2438400"/>
                  </a:lnTo>
                  <a:lnTo>
                    <a:pt x="4040251" y="2455291"/>
                  </a:lnTo>
                  <a:lnTo>
                    <a:pt x="4023360" y="245529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0899648" y="8010144"/>
            <a:ext cx="3017520" cy="1828800"/>
            <a:chOff x="0" y="0"/>
            <a:chExt cx="4023360" cy="243840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38100"/>
              <a:ext cx="4023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F81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v7-v8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F81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URL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F81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Fix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4215367" y="7997447"/>
            <a:ext cx="3042923" cy="1854203"/>
            <a:chOff x="0" y="0"/>
            <a:chExt cx="4057231" cy="2472271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16891" y="16891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4057142" cy="2472182"/>
            </a:xfrm>
            <a:custGeom>
              <a:avLst/>
              <a:gdLst/>
              <a:ahLst/>
              <a:cxnLst/>
              <a:rect r="r" b="b" t="t" l="l"/>
              <a:pathLst>
                <a:path h="247218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2455291"/>
                  </a:lnTo>
                  <a:cubicBezTo>
                    <a:pt x="4057142" y="2464689"/>
                    <a:pt x="4049522" y="2472182"/>
                    <a:pt x="404025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040251" y="2438400"/>
                  </a:lnTo>
                  <a:lnTo>
                    <a:pt x="4040251" y="2455291"/>
                  </a:lnTo>
                  <a:lnTo>
                    <a:pt x="4023360" y="245529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4228064" y="8010144"/>
            <a:ext cx="3017520" cy="1828800"/>
            <a:chOff x="0" y="0"/>
            <a:chExt cx="4023360" cy="243840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38100"/>
              <a:ext cx="4023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FB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latest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FB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CI/CD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FB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Automatic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Learnings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Technical insights gained from the full deployment experience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9590" y="1590294"/>
            <a:ext cx="8359140" cy="3915156"/>
            <a:chOff x="0" y="0"/>
            <a:chExt cx="11145520" cy="52202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11094720" cy="5169408"/>
            </a:xfrm>
            <a:custGeom>
              <a:avLst/>
              <a:gdLst/>
              <a:ahLst/>
              <a:cxnLst/>
              <a:rect r="r" b="b" t="t" l="l"/>
              <a:pathLst>
                <a:path h="516940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45520" cy="5220208"/>
            </a:xfrm>
            <a:custGeom>
              <a:avLst/>
              <a:gdLst/>
              <a:ahLst/>
              <a:cxnLst/>
              <a:rect r="r" b="b" t="t" l="l"/>
              <a:pathLst>
                <a:path h="5220208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5194808"/>
                  </a:lnTo>
                  <a:cubicBezTo>
                    <a:pt x="11145520" y="5208778"/>
                    <a:pt x="11134089" y="5220208"/>
                    <a:pt x="11120120" y="5220208"/>
                  </a:cubicBezTo>
                  <a:lnTo>
                    <a:pt x="25400" y="5220208"/>
                  </a:lnTo>
                  <a:cubicBezTo>
                    <a:pt x="11430" y="5220208"/>
                    <a:pt x="0" y="5208778"/>
                    <a:pt x="0" y="519480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194808"/>
                  </a:lnTo>
                  <a:lnTo>
                    <a:pt x="25400" y="5194808"/>
                  </a:lnTo>
                  <a:lnTo>
                    <a:pt x="25400" y="5169408"/>
                  </a:lnTo>
                  <a:lnTo>
                    <a:pt x="11120120" y="5169408"/>
                  </a:lnTo>
                  <a:lnTo>
                    <a:pt x="11120120" y="5194808"/>
                  </a:lnTo>
                  <a:lnTo>
                    <a:pt x="11094720" y="5194808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596647"/>
            <a:ext cx="153419" cy="3902459"/>
            <a:chOff x="0" y="0"/>
            <a:chExt cx="204559" cy="52032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5169408"/>
            </a:xfrm>
            <a:custGeom>
              <a:avLst/>
              <a:gdLst/>
              <a:ahLst/>
              <a:cxnLst/>
              <a:rect r="r" b="b" t="t" l="l"/>
              <a:pathLst>
                <a:path h="51694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5203190"/>
            </a:xfrm>
            <a:custGeom>
              <a:avLst/>
              <a:gdLst/>
              <a:ahLst/>
              <a:cxnLst/>
              <a:rect r="r" b="b" t="t" l="l"/>
              <a:pathLst>
                <a:path h="52031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186299"/>
                  </a:lnTo>
                  <a:cubicBezTo>
                    <a:pt x="204470" y="5195697"/>
                    <a:pt x="196850" y="5203190"/>
                    <a:pt x="187579" y="5203190"/>
                  </a:cubicBezTo>
                  <a:lnTo>
                    <a:pt x="16891" y="5203190"/>
                  </a:lnTo>
                  <a:cubicBezTo>
                    <a:pt x="7493" y="5203190"/>
                    <a:pt x="0" y="5195570"/>
                    <a:pt x="0" y="5186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86299"/>
                  </a:lnTo>
                  <a:lnTo>
                    <a:pt x="16891" y="5186299"/>
                  </a:lnTo>
                  <a:lnTo>
                    <a:pt x="16891" y="5169408"/>
                  </a:lnTo>
                  <a:lnTo>
                    <a:pt x="187579" y="5169408"/>
                  </a:lnTo>
                  <a:lnTo>
                    <a:pt x="187579" y="5186299"/>
                  </a:lnTo>
                  <a:lnTo>
                    <a:pt x="170688" y="51862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700784"/>
            <a:ext cx="7955280" cy="512064"/>
            <a:chOff x="0" y="0"/>
            <a:chExt cx="1060704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07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713" r="0" b="-25271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6070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BC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211324"/>
            <a:ext cx="7808976" cy="309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Layer caching: copy requirements.txt before full project for faster builds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CPU-only ML dependencies dramatically reduce image size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CMD must be the LAST instruction — duplicates silently ignored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.dockerignore prevents unnecessary files from entering the image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29590" y="5741670"/>
            <a:ext cx="8359140" cy="3915156"/>
            <a:chOff x="0" y="0"/>
            <a:chExt cx="11145520" cy="52202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1094720" cy="5169408"/>
            </a:xfrm>
            <a:custGeom>
              <a:avLst/>
              <a:gdLst/>
              <a:ahLst/>
              <a:cxnLst/>
              <a:rect r="r" b="b" t="t" l="l"/>
              <a:pathLst>
                <a:path h="516940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45520" cy="5220208"/>
            </a:xfrm>
            <a:custGeom>
              <a:avLst/>
              <a:gdLst/>
              <a:ahLst/>
              <a:cxnLst/>
              <a:rect r="r" b="b" t="t" l="l"/>
              <a:pathLst>
                <a:path h="5220208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5194808"/>
                  </a:lnTo>
                  <a:cubicBezTo>
                    <a:pt x="11145520" y="5208778"/>
                    <a:pt x="11134089" y="5220208"/>
                    <a:pt x="11120120" y="5220208"/>
                  </a:cubicBezTo>
                  <a:lnTo>
                    <a:pt x="25400" y="5220208"/>
                  </a:lnTo>
                  <a:cubicBezTo>
                    <a:pt x="11430" y="5220208"/>
                    <a:pt x="0" y="5208778"/>
                    <a:pt x="0" y="519480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194808"/>
                  </a:lnTo>
                  <a:lnTo>
                    <a:pt x="25400" y="5194808"/>
                  </a:lnTo>
                  <a:lnTo>
                    <a:pt x="25400" y="5169408"/>
                  </a:lnTo>
                  <a:lnTo>
                    <a:pt x="11120120" y="5169408"/>
                  </a:lnTo>
                  <a:lnTo>
                    <a:pt x="11120120" y="5194808"/>
                  </a:lnTo>
                  <a:lnTo>
                    <a:pt x="11094720" y="5194808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5943" y="5748023"/>
            <a:ext cx="153419" cy="3902459"/>
            <a:chOff x="0" y="0"/>
            <a:chExt cx="204559" cy="52032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70688" cy="5169408"/>
            </a:xfrm>
            <a:custGeom>
              <a:avLst/>
              <a:gdLst/>
              <a:ahLst/>
              <a:cxnLst/>
              <a:rect r="r" b="b" t="t" l="l"/>
              <a:pathLst>
                <a:path h="51694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4470" cy="5203190"/>
            </a:xfrm>
            <a:custGeom>
              <a:avLst/>
              <a:gdLst/>
              <a:ahLst/>
              <a:cxnLst/>
              <a:rect r="r" b="b" t="t" l="l"/>
              <a:pathLst>
                <a:path h="52031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186299"/>
                  </a:lnTo>
                  <a:cubicBezTo>
                    <a:pt x="204470" y="5195697"/>
                    <a:pt x="196850" y="5203190"/>
                    <a:pt x="187579" y="5203190"/>
                  </a:cubicBezTo>
                  <a:lnTo>
                    <a:pt x="16891" y="5203190"/>
                  </a:lnTo>
                  <a:cubicBezTo>
                    <a:pt x="7493" y="5203190"/>
                    <a:pt x="0" y="5195570"/>
                    <a:pt x="0" y="5186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86299"/>
                  </a:lnTo>
                  <a:lnTo>
                    <a:pt x="16891" y="5186299"/>
                  </a:lnTo>
                  <a:lnTo>
                    <a:pt x="16891" y="5169408"/>
                  </a:lnTo>
                  <a:lnTo>
                    <a:pt x="187579" y="5169408"/>
                  </a:lnTo>
                  <a:lnTo>
                    <a:pt x="187579" y="5186299"/>
                  </a:lnTo>
                  <a:lnTo>
                    <a:pt x="170688" y="51862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5852160"/>
            <a:ext cx="7955280" cy="512064"/>
            <a:chOff x="0" y="0"/>
            <a:chExt cx="1060704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07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713" r="0" b="-25271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6070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8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6362700"/>
            <a:ext cx="7808976" cy="309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WEBSITES_PORT is mandatory — Azure doesn't auto-detect container port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Container startup timeout must be extended for heavy ML models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Admin credentials required for ACR pull — managed identity is cleaner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Log Stream is the fastest debugging tool for container issues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16390" y="1590294"/>
            <a:ext cx="8359140" cy="3915156"/>
            <a:chOff x="0" y="0"/>
            <a:chExt cx="11145520" cy="52202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25400"/>
              <a:ext cx="11094720" cy="5169408"/>
            </a:xfrm>
            <a:custGeom>
              <a:avLst/>
              <a:gdLst/>
              <a:ahLst/>
              <a:cxnLst/>
              <a:rect r="r" b="b" t="t" l="l"/>
              <a:pathLst>
                <a:path h="516940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45520" cy="5220208"/>
            </a:xfrm>
            <a:custGeom>
              <a:avLst/>
              <a:gdLst/>
              <a:ahLst/>
              <a:cxnLst/>
              <a:rect r="r" b="b" t="t" l="l"/>
              <a:pathLst>
                <a:path h="5220208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5194808"/>
                  </a:lnTo>
                  <a:cubicBezTo>
                    <a:pt x="11145520" y="5208778"/>
                    <a:pt x="11134089" y="5220208"/>
                    <a:pt x="11120120" y="5220208"/>
                  </a:cubicBezTo>
                  <a:lnTo>
                    <a:pt x="25400" y="5220208"/>
                  </a:lnTo>
                  <a:cubicBezTo>
                    <a:pt x="11430" y="5220208"/>
                    <a:pt x="0" y="5208778"/>
                    <a:pt x="0" y="519480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194808"/>
                  </a:lnTo>
                  <a:lnTo>
                    <a:pt x="25400" y="5194808"/>
                  </a:lnTo>
                  <a:lnTo>
                    <a:pt x="25400" y="5169408"/>
                  </a:lnTo>
                  <a:lnTo>
                    <a:pt x="11120120" y="5169408"/>
                  </a:lnTo>
                  <a:lnTo>
                    <a:pt x="11120120" y="5194808"/>
                  </a:lnTo>
                  <a:lnTo>
                    <a:pt x="11094720" y="5194808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222743" y="1596647"/>
            <a:ext cx="153419" cy="3902459"/>
            <a:chOff x="0" y="0"/>
            <a:chExt cx="204559" cy="520327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70688" cy="5169408"/>
            </a:xfrm>
            <a:custGeom>
              <a:avLst/>
              <a:gdLst/>
              <a:ahLst/>
              <a:cxnLst/>
              <a:rect r="r" b="b" t="t" l="l"/>
              <a:pathLst>
                <a:path h="51694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4470" cy="5203190"/>
            </a:xfrm>
            <a:custGeom>
              <a:avLst/>
              <a:gdLst/>
              <a:ahLst/>
              <a:cxnLst/>
              <a:rect r="r" b="b" t="t" l="l"/>
              <a:pathLst>
                <a:path h="52031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186299"/>
                  </a:lnTo>
                  <a:cubicBezTo>
                    <a:pt x="204470" y="5195697"/>
                    <a:pt x="196850" y="5203190"/>
                    <a:pt x="187579" y="5203190"/>
                  </a:cubicBezTo>
                  <a:lnTo>
                    <a:pt x="16891" y="5203190"/>
                  </a:lnTo>
                  <a:cubicBezTo>
                    <a:pt x="7493" y="5203190"/>
                    <a:pt x="0" y="5195570"/>
                    <a:pt x="0" y="5186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86299"/>
                  </a:lnTo>
                  <a:lnTo>
                    <a:pt x="16891" y="5186299"/>
                  </a:lnTo>
                  <a:lnTo>
                    <a:pt x="16891" y="5169408"/>
                  </a:lnTo>
                  <a:lnTo>
                    <a:pt x="187579" y="5169408"/>
                  </a:lnTo>
                  <a:lnTo>
                    <a:pt x="187579" y="5186299"/>
                  </a:lnTo>
                  <a:lnTo>
                    <a:pt x="170688" y="51862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509760" y="1700784"/>
            <a:ext cx="7955280" cy="512064"/>
            <a:chOff x="0" y="0"/>
            <a:chExt cx="1060704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07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713" r="0" b="-25271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06070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Debugging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601200" y="2211324"/>
            <a:ext cx="7808976" cy="309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Absolute paths &gt; relative paths inside containers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Always test locally in Docker before pushing to cloud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One environment variable typo can cascade into many failures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Browser cache masks recent deployments — always hard refresh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216390" y="5741670"/>
            <a:ext cx="8359140" cy="3915156"/>
            <a:chOff x="0" y="0"/>
            <a:chExt cx="11145520" cy="52202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5400"/>
              <a:ext cx="11094720" cy="5169408"/>
            </a:xfrm>
            <a:custGeom>
              <a:avLst/>
              <a:gdLst/>
              <a:ahLst/>
              <a:cxnLst/>
              <a:rect r="r" b="b" t="t" l="l"/>
              <a:pathLst>
                <a:path h="516940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145520" cy="5220208"/>
            </a:xfrm>
            <a:custGeom>
              <a:avLst/>
              <a:gdLst/>
              <a:ahLst/>
              <a:cxnLst/>
              <a:rect r="r" b="b" t="t" l="l"/>
              <a:pathLst>
                <a:path h="5220208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5194808"/>
                  </a:lnTo>
                  <a:cubicBezTo>
                    <a:pt x="11145520" y="5208778"/>
                    <a:pt x="11134089" y="5220208"/>
                    <a:pt x="11120120" y="5220208"/>
                  </a:cubicBezTo>
                  <a:lnTo>
                    <a:pt x="25400" y="5220208"/>
                  </a:lnTo>
                  <a:cubicBezTo>
                    <a:pt x="11430" y="5220208"/>
                    <a:pt x="0" y="5208778"/>
                    <a:pt x="0" y="519480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194808"/>
                  </a:lnTo>
                  <a:lnTo>
                    <a:pt x="25400" y="5194808"/>
                  </a:lnTo>
                  <a:lnTo>
                    <a:pt x="25400" y="5169408"/>
                  </a:lnTo>
                  <a:lnTo>
                    <a:pt x="11120120" y="5169408"/>
                  </a:lnTo>
                  <a:lnTo>
                    <a:pt x="11120120" y="5194808"/>
                  </a:lnTo>
                  <a:lnTo>
                    <a:pt x="11094720" y="5194808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222743" y="5748023"/>
            <a:ext cx="153419" cy="3902459"/>
            <a:chOff x="0" y="0"/>
            <a:chExt cx="204559" cy="520327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5169408"/>
            </a:xfrm>
            <a:custGeom>
              <a:avLst/>
              <a:gdLst/>
              <a:ahLst/>
              <a:cxnLst/>
              <a:rect r="r" b="b" t="t" l="l"/>
              <a:pathLst>
                <a:path h="51694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5203190"/>
            </a:xfrm>
            <a:custGeom>
              <a:avLst/>
              <a:gdLst/>
              <a:ahLst/>
              <a:cxnLst/>
              <a:rect r="r" b="b" t="t" l="l"/>
              <a:pathLst>
                <a:path h="52031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186299"/>
                  </a:lnTo>
                  <a:cubicBezTo>
                    <a:pt x="204470" y="5195697"/>
                    <a:pt x="196850" y="5203190"/>
                    <a:pt x="187579" y="5203190"/>
                  </a:cubicBezTo>
                  <a:lnTo>
                    <a:pt x="16891" y="5203190"/>
                  </a:lnTo>
                  <a:cubicBezTo>
                    <a:pt x="7493" y="5203190"/>
                    <a:pt x="0" y="5195570"/>
                    <a:pt x="0" y="5186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86299"/>
                  </a:lnTo>
                  <a:lnTo>
                    <a:pt x="16891" y="5186299"/>
                  </a:lnTo>
                  <a:lnTo>
                    <a:pt x="16891" y="5169408"/>
                  </a:lnTo>
                  <a:lnTo>
                    <a:pt x="187579" y="5169408"/>
                  </a:lnTo>
                  <a:lnTo>
                    <a:pt x="187579" y="5186299"/>
                  </a:lnTo>
                  <a:lnTo>
                    <a:pt x="170688" y="51862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09760" y="5852160"/>
            <a:ext cx="7955280" cy="512064"/>
            <a:chOff x="0" y="0"/>
            <a:chExt cx="1060704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07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713" r="0" b="-25271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6070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95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CI/CD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601200" y="6362700"/>
            <a:ext cx="7808976" cy="309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Actions secrets securely store Azure credentials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latest tag enables automatic deployment without version management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Webhook-based continuous deployment removes manual restart step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Pipeline failures are visible and debuggable in GitHub Actions tab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Improvements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Enhancements to make the deployment more robust and scalable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9590" y="1590294"/>
            <a:ext cx="8359140" cy="2598420"/>
            <a:chOff x="0" y="0"/>
            <a:chExt cx="11145520" cy="3464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110947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45520" cy="3464560"/>
            </a:xfrm>
            <a:custGeom>
              <a:avLst/>
              <a:gdLst/>
              <a:ahLst/>
              <a:cxnLst/>
              <a:rect r="r" b="b" t="t" l="l"/>
              <a:pathLst>
                <a:path h="34645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3439160"/>
                  </a:lnTo>
                  <a:cubicBezTo>
                    <a:pt x="11145520" y="3453130"/>
                    <a:pt x="11134089" y="3464560"/>
                    <a:pt x="11120120" y="3464560"/>
                  </a:cubicBezTo>
                  <a:lnTo>
                    <a:pt x="25400" y="3464560"/>
                  </a:lnTo>
                  <a:cubicBezTo>
                    <a:pt x="11430" y="3464560"/>
                    <a:pt x="0" y="3453130"/>
                    <a:pt x="0" y="3439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439160"/>
                  </a:lnTo>
                  <a:lnTo>
                    <a:pt x="25400" y="3439160"/>
                  </a:lnTo>
                  <a:lnTo>
                    <a:pt x="25400" y="3413760"/>
                  </a:lnTo>
                  <a:lnTo>
                    <a:pt x="11120120" y="3413760"/>
                  </a:lnTo>
                  <a:lnTo>
                    <a:pt x="11120120" y="3439160"/>
                  </a:lnTo>
                  <a:lnTo>
                    <a:pt x="11094720" y="34391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596647"/>
            <a:ext cx="153419" cy="2585723"/>
            <a:chOff x="0" y="0"/>
            <a:chExt cx="204559" cy="34476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719072"/>
            <a:ext cx="7772400" cy="512064"/>
            <a:chOff x="0" y="0"/>
            <a:chExt cx="1036320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363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Jenkins Pipeline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302764"/>
            <a:ext cx="7772400" cy="172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Replace GitHub Actions with Jenkins for enterprise-grade CI/CD with self-hosted runner, build history, and plugin ecosystem.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29590" y="4424934"/>
            <a:ext cx="8359140" cy="2598420"/>
            <a:chOff x="0" y="0"/>
            <a:chExt cx="11145520" cy="3464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10947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45520" cy="3464560"/>
            </a:xfrm>
            <a:custGeom>
              <a:avLst/>
              <a:gdLst/>
              <a:ahLst/>
              <a:cxnLst/>
              <a:rect r="r" b="b" t="t" l="l"/>
              <a:pathLst>
                <a:path h="34645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3439160"/>
                  </a:lnTo>
                  <a:cubicBezTo>
                    <a:pt x="11145520" y="3453130"/>
                    <a:pt x="11134089" y="3464560"/>
                    <a:pt x="11120120" y="3464560"/>
                  </a:cubicBezTo>
                  <a:lnTo>
                    <a:pt x="25400" y="3464560"/>
                  </a:lnTo>
                  <a:cubicBezTo>
                    <a:pt x="11430" y="3464560"/>
                    <a:pt x="0" y="3453130"/>
                    <a:pt x="0" y="3439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439160"/>
                  </a:lnTo>
                  <a:lnTo>
                    <a:pt x="25400" y="3439160"/>
                  </a:lnTo>
                  <a:lnTo>
                    <a:pt x="25400" y="3413760"/>
                  </a:lnTo>
                  <a:lnTo>
                    <a:pt x="11120120" y="3413760"/>
                  </a:lnTo>
                  <a:lnTo>
                    <a:pt x="11120120" y="3439160"/>
                  </a:lnTo>
                  <a:lnTo>
                    <a:pt x="11094720" y="34391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5943" y="4431287"/>
            <a:ext cx="153419" cy="2585723"/>
            <a:chOff x="0" y="0"/>
            <a:chExt cx="204559" cy="34476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4553712"/>
            <a:ext cx="7772400" cy="512064"/>
            <a:chOff x="0" y="0"/>
            <a:chExt cx="1036320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363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BC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Separate Frontend on Vercel/Netlify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5137404"/>
            <a:ext cx="7772400" cy="172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Host HTML/JS frontend on Vercel (free tier) — zero cost, global CDN, instant deploy. Backend stays on Azure.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29590" y="7259574"/>
            <a:ext cx="8359140" cy="2598420"/>
            <a:chOff x="0" y="0"/>
            <a:chExt cx="11145520" cy="34645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25400"/>
              <a:ext cx="110947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45520" cy="3464560"/>
            </a:xfrm>
            <a:custGeom>
              <a:avLst/>
              <a:gdLst/>
              <a:ahLst/>
              <a:cxnLst/>
              <a:rect r="r" b="b" t="t" l="l"/>
              <a:pathLst>
                <a:path h="34645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3439160"/>
                  </a:lnTo>
                  <a:cubicBezTo>
                    <a:pt x="11145520" y="3453130"/>
                    <a:pt x="11134089" y="3464560"/>
                    <a:pt x="11120120" y="3464560"/>
                  </a:cubicBezTo>
                  <a:lnTo>
                    <a:pt x="25400" y="3464560"/>
                  </a:lnTo>
                  <a:cubicBezTo>
                    <a:pt x="11430" y="3464560"/>
                    <a:pt x="0" y="3453130"/>
                    <a:pt x="0" y="3439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439160"/>
                  </a:lnTo>
                  <a:lnTo>
                    <a:pt x="25400" y="3439160"/>
                  </a:lnTo>
                  <a:lnTo>
                    <a:pt x="25400" y="3413760"/>
                  </a:lnTo>
                  <a:lnTo>
                    <a:pt x="11120120" y="3413760"/>
                  </a:lnTo>
                  <a:lnTo>
                    <a:pt x="11120120" y="3439160"/>
                  </a:lnTo>
                  <a:lnTo>
                    <a:pt x="11094720" y="34391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35943" y="7265927"/>
            <a:ext cx="153419" cy="2585723"/>
            <a:chOff x="0" y="0"/>
            <a:chExt cx="204559" cy="34476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400" y="7388352"/>
            <a:ext cx="7772400" cy="512064"/>
            <a:chOff x="0" y="0"/>
            <a:chExt cx="1036320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0363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95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Lazy Model Loading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14400" y="7972044"/>
            <a:ext cx="7772400" cy="172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Load ML models on first API request rather than startup. Reduces container boot time from 60s to &lt;5s, prevents Azure timeouts.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216390" y="1590294"/>
            <a:ext cx="8359140" cy="2598420"/>
            <a:chOff x="0" y="0"/>
            <a:chExt cx="11145520" cy="3464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5400"/>
              <a:ext cx="110947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145520" cy="3464560"/>
            </a:xfrm>
            <a:custGeom>
              <a:avLst/>
              <a:gdLst/>
              <a:ahLst/>
              <a:cxnLst/>
              <a:rect r="r" b="b" t="t" l="l"/>
              <a:pathLst>
                <a:path h="34645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3439160"/>
                  </a:lnTo>
                  <a:cubicBezTo>
                    <a:pt x="11145520" y="3453130"/>
                    <a:pt x="11134089" y="3464560"/>
                    <a:pt x="11120120" y="3464560"/>
                  </a:cubicBezTo>
                  <a:lnTo>
                    <a:pt x="25400" y="3464560"/>
                  </a:lnTo>
                  <a:cubicBezTo>
                    <a:pt x="11430" y="3464560"/>
                    <a:pt x="0" y="3453130"/>
                    <a:pt x="0" y="3439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439160"/>
                  </a:lnTo>
                  <a:lnTo>
                    <a:pt x="25400" y="3439160"/>
                  </a:lnTo>
                  <a:lnTo>
                    <a:pt x="25400" y="3413760"/>
                  </a:lnTo>
                  <a:lnTo>
                    <a:pt x="11120120" y="3413760"/>
                  </a:lnTo>
                  <a:lnTo>
                    <a:pt x="11120120" y="3439160"/>
                  </a:lnTo>
                  <a:lnTo>
                    <a:pt x="11094720" y="34391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222743" y="1596647"/>
            <a:ext cx="153419" cy="2585723"/>
            <a:chOff x="0" y="0"/>
            <a:chExt cx="204559" cy="344763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01200" y="1719072"/>
            <a:ext cx="7772400" cy="512064"/>
            <a:chOff x="0" y="0"/>
            <a:chExt cx="1036320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363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8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 Managed Identity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601200" y="2302764"/>
            <a:ext cx="7772400" cy="172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Replace admin password credentials with Azure Managed Identity for ACR access — more secure, no secrets to manage.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216390" y="4424934"/>
            <a:ext cx="8359140" cy="2598420"/>
            <a:chOff x="0" y="0"/>
            <a:chExt cx="11145520" cy="34645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25400" y="25400"/>
              <a:ext cx="110947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145520" cy="3464560"/>
            </a:xfrm>
            <a:custGeom>
              <a:avLst/>
              <a:gdLst/>
              <a:ahLst/>
              <a:cxnLst/>
              <a:rect r="r" b="b" t="t" l="l"/>
              <a:pathLst>
                <a:path h="34645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3439160"/>
                  </a:lnTo>
                  <a:cubicBezTo>
                    <a:pt x="11145520" y="3453130"/>
                    <a:pt x="11134089" y="3464560"/>
                    <a:pt x="11120120" y="3464560"/>
                  </a:cubicBezTo>
                  <a:lnTo>
                    <a:pt x="25400" y="3464560"/>
                  </a:lnTo>
                  <a:cubicBezTo>
                    <a:pt x="11430" y="3464560"/>
                    <a:pt x="0" y="3453130"/>
                    <a:pt x="0" y="3439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439160"/>
                  </a:lnTo>
                  <a:lnTo>
                    <a:pt x="25400" y="3439160"/>
                  </a:lnTo>
                  <a:lnTo>
                    <a:pt x="25400" y="3413760"/>
                  </a:lnTo>
                  <a:lnTo>
                    <a:pt x="11120120" y="3413760"/>
                  </a:lnTo>
                  <a:lnTo>
                    <a:pt x="11120120" y="3439160"/>
                  </a:lnTo>
                  <a:lnTo>
                    <a:pt x="11094720" y="34391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222743" y="4431287"/>
            <a:ext cx="153419" cy="2585723"/>
            <a:chOff x="0" y="0"/>
            <a:chExt cx="204559" cy="344763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601200" y="4553712"/>
            <a:ext cx="7772400" cy="512064"/>
            <a:chOff x="0" y="0"/>
            <a:chExt cx="10363200" cy="68275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0363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F81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 Domain + SSL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601200" y="5137404"/>
            <a:ext cx="7772400" cy="172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Purchase custom domain (e.g. mindsense.ai), configure CNAME in Azure, enable HTTPS with auto-certificate renewal.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216390" y="7259574"/>
            <a:ext cx="8359140" cy="2598420"/>
            <a:chOff x="0" y="0"/>
            <a:chExt cx="11145520" cy="34645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25400" y="25400"/>
              <a:ext cx="110947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145520" cy="3464560"/>
            </a:xfrm>
            <a:custGeom>
              <a:avLst/>
              <a:gdLst/>
              <a:ahLst/>
              <a:cxnLst/>
              <a:rect r="r" b="b" t="t" l="l"/>
              <a:pathLst>
                <a:path h="34645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3439160"/>
                  </a:lnTo>
                  <a:cubicBezTo>
                    <a:pt x="11145520" y="3453130"/>
                    <a:pt x="11134089" y="3464560"/>
                    <a:pt x="11120120" y="3464560"/>
                  </a:cubicBezTo>
                  <a:lnTo>
                    <a:pt x="25400" y="3464560"/>
                  </a:lnTo>
                  <a:cubicBezTo>
                    <a:pt x="11430" y="3464560"/>
                    <a:pt x="0" y="3453130"/>
                    <a:pt x="0" y="3439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439160"/>
                  </a:lnTo>
                  <a:lnTo>
                    <a:pt x="25400" y="3439160"/>
                  </a:lnTo>
                  <a:lnTo>
                    <a:pt x="25400" y="3413760"/>
                  </a:lnTo>
                  <a:lnTo>
                    <a:pt x="11120120" y="3413760"/>
                  </a:lnTo>
                  <a:lnTo>
                    <a:pt x="11120120" y="3439160"/>
                  </a:lnTo>
                  <a:lnTo>
                    <a:pt x="11094720" y="34391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222743" y="7265927"/>
            <a:ext cx="153419" cy="2585723"/>
            <a:chOff x="0" y="0"/>
            <a:chExt cx="204559" cy="344763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3FB950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01200" y="7388352"/>
            <a:ext cx="7772400" cy="512064"/>
            <a:chOff x="0" y="0"/>
            <a:chExt cx="10363200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0363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FB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Monitoring &amp; Alerts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9601200" y="7972044"/>
            <a:ext cx="7772400" cy="172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9D1D9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Azure Application Insights for request tracking, error alerts, and performance monitoring with real-time dashboards.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3"/>
            <a:chOff x="0" y="0"/>
            <a:chExt cx="24417871" cy="1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58011"/>
                  </a:lnTo>
                  <a:cubicBezTo>
                    <a:pt x="24417782" y="1367409"/>
                    <a:pt x="24410163" y="1374902"/>
                    <a:pt x="244008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4400890" y="1341120"/>
                  </a:lnTo>
                  <a:lnTo>
                    <a:pt x="24400890" y="1358011"/>
                  </a:lnTo>
                  <a:lnTo>
                    <a:pt x="24384000" y="13580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91440"/>
            <a:ext cx="16824960" cy="914400"/>
            <a:chOff x="0" y="0"/>
            <a:chExt cx="2243328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05840"/>
            <a:ext cx="16824960" cy="548640"/>
            <a:chOff x="0" y="0"/>
            <a:chExt cx="22433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9D1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Summary of the complete deployment journey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1645920"/>
            <a:ext cx="16824960" cy="640080"/>
            <a:chOff x="0" y="0"/>
            <a:chExt cx="2243328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33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F81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Accomplished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5943" y="2511047"/>
            <a:ext cx="17033243" cy="1159259"/>
            <a:chOff x="0" y="0"/>
            <a:chExt cx="22710991" cy="15456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528699"/>
                  </a:lnTo>
                  <a:cubicBezTo>
                    <a:pt x="22710902" y="1538097"/>
                    <a:pt x="22703282" y="1545590"/>
                    <a:pt x="2269401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694010" y="1511808"/>
                  </a:lnTo>
                  <a:lnTo>
                    <a:pt x="22694010" y="1528699"/>
                  </a:lnTo>
                  <a:lnTo>
                    <a:pt x="22677120" y="152869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5943" y="2511047"/>
            <a:ext cx="153419" cy="1159259"/>
            <a:chOff x="0" y="0"/>
            <a:chExt cx="204559" cy="15456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615184"/>
            <a:ext cx="4572000" cy="475488"/>
            <a:chOff x="0" y="0"/>
            <a:chExt cx="6096000" cy="633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0960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F81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FastAPI Backend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69280" y="2761488"/>
            <a:ext cx="11521440" cy="731520"/>
            <a:chOff x="0" y="0"/>
            <a:chExt cx="1536192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61920" cy="975360"/>
            </a:xfrm>
            <a:custGeom>
              <a:avLst/>
              <a:gdLst/>
              <a:ahLst/>
              <a:cxnLst/>
              <a:rect r="r" b="b" t="t" l="l"/>
              <a:pathLst>
                <a:path h="97536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53619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a production-ready Python API with ML models, CORS, and static file serving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5943" y="3791207"/>
            <a:ext cx="17033243" cy="1159259"/>
            <a:chOff x="0" y="0"/>
            <a:chExt cx="22710991" cy="15456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2267711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71090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528699"/>
                  </a:lnTo>
                  <a:cubicBezTo>
                    <a:pt x="22710902" y="1538097"/>
                    <a:pt x="22703282" y="1545590"/>
                    <a:pt x="2269401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694010" y="1511808"/>
                  </a:lnTo>
                  <a:lnTo>
                    <a:pt x="22694010" y="1528699"/>
                  </a:lnTo>
                  <a:lnTo>
                    <a:pt x="22677120" y="152869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35943" y="3791207"/>
            <a:ext cx="153419" cy="1159259"/>
            <a:chOff x="0" y="0"/>
            <a:chExt cx="204559" cy="154567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3895344"/>
            <a:ext cx="4572000" cy="475488"/>
            <a:chOff x="0" y="0"/>
            <a:chExt cx="6096000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0960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BC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Docker Containerization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669280" y="4041648"/>
            <a:ext cx="11521440" cy="731520"/>
            <a:chOff x="0" y="0"/>
            <a:chExt cx="1536192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61920" cy="975360"/>
            </a:xfrm>
            <a:custGeom>
              <a:avLst/>
              <a:gdLst/>
              <a:ahLst/>
              <a:cxnLst/>
              <a:rect r="r" b="b" t="t" l="l"/>
              <a:pathLst>
                <a:path h="97536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3619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Packaged the entire app (backend + frontend + dependencies) into a portable 1.85GB image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5943" y="5071367"/>
            <a:ext cx="17033243" cy="1159259"/>
            <a:chOff x="0" y="0"/>
            <a:chExt cx="22710991" cy="154567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267711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71090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528699"/>
                  </a:lnTo>
                  <a:cubicBezTo>
                    <a:pt x="22710902" y="1538097"/>
                    <a:pt x="22703282" y="1545590"/>
                    <a:pt x="2269401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694010" y="1511808"/>
                  </a:lnTo>
                  <a:lnTo>
                    <a:pt x="22694010" y="1528699"/>
                  </a:lnTo>
                  <a:lnTo>
                    <a:pt x="22677120" y="152869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35943" y="5071367"/>
            <a:ext cx="153419" cy="1159259"/>
            <a:chOff x="0" y="0"/>
            <a:chExt cx="204559" cy="154567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14400" y="5175504"/>
            <a:ext cx="4572000" cy="475488"/>
            <a:chOff x="0" y="0"/>
            <a:chExt cx="6096000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0960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78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Azure ACR + App Service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669280" y="5321808"/>
            <a:ext cx="11521440" cy="731520"/>
            <a:chOff x="0" y="0"/>
            <a:chExt cx="1536192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361920" cy="975360"/>
            </a:xfrm>
            <a:custGeom>
              <a:avLst/>
              <a:gdLst/>
              <a:ahLst/>
              <a:cxnLst/>
              <a:rect r="r" b="b" t="t" l="l"/>
              <a:pathLst>
                <a:path h="97536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53619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Pushed image to cloud registry and deployed as a globally accessible web app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5943" y="6351527"/>
            <a:ext cx="17033243" cy="1159259"/>
            <a:chOff x="0" y="0"/>
            <a:chExt cx="22710991" cy="154567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267711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71090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528699"/>
                  </a:lnTo>
                  <a:cubicBezTo>
                    <a:pt x="22710902" y="1538097"/>
                    <a:pt x="22703282" y="1545590"/>
                    <a:pt x="2269401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694010" y="1511808"/>
                  </a:lnTo>
                  <a:lnTo>
                    <a:pt x="22694010" y="1528699"/>
                  </a:lnTo>
                  <a:lnTo>
                    <a:pt x="22677120" y="152869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35943" y="6351527"/>
            <a:ext cx="153419" cy="1159259"/>
            <a:chOff x="0" y="0"/>
            <a:chExt cx="204559" cy="154567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" y="6455664"/>
            <a:ext cx="4572000" cy="475488"/>
            <a:chOff x="0" y="0"/>
            <a:chExt cx="6096000" cy="633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0960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End-to-End Debugging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669280" y="6601968"/>
            <a:ext cx="11521440" cy="731520"/>
            <a:chOff x="0" y="0"/>
            <a:chExt cx="15361920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361920" cy="975360"/>
            </a:xfrm>
            <a:custGeom>
              <a:avLst/>
              <a:gdLst/>
              <a:ahLst/>
              <a:cxnLst/>
              <a:rect r="r" b="b" t="t" l="l"/>
              <a:pathLst>
                <a:path h="97536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53619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Diagnosed and resolved 10+ real-world deployment issues from timeouts to CORS to path errors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7631687"/>
            <a:ext cx="17033243" cy="1159259"/>
            <a:chOff x="0" y="0"/>
            <a:chExt cx="22710991" cy="154567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2267711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1262D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71090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528699"/>
                  </a:lnTo>
                  <a:cubicBezTo>
                    <a:pt x="22710902" y="1538097"/>
                    <a:pt x="22703282" y="1545590"/>
                    <a:pt x="2269401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694010" y="1511808"/>
                  </a:lnTo>
                  <a:lnTo>
                    <a:pt x="22694010" y="1528699"/>
                  </a:lnTo>
                  <a:lnTo>
                    <a:pt x="22677120" y="152869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35943" y="7631687"/>
            <a:ext cx="153419" cy="1159259"/>
            <a:chOff x="0" y="0"/>
            <a:chExt cx="204559" cy="154567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14400" y="7735824"/>
            <a:ext cx="4572000" cy="475488"/>
            <a:chOff x="0" y="0"/>
            <a:chExt cx="6096000" cy="63398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60960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95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CI/CD with GitHub Actions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669280" y="7882128"/>
            <a:ext cx="11521440" cy="731520"/>
            <a:chOff x="0" y="0"/>
            <a:chExt cx="15361920" cy="975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5361920" cy="975360"/>
            </a:xfrm>
            <a:custGeom>
              <a:avLst/>
              <a:gdLst/>
              <a:ahLst/>
              <a:cxnLst/>
              <a:rect r="r" b="b" t="t" l="l"/>
              <a:pathLst>
                <a:path h="97536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53619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the full pipeline: code change → git push → live update in 3–5 minutes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29590" y="8996934"/>
            <a:ext cx="17045940" cy="952500"/>
            <a:chOff x="0" y="0"/>
            <a:chExt cx="22727920" cy="12700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25400" y="25400"/>
              <a:ext cx="22677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F1A2A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72792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2727920">
                  <a:moveTo>
                    <a:pt x="25400" y="0"/>
                  </a:moveTo>
                  <a:lnTo>
                    <a:pt x="22702520" y="0"/>
                  </a:lnTo>
                  <a:cubicBezTo>
                    <a:pt x="22716489" y="0"/>
                    <a:pt x="22727920" y="11430"/>
                    <a:pt x="22727920" y="25400"/>
                  </a:cubicBezTo>
                  <a:lnTo>
                    <a:pt x="22727920" y="1244600"/>
                  </a:lnTo>
                  <a:cubicBezTo>
                    <a:pt x="22727920" y="1258570"/>
                    <a:pt x="22716489" y="1270000"/>
                    <a:pt x="22702520" y="1270000"/>
                  </a:cubicBezTo>
                  <a:lnTo>
                    <a:pt x="25400" y="1270000"/>
                  </a:lnTo>
                  <a:cubicBezTo>
                    <a:pt x="11430" y="1270000"/>
                    <a:pt x="0" y="1258570"/>
                    <a:pt x="0" y="1244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44600"/>
                  </a:lnTo>
                  <a:lnTo>
                    <a:pt x="25400" y="1244600"/>
                  </a:lnTo>
                  <a:lnTo>
                    <a:pt x="25400" y="1219200"/>
                  </a:lnTo>
                  <a:lnTo>
                    <a:pt x="22702520" y="1219200"/>
                  </a:lnTo>
                  <a:lnTo>
                    <a:pt x="22702520" y="1244600"/>
                  </a:lnTo>
                  <a:lnTo>
                    <a:pt x="22677120" y="1244600"/>
                  </a:lnTo>
                  <a:lnTo>
                    <a:pt x="22677120" y="25400"/>
                  </a:lnTo>
                  <a:lnTo>
                    <a:pt x="22702520" y="25400"/>
                  </a:lnTo>
                  <a:lnTo>
                    <a:pt x="2270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14400" y="9125712"/>
            <a:ext cx="16459200" cy="694944"/>
            <a:chOff x="0" y="0"/>
            <a:chExt cx="21945600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1945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project demonstrates a complete Agile Production Deployment lifecycle using Docker, Azure, and GitHub Actions CI/CD — exactly the industry-standard DevOps pipeline.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45703" y="-12697"/>
            <a:ext cx="8255003" cy="10312403"/>
            <a:chOff x="0" y="0"/>
            <a:chExt cx="11006671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09728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065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732890"/>
                  </a:lnTo>
                  <a:cubicBezTo>
                    <a:pt x="11006582" y="13742290"/>
                    <a:pt x="10998962" y="13749782"/>
                    <a:pt x="109896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0989691" y="13716000"/>
                  </a:lnTo>
                  <a:lnTo>
                    <a:pt x="10989691" y="13732890"/>
                  </a:lnTo>
                  <a:lnTo>
                    <a:pt x="10972800" y="13732890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10972800" cy="1828800"/>
            <a:chOff x="0" y="0"/>
            <a:chExt cx="1463040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09550"/>
              <a:ext cx="14630400" cy="2647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4114800"/>
            <a:ext cx="9144000" cy="822960"/>
            <a:chOff x="0" y="0"/>
            <a:chExt cx="121920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2192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8957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Questions &amp; Discussion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0263" y="5254247"/>
            <a:ext cx="1671323" cy="665483"/>
            <a:chOff x="0" y="0"/>
            <a:chExt cx="2228431" cy="8873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28342" cy="887224"/>
            </a:xfrm>
            <a:custGeom>
              <a:avLst/>
              <a:gdLst/>
              <a:ahLst/>
              <a:cxnLst/>
              <a:rect r="r" b="b" t="t" l="l"/>
              <a:pathLst>
                <a:path h="887224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870331"/>
                  </a:lnTo>
                  <a:cubicBezTo>
                    <a:pt x="2228342" y="879729"/>
                    <a:pt x="2220722" y="887222"/>
                    <a:pt x="22114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11451" y="853440"/>
                  </a:lnTo>
                  <a:lnTo>
                    <a:pt x="2211451" y="870331"/>
                  </a:lnTo>
                  <a:lnTo>
                    <a:pt x="2194560" y="870331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5266944"/>
            <a:ext cx="1645920" cy="640080"/>
            <a:chOff x="0" y="0"/>
            <a:chExt cx="219456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602487" y="5254247"/>
            <a:ext cx="1671323" cy="665483"/>
            <a:chOff x="0" y="0"/>
            <a:chExt cx="2228431" cy="8873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28342" cy="887224"/>
            </a:xfrm>
            <a:custGeom>
              <a:avLst/>
              <a:gdLst/>
              <a:ahLst/>
              <a:cxnLst/>
              <a:rect r="r" b="b" t="t" l="l"/>
              <a:pathLst>
                <a:path h="887224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870331"/>
                  </a:lnTo>
                  <a:cubicBezTo>
                    <a:pt x="2228342" y="879729"/>
                    <a:pt x="2220722" y="887222"/>
                    <a:pt x="22114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11451" y="853440"/>
                  </a:lnTo>
                  <a:lnTo>
                    <a:pt x="2211451" y="870331"/>
                  </a:lnTo>
                  <a:lnTo>
                    <a:pt x="2194560" y="870331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615184" y="5266944"/>
            <a:ext cx="1645920" cy="640080"/>
            <a:chOff x="0" y="0"/>
            <a:chExt cx="219456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94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 ACR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394711" y="5254247"/>
            <a:ext cx="1671323" cy="665483"/>
            <a:chOff x="0" y="0"/>
            <a:chExt cx="2228431" cy="8873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078D4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28342" cy="887224"/>
            </a:xfrm>
            <a:custGeom>
              <a:avLst/>
              <a:gdLst/>
              <a:ahLst/>
              <a:cxnLst/>
              <a:rect r="r" b="b" t="t" l="l"/>
              <a:pathLst>
                <a:path h="887224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870331"/>
                  </a:lnTo>
                  <a:cubicBezTo>
                    <a:pt x="2228342" y="879729"/>
                    <a:pt x="2220722" y="887222"/>
                    <a:pt x="22114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11451" y="853440"/>
                  </a:lnTo>
                  <a:lnTo>
                    <a:pt x="2211451" y="870331"/>
                  </a:lnTo>
                  <a:lnTo>
                    <a:pt x="2194560" y="870331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407408" y="5266944"/>
            <a:ext cx="1645920" cy="640080"/>
            <a:chOff x="0" y="0"/>
            <a:chExt cx="219456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194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Service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86935" y="5254247"/>
            <a:ext cx="1671323" cy="665483"/>
            <a:chOff x="0" y="0"/>
            <a:chExt cx="2228431" cy="8873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8957E5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28342" cy="887224"/>
            </a:xfrm>
            <a:custGeom>
              <a:avLst/>
              <a:gdLst/>
              <a:ahLst/>
              <a:cxnLst/>
              <a:rect r="r" b="b" t="t" l="l"/>
              <a:pathLst>
                <a:path h="887224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870331"/>
                  </a:lnTo>
                  <a:cubicBezTo>
                    <a:pt x="2228342" y="879729"/>
                    <a:pt x="2220722" y="887222"/>
                    <a:pt x="22114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11451" y="853440"/>
                  </a:lnTo>
                  <a:lnTo>
                    <a:pt x="2211451" y="870331"/>
                  </a:lnTo>
                  <a:lnTo>
                    <a:pt x="2194560" y="870331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957E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199632" y="5266944"/>
            <a:ext cx="1645920" cy="640080"/>
            <a:chOff x="0" y="0"/>
            <a:chExt cx="219456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4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Actions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979159" y="5254247"/>
            <a:ext cx="1671323" cy="665483"/>
            <a:chOff x="0" y="0"/>
            <a:chExt cx="2228431" cy="8873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2F81F7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28342" cy="887224"/>
            </a:xfrm>
            <a:custGeom>
              <a:avLst/>
              <a:gdLst/>
              <a:ahLst/>
              <a:cxnLst/>
              <a:rect r="r" b="b" t="t" l="l"/>
              <a:pathLst>
                <a:path h="887224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870331"/>
                  </a:lnTo>
                  <a:cubicBezTo>
                    <a:pt x="2228342" y="879729"/>
                    <a:pt x="2220722" y="887222"/>
                    <a:pt x="22114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11451" y="853440"/>
                  </a:lnTo>
                  <a:lnTo>
                    <a:pt x="2211451" y="870331"/>
                  </a:lnTo>
                  <a:lnTo>
                    <a:pt x="2194560" y="870331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81F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991856" y="5266944"/>
            <a:ext cx="1645920" cy="640080"/>
            <a:chOff x="0" y="0"/>
            <a:chExt cx="219456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94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771383" y="5254247"/>
            <a:ext cx="1671323" cy="665483"/>
            <a:chOff x="0" y="0"/>
            <a:chExt cx="2228431" cy="8873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0883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28342" cy="887224"/>
            </a:xfrm>
            <a:custGeom>
              <a:avLst/>
              <a:gdLst/>
              <a:ahLst/>
              <a:cxnLst/>
              <a:rect r="r" b="b" t="t" l="l"/>
              <a:pathLst>
                <a:path h="887224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870331"/>
                  </a:lnTo>
                  <a:cubicBezTo>
                    <a:pt x="2228342" y="879729"/>
                    <a:pt x="2220722" y="887222"/>
                    <a:pt x="22114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11451" y="853440"/>
                  </a:lnTo>
                  <a:lnTo>
                    <a:pt x="2211451" y="870331"/>
                  </a:lnTo>
                  <a:lnTo>
                    <a:pt x="2194560" y="870331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784080" y="5266944"/>
            <a:ext cx="1645920" cy="640080"/>
            <a:chOff x="0" y="0"/>
            <a:chExt cx="219456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194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6400800"/>
            <a:ext cx="11887200" cy="585216"/>
            <a:chOff x="0" y="0"/>
            <a:chExt cx="15849600" cy="780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849600" cy="780288"/>
            </a:xfrm>
            <a:custGeom>
              <a:avLst/>
              <a:gdLst/>
              <a:ahLst/>
              <a:cxnLst/>
              <a:rect r="r" b="b" t="t" l="l"/>
              <a:pathLst>
                <a:path h="78028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5789" r="0" b="-34578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5849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BC9C"/>
                  </a:solidFill>
                  <a:latin typeface="Consolas"/>
                  <a:ea typeface="Consolas"/>
                  <a:cs typeface="Consolas"/>
                  <a:sym typeface="Consolas"/>
                </a:rPr>
                <a:t>Live URL:  https://neurofuzzy-depression.azurewebsites.net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22960" y="7077456"/>
            <a:ext cx="11887200" cy="585216"/>
            <a:chOff x="0" y="0"/>
            <a:chExt cx="1584960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849600" cy="780288"/>
            </a:xfrm>
            <a:custGeom>
              <a:avLst/>
              <a:gdLst/>
              <a:ahLst/>
              <a:cxnLst/>
              <a:rect r="r" b="b" t="t" l="l"/>
              <a:pathLst>
                <a:path h="78028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5789" r="0" b="-34578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5849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GitHub:   github.com/dhruvmarwal/neurofuzzy-depression-analysis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DAHGAdwb9es</dc:identifier>
  <dcterms:modified xsi:type="dcterms:W3CDTF">2011-08-01T06:04:30Z</dcterms:modified>
  <cp:revision>1</cp:revision>
  <dc:title>Depression Analysis Deployment</dc:title>
</cp:coreProperties>
</file>